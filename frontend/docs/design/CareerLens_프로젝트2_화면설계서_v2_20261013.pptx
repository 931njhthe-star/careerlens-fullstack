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3cbbfd037e4954" /><Relationship Type="http://schemas.openxmlformats.org/officeDocument/2006/relationships/extended-properties" Target="/docProps/app.xml" Id="Rf9ff03882fdf4a62" /><Relationship Type="http://schemas.openxmlformats.org/officeDocument/2006/relationships/officeDocument" Target="/ppt/presentation.xml" Id="R41cb4b60833d44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052c4be5ff4689"/>
  </p:sldMasterIdLst>
  <p:notesMasterIdLst>
    <p:notesMasterId xmlns:r="http://schemas.openxmlformats.org/officeDocument/2006/relationships" r:id="R6d852a7e94394555"/>
  </p:notesMasterIdLst>
  <p:sldIdLst>
    <p:sldId xmlns:r="http://schemas.openxmlformats.org/officeDocument/2006/relationships" id="256" r:id="R4c73ea7de90e4c97"/>
    <p:sldId xmlns:r="http://schemas.openxmlformats.org/officeDocument/2006/relationships" id="257" r:id="R79e89a6546844519"/>
    <p:sldId xmlns:r="http://schemas.openxmlformats.org/officeDocument/2006/relationships" id="258" r:id="Rfac17b95b37b4555"/>
    <p:sldId xmlns:r="http://schemas.openxmlformats.org/officeDocument/2006/relationships" id="259" r:id="R14b94489a27f43e0"/>
    <p:sldId xmlns:r="http://schemas.openxmlformats.org/officeDocument/2006/relationships" id="260" r:id="Rbc16f47ddf0742ee"/>
    <p:sldId xmlns:r="http://schemas.openxmlformats.org/officeDocument/2006/relationships" id="261" r:id="R425a8165cb0846e1"/>
    <p:sldId xmlns:r="http://schemas.openxmlformats.org/officeDocument/2006/relationships" id="262" r:id="Rcfb1c51d40c34c35"/>
    <p:sldId xmlns:r="http://schemas.openxmlformats.org/officeDocument/2006/relationships" id="263" r:id="Raf70b7c469504540"/>
    <p:sldId xmlns:r="http://schemas.openxmlformats.org/officeDocument/2006/relationships" id="264" r:id="R5375755cae1940c9"/>
    <p:sldId xmlns:r="http://schemas.openxmlformats.org/officeDocument/2006/relationships" id="265" r:id="R50ab45de678e4743"/>
    <p:sldId xmlns:r="http://schemas.openxmlformats.org/officeDocument/2006/relationships" id="266" r:id="R06ab362f81974b65"/>
    <p:sldId xmlns:r="http://schemas.openxmlformats.org/officeDocument/2006/relationships" id="267" r:id="R63835c6c91ba4cd8"/>
    <p:sldId xmlns:r="http://schemas.openxmlformats.org/officeDocument/2006/relationships" id="268" r:id="Rd1f09f53dbe840a2"/>
    <p:sldId xmlns:r="http://schemas.openxmlformats.org/officeDocument/2006/relationships" id="269" r:id="R8ce8705b414b4dec"/>
    <p:sldId xmlns:r="http://schemas.openxmlformats.org/officeDocument/2006/relationships" id="270" r:id="R509c1ff4a4ee4d2d"/>
    <p:sldId xmlns:r="http://schemas.openxmlformats.org/officeDocument/2006/relationships" id="271" r:id="Ra20c196238c949fa"/>
    <p:sldId xmlns:r="http://schemas.openxmlformats.org/officeDocument/2006/relationships" id="272" r:id="R7b8111a6ce8546dd"/>
    <p:sldId xmlns:r="http://schemas.openxmlformats.org/officeDocument/2006/relationships" id="273" r:id="R7385eb77bf4c44c7"/>
    <p:sldId xmlns:r="http://schemas.openxmlformats.org/officeDocument/2006/relationships" id="274" r:id="R63237117712c4bc0"/>
    <p:sldId xmlns:r="http://schemas.openxmlformats.org/officeDocument/2006/relationships" id="275" r:id="Rb9e16614ec974df0"/>
    <p:sldId xmlns:r="http://schemas.openxmlformats.org/officeDocument/2006/relationships" id="276" r:id="R407b633dbfcd4e84"/>
    <p:sldId xmlns:r="http://schemas.openxmlformats.org/officeDocument/2006/relationships" id="277" r:id="R91e35ee7406e4adb"/>
    <p:sldId xmlns:r="http://schemas.openxmlformats.org/officeDocument/2006/relationships" id="278" r:id="R8fb38d27c34c494a"/>
    <p:sldId xmlns:r="http://schemas.openxmlformats.org/officeDocument/2006/relationships" id="279" r:id="R312deaafe7e040a8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4cc68e4933446d" /><Relationship Type="http://schemas.openxmlformats.org/officeDocument/2006/relationships/slideMaster" Target="/ppt/slideMasters/slideMaster1.xml" Id="R31052c4be5ff4689" /><Relationship Type="http://schemas.openxmlformats.org/officeDocument/2006/relationships/notesMaster" Target="/ppt/notesMasters/notesMaster1.xml" Id="R6d852a7e94394555" /><Relationship Type="http://schemas.openxmlformats.org/officeDocument/2006/relationships/presProps" Target="/ppt/presProps.xml" Id="R705c0585d6784674" /><Relationship Type="http://schemas.openxmlformats.org/officeDocument/2006/relationships/tableStyles" Target="/ppt/tableStyles.xml" Id="R34c0988f27f949b8" /><Relationship Type="http://schemas.openxmlformats.org/officeDocument/2006/relationships/slide" Target="/ppt/slides/slide1.xml" Id="R4c73ea7de90e4c97" /><Relationship Type="http://schemas.openxmlformats.org/officeDocument/2006/relationships/slide" Target="/ppt/slides/slide2.xml" Id="R79e89a6546844519" /><Relationship Type="http://schemas.openxmlformats.org/officeDocument/2006/relationships/slide" Target="/ppt/slides/slide3.xml" Id="Rfac17b95b37b4555" /><Relationship Type="http://schemas.openxmlformats.org/officeDocument/2006/relationships/slide" Target="/ppt/slides/slide4.xml" Id="R14b94489a27f43e0" /><Relationship Type="http://schemas.openxmlformats.org/officeDocument/2006/relationships/slide" Target="/ppt/slides/slide5.xml" Id="Rbc16f47ddf0742ee" /><Relationship Type="http://schemas.openxmlformats.org/officeDocument/2006/relationships/slide" Target="/ppt/slides/slide6.xml" Id="R425a8165cb0846e1" /><Relationship Type="http://schemas.openxmlformats.org/officeDocument/2006/relationships/slide" Target="/ppt/slides/slide7.xml" Id="Rcfb1c51d40c34c35" /><Relationship Type="http://schemas.openxmlformats.org/officeDocument/2006/relationships/slide" Target="/ppt/slides/slide8.xml" Id="Raf70b7c469504540" /><Relationship Type="http://schemas.openxmlformats.org/officeDocument/2006/relationships/slide" Target="/ppt/slides/slide9.xml" Id="R5375755cae1940c9" /><Relationship Type="http://schemas.openxmlformats.org/officeDocument/2006/relationships/slide" Target="/ppt/slides/slide10.xml" Id="R50ab45de678e4743" /><Relationship Type="http://schemas.openxmlformats.org/officeDocument/2006/relationships/slide" Target="/ppt/slides/slide11.xml" Id="R06ab362f81974b65" /><Relationship Type="http://schemas.openxmlformats.org/officeDocument/2006/relationships/slide" Target="/ppt/slides/slide12.xml" Id="R63835c6c91ba4cd8" /><Relationship Type="http://schemas.openxmlformats.org/officeDocument/2006/relationships/slide" Target="/ppt/slides/slide13.xml" Id="Rd1f09f53dbe840a2" /><Relationship Type="http://schemas.openxmlformats.org/officeDocument/2006/relationships/slide" Target="/ppt/slides/slide14.xml" Id="R8ce8705b414b4dec" /><Relationship Type="http://schemas.openxmlformats.org/officeDocument/2006/relationships/slide" Target="/ppt/slides/slide15.xml" Id="R509c1ff4a4ee4d2d" /><Relationship Type="http://schemas.openxmlformats.org/officeDocument/2006/relationships/slide" Target="/ppt/slides/slide16.xml" Id="Ra20c196238c949fa" /><Relationship Type="http://schemas.openxmlformats.org/officeDocument/2006/relationships/slide" Target="/ppt/slides/slide17.xml" Id="R7b8111a6ce8546dd" /><Relationship Type="http://schemas.openxmlformats.org/officeDocument/2006/relationships/slide" Target="/ppt/slides/slide18.xml" Id="R7385eb77bf4c44c7" /><Relationship Type="http://schemas.openxmlformats.org/officeDocument/2006/relationships/slide" Target="/ppt/slides/slide19.xml" Id="R63237117712c4bc0" /><Relationship Type="http://schemas.openxmlformats.org/officeDocument/2006/relationships/slide" Target="/ppt/slides/slide20.xml" Id="Rb9e16614ec974df0" /><Relationship Type="http://schemas.openxmlformats.org/officeDocument/2006/relationships/slide" Target="/ppt/slides/slide21.xml" Id="R407b633dbfcd4e84" /><Relationship Type="http://schemas.openxmlformats.org/officeDocument/2006/relationships/slide" Target="/ppt/slides/slide22.xml" Id="R91e35ee7406e4adb" /><Relationship Type="http://schemas.openxmlformats.org/officeDocument/2006/relationships/slide" Target="/ppt/slides/slide23.xml" Id="R8fb38d27c34c494a" /><Relationship Type="http://schemas.openxmlformats.org/officeDocument/2006/relationships/slide" Target="/ppt/slides/slide24.xml" Id="R312deaafe7e040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b236a0f66943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7b1b2ff1c74734" /><Relationship Type="http://schemas.openxmlformats.org/officeDocument/2006/relationships/notesMaster" Target="/ppt/notesMasters/notesMaster1.xml" Id="Rf33d38b0563242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82b84cd96b43db" /><Relationship Type="http://schemas.openxmlformats.org/officeDocument/2006/relationships/notesMaster" Target="/ppt/notesMasters/notesMaster1.xml" Id="R30a72229686f47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b3f36833364bea" /><Relationship Type="http://schemas.openxmlformats.org/officeDocument/2006/relationships/notesMaster" Target="/ppt/notesMasters/notesMaster1.xml" Id="R0a6aed57d6b34d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7e085a57bc4b78" /><Relationship Type="http://schemas.openxmlformats.org/officeDocument/2006/relationships/notesMaster" Target="/ppt/notesMasters/notesMaster1.xml" Id="Rb62a5bfee8ad46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8eeeedc8884ca5" /><Relationship Type="http://schemas.openxmlformats.org/officeDocument/2006/relationships/notesMaster" Target="/ppt/notesMasters/notesMaster1.xml" Id="Rd2fe8b2307e543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cc047643d04f74" /><Relationship Type="http://schemas.openxmlformats.org/officeDocument/2006/relationships/notesMaster" Target="/ppt/notesMasters/notesMaster1.xml" Id="R884e4c1a250b45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36119796e2476c" /><Relationship Type="http://schemas.openxmlformats.org/officeDocument/2006/relationships/notesMaster" Target="/ppt/notesMasters/notesMaster1.xml" Id="Rf06a6746e76a47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b710532a214921" /><Relationship Type="http://schemas.openxmlformats.org/officeDocument/2006/relationships/notesMaster" Target="/ppt/notesMasters/notesMaster1.xml" Id="Ra2eddd14678841c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a0acc500a464c97" /><Relationship Type="http://schemas.openxmlformats.org/officeDocument/2006/relationships/notesMaster" Target="/ppt/notesMasters/notesMaster1.xml" Id="R3feff44c89914ec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799b5124534714" /><Relationship Type="http://schemas.openxmlformats.org/officeDocument/2006/relationships/notesMaster" Target="/ppt/notesMasters/notesMaster1.xml" Id="R0b6ee87bc7b9408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149fad0cf7f4ffa" /><Relationship Type="http://schemas.openxmlformats.org/officeDocument/2006/relationships/notesMaster" Target="/ppt/notesMasters/notesMaster1.xml" Id="Rd045dc36a4ae41e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263f25b4c9a4b21" /><Relationship Type="http://schemas.openxmlformats.org/officeDocument/2006/relationships/notesMaster" Target="/ppt/notesMasters/notesMaster1.xml" Id="Rd9a86deb64ea4bb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7aed1a5472048a0" /><Relationship Type="http://schemas.openxmlformats.org/officeDocument/2006/relationships/notesMaster" Target="/ppt/notesMasters/notesMaster1.xml" Id="R75619b6d05ea4cb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df318aa1c524b92" /><Relationship Type="http://schemas.openxmlformats.org/officeDocument/2006/relationships/notesMaster" Target="/ppt/notesMasters/notesMaster1.xml" Id="R57c03e3317ad40d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4537cb3e1764649" /><Relationship Type="http://schemas.openxmlformats.org/officeDocument/2006/relationships/notesMaster" Target="/ppt/notesMasters/notesMaster1.xml" Id="R104f1e2e8437408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91f4a5822e14a93" /><Relationship Type="http://schemas.openxmlformats.org/officeDocument/2006/relationships/notesMaster" Target="/ppt/notesMasters/notesMaster1.xml" Id="Ra5837d55e2c044d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8ebedeb1d594908" /><Relationship Type="http://schemas.openxmlformats.org/officeDocument/2006/relationships/notesMaster" Target="/ppt/notesMasters/notesMaster1.xml" Id="R76de968b39a0480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36853ede5b64e85" /><Relationship Type="http://schemas.openxmlformats.org/officeDocument/2006/relationships/notesMaster" Target="/ppt/notesMasters/notesMaster1.xml" Id="Re1c1e71a32d84fe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13cfccf65114e21" /><Relationship Type="http://schemas.openxmlformats.org/officeDocument/2006/relationships/notesMaster" Target="/ppt/notesMasters/notesMaster1.xml" Id="R6d55c5afc3a34c5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3ef5bce82e042c6" /><Relationship Type="http://schemas.openxmlformats.org/officeDocument/2006/relationships/notesMaster" Target="/ppt/notesMasters/notesMaster1.xml" Id="R34ccd91b43424fb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f460bdb817e4ce8" /><Relationship Type="http://schemas.openxmlformats.org/officeDocument/2006/relationships/notesMaster" Target="/ppt/notesMasters/notesMaster1.xml" Id="R271dc8387de5498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7a0c1e85f3b4171" /><Relationship Type="http://schemas.openxmlformats.org/officeDocument/2006/relationships/notesMaster" Target="/ppt/notesMasters/notesMaster1.xml" Id="R398a831c70c642d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956ca137a884adf" /><Relationship Type="http://schemas.openxmlformats.org/officeDocument/2006/relationships/notesMaster" Target="/ppt/notesMasters/notesMaster1.xml" Id="R2c55d6094821408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cda3dd4804d4d14" /><Relationship Type="http://schemas.openxmlformats.org/officeDocument/2006/relationships/notesMaster" Target="/ppt/notesMasters/notesMaster1.xml" Id="R222ec93d4f3d4e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소스 기준: public/index.html; src/shared/components/ui.js; src/pages/introduction.js; src/features/introduction/intro.js. 실제 구현은 3개 메뉴와 3단계 바. 이용 흐름은 22~23장에 포함.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소스 기준: src/features/auth/auth.js; src/app/main.js; src/shared/api/backend-adapter.js. 팀 API 세션은 이메일 폼을 사용하며 password_reset=false, providers=[]이다.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소스 기준: src/features/auth/auth.js; src/app/main.js. 인증 완료 전 세션을 로그인 성공으로 다루지 않으며 임시 입력은 기존 30분 만료를 따른다.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2026-10-13 현재 구현. 실제 화면의 정보 구조를 간략화한 편집형 설계도이며 개인 계정·이력서·보고서 데이터를 포함하지 않는다. 출처: src/features/resumes/guest.js, guest_analysis_service.py. .md/UTF-8/10MB 검증. 서비스 연결 불가 시 오류 안내. 가짜 결과·분석 전 완료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소스 기준: src/pages/workspace.js; src/features/resumes/resume.js; src/features/resumes/file-preflight.js; src/app/main.js; src/shared/api/backend-adapter.js. 삭제는 현재 이력서 요청 및 작업상태 초기화이며 모든 저장 보고서 삭제를 단정하지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소스 기준: src/features/resumes/examples.js; src/pages/workspace.js; src/app/main.js. 회원에게 보이는 확장 패널. 검색 결과별 12개 페이지.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2026-10-13 현재 구현. 실제 화면의 정보 구조를 간략화한 편집형 설계도이며 개인 계정·이력서·보고서 데이터를 포함하지 않는다. 출처: src/features/job-postings/job.js, src/pages/desired-role.js. custom 직무 선택 시 직접 입력만 유지. 기존 추가 관심 내용 입력은 제거됨.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소스 기준: src/pages/opportunities.js; src/features/job-postings/opportunities.js; src/features/job-postings/opportunity-state.js; src/app/main.js. 목록은 20개씩. 페이지 변경은 열린 상세를 유지하고 행 클릭 시 상세를 변경한다.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소스 기준: src/pages/jobs.js; src/features/job-postings/catalog.js; src/features/job-postings/catalog-state.js. 일반 팀 API 사용자는 작성·북마크·저장만 보기 비활성. demo 전용 쓰기 기능을 정상 기능으로 표기하지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소스 기준: src/pages/jobs.js; src/features/job-postings/catalog.js; src/app/main.js. 일반 사용자는 관심 저장 비활성. 공고 원문 링크는 안전한 http(s) 출처가 있을 때만 렌더링한다.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2026-10-13 현재 구현. 실제 화면의 정보 구조를 간략화한 편집형 설계도이며 개인 계정·이력서·보고서 데이터를 포함하지 않는다. 출처: src/app/main.js, guest_analysis_service.py, guest_analysis_engine.py, src/features/analysis/report-loading.js. 회원은 API·워커, 비회원은 프론트 서버에서 계산. 최소 4초와 실제 성공·저장을 확인하며 서버 진행률만 사용. 실제 유료 분석 검증은 미실행.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2026-10-13 현재 구현. 실제 화면의 정보 구조를 간략화한 편집형 설계도이며 개인 계정·이력서·보고서 데이터를 포함하지 않는다. 출처: src/features/auth/report-gate.js, guest_analysis_service.py, src/shared/api/backend-adapter.js. 프론트 서버 실제 계산·저장 후 인증 게이트. 30분은 첫 유효 첨부 기준. 인증된 계정 연결은 백엔드 DB 이관이 아니라 프론트 개인 저장소 소유권 연결.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2026-10-13 현재 구현. 실제 화면의 정보 구조를 간략화한 편집형 설계도이며 개인 계정·이력서·보고서 데이터를 포함하지 않는다. 출처: src/app/main.js, src/shared/api/backend-adapter.js, src/features/auth/report-gate.js. 추가 분석 없음. 인증 후 표시 3초 이내는 목표이고 실제 네트워크 측정 보장 아님. 이메일 인증 완료가 선행될 수 있음.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구현: src/features/analysis/report.js; status-radar.js; status-radar-data.js; report-presentation.js.</a:t>
            </a:r>
          </a:p>
          <a:p xmlns:a="http://schemas.openxmlformats.org/drawingml/2006/main">
            <a:r>
              <a:t>임의 점수 없이 평가값/미산정으로 표현. 실제 피라미드는 백엔드 4축 점수와 좌표 사용. 보이는 숫자만 정수 반올림, 원본 소수 유지.</a:t>
            </a:r>
          </a:p>
          <a:p xmlns:a="http://schemas.openxmlformats.org/drawingml/2006/main">
            <a:r>
              <a:t>피라미드 조작: pointermove 관점 변경, wheel 확대 0.85~1.16, 방향키 회전/기울기, +/- 확대. 점수 변화 시연은 demo:true 전용.</a:t>
            </a:r>
          </a:p>
          <a:p xmlns:a="http://schemas.openxmlformats.org/drawingml/2006/main">
            <a:r>
              <a:t>목차: overview/backend-evaluation/readiness/evidence/priorities. 현재 보고서는 희망 직무 수정, 저장보고서는 저장한 보고서 목록.</a:t>
            </a:r>
          </a:p>
          <a:p xmlns:a="http://schemas.openxmlformats.org/drawingml/2006/main">
            <a:r>
              <a:t>다른 공고로 모의지원은 selected_posting_id가 있을 때만 표시. 실제 보고서는 자동 저장, 별도 저장/인쇄/PDF/개선 편집 버튼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구현: src/features/analysis/report.js evaluationMarkup/backendEvaluationMarkup/evidenceMarkup; backend-adapter.js mapBackendReport.</a:t>
            </a:r>
          </a:p>
          <a:p xmlns:a="http://schemas.openxmlformats.org/drawingml/2006/main">
            <a:r>
              <a:t>표현은 실제 페이지의 아래쪽 여러 구역을 한 장에 요약한 정보 구조. 점수나 개인정보를 예시로 채우지 않음.</a:t>
            </a:r>
          </a:p>
          <a:p xmlns:a="http://schemas.openxmlformats.org/drawingml/2006/main">
            <a:r>
              <a:t>세부항목: 이름/비중/점수/판정/추정여부/판단근거/비교기준/신뢰도/검증상태/이슈. 제공되지 않은 필드는 만들지 않음.</a:t>
            </a:r>
          </a:p>
          <a:p xmlns:a="http://schemas.openxmlformats.org/drawingml/2006/main">
            <a:r>
              <a:t>근거배지는 확인/추가확인/부족/제외. 인용 없음과 평가 제외는 다른 안내. 강점은 충족 근거, gaps는 미충족·보류 근거.</a:t>
            </a:r>
          </a:p>
          <a:p xmlns:a="http://schemas.openxmlformats.org/drawingml/2006/main">
            <a:r>
              <a:t>reference_guidance=[]이며 ai_coaching 미제공이라 별도 보완안내 섹션은 실제 adapter에서 숨김. 실제 보고서에 demo 변화 미리보기 없음.</a:t>
            </a:r>
          </a:p>
          <a:p xmlns:a="http://schemas.openxmlformats.org/drawingml/2006/main">
            <a:r>
              <a:t>본문을 독립 스크롤. 출력/PDF/이력서 보완 편집 버튼 없음. 일부확인필요는 전체 실패나 진행중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구현: src/features/analysis/saved-report-picker.js; src/shared/styles/report-picker.css.</a:t>
            </a:r>
          </a:p>
          <a:p xmlns:a="http://schemas.openxmlformats.org/drawingml/2006/main">
            <a:r>
              <a:t>1200px 이하에서는 dialog drawer와 backdrop, 넓으면 complementary sidebar. 목록은 API 순서 유지. current row 삽입/최상단 재정렬 없음.</a:t>
            </a:r>
          </a:p>
          <a:p xmlns:a="http://schemas.openxmlformats.org/drawingml/2006/main">
            <a:r>
              <a:t>현재 보고서 초록 테두리·현재 보고서 텍스트. 현재 항목 다시 누르면 navigation 방지. 경로 이동/접기 후 펼치기에서 state scrollTop 유지.</a:t>
            </a:r>
          </a:p>
          <a:p xmlns:a="http://schemas.openxmlformats.org/drawingml/2006/main">
            <a:r>
              <a:t>많은 기록은 가상 스크롤. 더 불러오기/실패시 다시 불러오기. 보이는 항목의 공고 context 따로 조회. 키보드 방향키/Home/End/Tab 지원.</a:t>
            </a:r>
          </a:p>
          <a:p xmlns:a="http://schemas.openxmlformats.org/drawingml/2006/main">
            <a:r>
              <a:t>Escape/좁은 화면 바깥 클릭으로 접기. 계정 인증 만료는 로그인 안내. 전체 보기=마이페이지.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2026-10-13 현재 구현. 실제 화면의 정보 구조를 간략화한 편집형 설계도이며 개인 계정·이력서·보고서 데이터를 포함하지 않는다. 출처: src/pages/my-page.js, src/app/main.js. 실제 로그인 회원만 대시보드·이용 흐름 링크 노출, same-tab 인증 유지. can_delete=true인 프론트 서버 소유 결과만 삭제. 팀 백엔드 보고서는 삭제 미지원.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2026-10-13 현재 구현. 실제 화면의 정보 구조를 간략화한 편집형 설계도이며 개인 계정·이력서·보고서 데이터를 포함하지 않는다. 출처: src/pages/admin-dashboard.js, src/features/admin/dashboard-view.js. frontend/backend 회원 검사 모두 적용. 실시간 이용 흐름은 22~23장. 관리자 지정 불필요.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화면 구조를 간략화한 편집형 설계도. 값은 데이터 항목명으로 표시. 2026-10-13 현재 구현 기준. 출처: src/pages/admin-dashboard.js, src/features/admin/dashboard-view.js, src/features/admin/performance-data.js. 이용 흐름은 22~23장에 포함.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화면 구조를 간략화한 편집형 설계도. 값은 데이터 항목명으로 표시. 2026-10-13 현재 구현 기준. 출처: src/pages/admin-dashboard.js, src/features/admin/dashboard-view.js, src/features/admin/performance-data.js. 이용 흐름은 22~23장에 포함.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화면 구조를 간략화한 편집형 설계도. 값은 데이터 항목명으로 표시. 2026-10-13 현재 구현 기준. 출처: src/pages/admin-dashboard.js, src/features/admin/dashboard-view.js, src/features/admin/performance-data.js. 이용 흐름은 22~23장에 포함.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2026-10-13 현재 구현. 실제 화면의 정보 구조를 간략화한 편집형 설계도이며 개인 계정·이력서·보고서 데이터를 포함하지 않는다. 출처: src/features/activity-flow/viewer.js, central-transport.js, backend app/application/flow.py. 예시 행은 데이터 항목 구조이며 실제 사용자 기록이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2026-10-13 현재 구현. 실제 화면의 정보 구조를 간략화한 편집형 설계도이며 개인 계정·이력서·보고서 데이터를 포함하지 않는다. 출처: src/features/activity-flow/catalog.js, viewer.js, motion.js. 실제 41개 카드명을 사용. 단일 대상 지도와 전체 수신 로그를 구분. 내부 기록 보관 카드는 계측 없으면 미수집.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2026-10-13 현재 구현. 실제 화면의 정보 구조를 간략화한 편집형 설계도이며 개인 계정·이력서·보고서 데이터를 포함하지 않는다. 출처: infra/deploy/compose.yaml, production.md, docs/api/member-shared-flow-backend.md. 원격 배포·마이그레이션·실제 모델 분석·운영 부하는 이 문서의 완료 범위가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75553a7a5943c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c7bc57dcdf442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01097ba8e843e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6bd4a9f7bf46d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fe7fa97d5d4af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d6be1a68c14d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22A813-0EC4-452E-9E51-F63E6A70FB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E49D341-BF55-467E-83E0-A1882F0165C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DB56F85-A87A-4F03-971C-57D38F9A48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3D31D89-2B49-41D5-BFED-02674104AC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42D733F-E2F8-4FF2-8E32-ECFEDAA53E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089347A-0C7A-4771-B51B-EF932D014D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1742E89-97F9-40B4-A24F-6C9BAA452D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74125BC-1072-4C1F-BC7E-D01EA6F9A86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A6B3E0-493D-49D1-B811-CBF762BE5F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D53C451-9B68-4E81-B32E-36358B5093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30063024d14b7b" /><Relationship Type="http://schemas.openxmlformats.org/officeDocument/2006/relationships/slideLayout" Target="/ppt/slideLayouts/slideLayout1.xml" Id="R29cca8f8e4894d8a" /><Relationship Type="http://schemas.openxmlformats.org/officeDocument/2006/relationships/slideLayout" Target="/ppt/slideLayouts/slideLayout2.xml" Id="R6beaa431073545d4" /><Relationship Type="http://schemas.openxmlformats.org/officeDocument/2006/relationships/slideLayout" Target="/ppt/slideLayouts/slideLayout3.xml" Id="Rb5202b5ad3924679" /><Relationship Type="http://schemas.openxmlformats.org/officeDocument/2006/relationships/slideLayout" Target="/ppt/slideLayouts/slideLayout4.xml" Id="Rba5de0d3ad9444b6" /><Relationship Type="http://schemas.openxmlformats.org/officeDocument/2006/relationships/slideLayout" Target="/ppt/slideLayouts/slideLayout5.xml" Id="Rc454ad33cbc34872" /><Relationship Type="http://schemas.openxmlformats.org/officeDocument/2006/relationships/slideLayout" Target="/ppt/slideLayouts/slideLayout6.xml" Id="R2ef86c6a8e234e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cca8f8e4894d8a"/>
    <p:sldLayoutId xmlns:r="http://schemas.openxmlformats.org/officeDocument/2006/relationships" id="2147483650" r:id="R6beaa431073545d4"/>
    <p:sldLayoutId xmlns:r="http://schemas.openxmlformats.org/officeDocument/2006/relationships" id="2147483651" r:id="Rb5202b5ad3924679"/>
    <p:sldLayoutId xmlns:r="http://schemas.openxmlformats.org/officeDocument/2006/relationships" id="2147483652" r:id="Rba5de0d3ad9444b6"/>
    <p:sldLayoutId xmlns:r="http://schemas.openxmlformats.org/officeDocument/2006/relationships" id="2147483653" r:id="Rc454ad33cbc34872"/>
    <p:sldLayoutId xmlns:r="http://schemas.openxmlformats.org/officeDocument/2006/relationships" id="2147483654" r:id="R2ef86c6a8e234e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f5938ad0094fa5" /><Relationship Type="http://schemas.openxmlformats.org/officeDocument/2006/relationships/notesSlide" Target="/ppt/notesSlides/notesSlide1.xml" Id="R712b182909bc4c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312e70d9044d97" /><Relationship Type="http://schemas.openxmlformats.org/officeDocument/2006/relationships/notesSlide" Target="/ppt/notesSlides/notesSlide2.xml" Id="Rbc1bffd7253d41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e95a3e82af42ca" /><Relationship Type="http://schemas.openxmlformats.org/officeDocument/2006/relationships/notesSlide" Target="/ppt/notesSlides/notesSlide3.xml" Id="R19854fcee12445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d1909ac0bd4a34" /><Relationship Type="http://schemas.openxmlformats.org/officeDocument/2006/relationships/notesSlide" Target="/ppt/notesSlides/notesSlide4.xml" Id="R87b25b0e89da4a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54fea806ce4a46" /><Relationship Type="http://schemas.openxmlformats.org/officeDocument/2006/relationships/notesSlide" Target="/ppt/notesSlides/notesSlide5.xml" Id="R179549178fa443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ac090ce6d74a23" /><Relationship Type="http://schemas.openxmlformats.org/officeDocument/2006/relationships/notesSlide" Target="/ppt/notesSlides/notesSlide6.xml" Id="R8651a414590345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89fd0536b44f66" /><Relationship Type="http://schemas.openxmlformats.org/officeDocument/2006/relationships/notesSlide" Target="/ppt/notesSlides/notesSlide7.xml" Id="Rc3098e12039443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b5337e0c7148a1" /><Relationship Type="http://schemas.openxmlformats.org/officeDocument/2006/relationships/notesSlide" Target="/ppt/notesSlides/notesSlide8.xml" Id="R8a692152323840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7f6ea8972e4378" /><Relationship Type="http://schemas.openxmlformats.org/officeDocument/2006/relationships/notesSlide" Target="/ppt/notesSlides/notesSlide9.xml" Id="R2f3ee4e466dd4c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3c63c9f17d4456" /><Relationship Type="http://schemas.openxmlformats.org/officeDocument/2006/relationships/notesSlide" Target="/ppt/notesSlides/notesSlide10.xml" Id="Re1c309bdfac7402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b9fadad6fe43e4" /><Relationship Type="http://schemas.openxmlformats.org/officeDocument/2006/relationships/notesSlide" Target="/ppt/notesSlides/notesSlide11.xml" Id="R1e6a4419628c444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c44ac60d1547e7" /><Relationship Type="http://schemas.openxmlformats.org/officeDocument/2006/relationships/notesSlide" Target="/ppt/notesSlides/notesSlide12.xml" Id="Rd9762a84fcf0452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ebca565b2c429a" /><Relationship Type="http://schemas.openxmlformats.org/officeDocument/2006/relationships/notesSlide" Target="/ppt/notesSlides/notesSlide13.xml" Id="R20478ecfcc224b1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5e379c430e4fc5" /><Relationship Type="http://schemas.openxmlformats.org/officeDocument/2006/relationships/notesSlide" Target="/ppt/notesSlides/notesSlide14.xml" Id="R6f6bdaf715eb45f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90b6ce093b455f" /><Relationship Type="http://schemas.openxmlformats.org/officeDocument/2006/relationships/notesSlide" Target="/ppt/notesSlides/notesSlide15.xml" Id="R3a76eba471e9412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0918addc454ba4" /><Relationship Type="http://schemas.openxmlformats.org/officeDocument/2006/relationships/notesSlide" Target="/ppt/notesSlides/notesSlide16.xml" Id="Rddb0e148354742e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9af8fec3ef4b7f" /><Relationship Type="http://schemas.openxmlformats.org/officeDocument/2006/relationships/notesSlide" Target="/ppt/notesSlides/notesSlide17.xml" Id="R08c82a2ac8884db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fabe01ef994068" /><Relationship Type="http://schemas.openxmlformats.org/officeDocument/2006/relationships/notesSlide" Target="/ppt/notesSlides/notesSlide18.xml" Id="Rf7acd4eb29bd46e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156a00596a41be" /><Relationship Type="http://schemas.openxmlformats.org/officeDocument/2006/relationships/notesSlide" Target="/ppt/notesSlides/notesSlide19.xml" Id="Re93d8d66a1d0467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734a4f427e4ef9" /><Relationship Type="http://schemas.openxmlformats.org/officeDocument/2006/relationships/notesSlide" Target="/ppt/notesSlides/notesSlide20.xml" Id="R6c11467d91284db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77bcc6320f4957" /><Relationship Type="http://schemas.openxmlformats.org/officeDocument/2006/relationships/notesSlide" Target="/ppt/notesSlides/notesSlide21.xml" Id="R6b704cc2fc3d420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88ab165fdc409d" /><Relationship Type="http://schemas.openxmlformats.org/officeDocument/2006/relationships/notesSlide" Target="/ppt/notesSlides/notesSlide22.xml" Id="R02910204282d4b0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e5011a827e4f9f" /><Relationship Type="http://schemas.openxmlformats.org/officeDocument/2006/relationships/notesSlide" Target="/ppt/notesSlides/notesSlide23.xml" Id="R1422ee8b2bf1454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6213cc0edd40fa" /><Relationship Type="http://schemas.openxmlformats.org/officeDocument/2006/relationships/notesSlide" Target="/ppt/notesSlides/notesSlide24.xml" Id="R3a8356f5cebc4b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CDFC4E21-63EB-4B9B-80AC-097F7F13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417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공통 화면 · 소개</a:t>
            </a:r>
          </a:p>
        </p:txBody>
      </p:sp>
      <p:sp>
        <p:nvSpPr>
          <p:cNvPr id="2" name="screen-route">
            <a:extLst xmlns:a="http://schemas.openxmlformats.org/drawingml/2006/main">
              <a:ext uri="{FF2B5EF4-FFF2-40B4-BE49-F238E27FC236}">
                <a16:creationId xmlns:a16="http://schemas.microsoft.com/office/drawing/2014/main" id="{DDF2763C-C2DC-477B-AB47-497B4E69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975"/>
            <a:ext cx="1417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공통 업무 UI 예시 / 아래는 #/intro 소개 영역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544C25-4A7F-4FC8-AFAB-93678F37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417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707A3205-B072-4DC1-A931-AF295922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92202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" name="features-heading">
            <a:extLst xmlns:a="http://schemas.openxmlformats.org/drawingml/2006/main">
              <a:ext uri="{FF2B5EF4-FFF2-40B4-BE49-F238E27FC236}">
                <a16:creationId xmlns:a16="http://schemas.microsoft.com/office/drawing/2014/main" id="{861A7482-78EE-4507-84B0-C7129F96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621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기능 설명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F473A8-A275-41A1-A28F-FA718F4C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71675"/>
            <a:ext cx="461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reen-id">
            <a:extLst xmlns:a="http://schemas.openxmlformats.org/drawingml/2006/main">
              <a:ext uri="{FF2B5EF4-FFF2-40B4-BE49-F238E27FC236}">
                <a16:creationId xmlns:a16="http://schemas.microsoft.com/office/drawing/2014/main" id="{DE27B69A-B620-484B-951E-6FBB698B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t>CareerLens 프로젝트 2 · 2026.10.13 개정 2 · 현재 구현 화면 구성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7D8615A-E9AA-458A-A37F-2566755C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581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01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ECA9CC-9677-4941-A24D-AA5BAC3D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228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CareerLens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68601A-46B6-4880-818B-0E9B697E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이력서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CD4CFD-4F58-4720-8B58-B03A892C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채용공고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6E9044-7E03-42B5-B2D4-13A9BA5B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모의 지원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E58CCC-D2E0-4517-9C1B-ADEB7925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819275"/>
            <a:ext cx="962025" cy="371475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로그인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415687-2709-48F9-8232-3C15FC22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76475"/>
            <a:ext cx="864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721774-A1A1-44CB-A8E9-15F1577D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381250"/>
            <a:ext cx="2047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1  이력서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558AB4-C344-4422-A8E6-1B34365B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381250"/>
            <a:ext cx="2333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2  채용공고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09CFF0-6445-4AFD-93EC-FF67731C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81250"/>
            <a:ext cx="2333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3  모의 지원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83CEB2-3535-4C7B-8596-C437C87B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8573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F802FE-EF89-4E0C-9749-79CFD959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876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76C07A-056A-4627-82E2-A63AF4A6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669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C0A905-0CB9-4B85-8803-8668D621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343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DEC266-10EB-4E3C-BA2C-917BDBFC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3225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6F3C23-6D55-4216-9D2F-C24D1733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048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5EFEE6-9C4C-4118-BFFD-37E43038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86100"/>
            <a:ext cx="771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안내 · 완료 · 오류 메시지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C12FBB-D845-44C1-8E80-5867A6CF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85725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3CF4DC-1DDA-4FB8-AC33-6247B590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862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소개 화면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7F39E8-413F-43D5-9359-543046A1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4196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4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CareerLens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B68923-26FB-4653-93B2-B41F2608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943475"/>
            <a:ext cx="7572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경험을 살피고, 다음 기회를 준비하세요.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3FB506-4647-4344-B4FF-463BFE0C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381625"/>
            <a:ext cx="7429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이력서와 채용공고를 연결하는 모의 지원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540C6E-9EC3-4992-84D5-97B44D85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67150"/>
            <a:ext cx="140970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건너뛰기 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60D113-429C-4526-8F0A-EAECA53F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943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142D89-CC03-44AE-A4A1-9E8239FE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962650"/>
            <a:ext cx="7715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245CB9-7342-4D91-85AF-92EA0C88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962650"/>
            <a:ext cx="2952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9525">
            <a:solidFill>
              <a:srgbClr val="285DA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DD229E-B627-4035-ADFC-FDA53446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6105525"/>
            <a:ext cx="7572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잠시 후 이력서 화면으로 이동합니다. · 2.5초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38A0EB-D027-447C-A95F-E2ACDDDF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8199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57E99E-2AE8-4798-A9C2-1CD54707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848475"/>
            <a:ext cx="752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CareerLens · 교육 과정 프로젝트 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9D07AD-5C6B-4C44-9717-4D3749C8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53275"/>
            <a:ext cx="771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연결된 팀 API로 분석하며, 실제 기업에 지원서를 보내지 않습니다.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CFA121-B8EA-454B-8D7B-8E0E8C6B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9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927E0BF2-1F68-4896-894C-B89EEE2E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14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로고 · 소개</a:t>
            </a:r>
          </a:p>
        </p:txBody>
      </p:sp>
      <p:sp>
        <p:nvSpPr>
          <p:cNvPr id="40" name="feature-1-body">
            <a:extLst xmlns:a="http://schemas.openxmlformats.org/drawingml/2006/main">
              <a:ext uri="{FF2B5EF4-FFF2-40B4-BE49-F238E27FC236}">
                <a16:creationId xmlns:a16="http://schemas.microsoft.com/office/drawing/2014/main" id="{9245CE07-F241-499D-A5CB-9F0094F5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90775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CareerLens 로고를 누르면 소개 화면으로 이동합니다.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42EAE2-6F8F-41C4-8CC5-C5FD0D8C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72468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773C06-668F-4398-BA42-6B75F023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29618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43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1FE84FD2-BDAF-4A32-850D-9B2A3C83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20093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주요 메뉴</a:t>
            </a:r>
          </a:p>
        </p:txBody>
      </p:sp>
      <p:sp>
        <p:nvSpPr>
          <p:cNvPr id="44" name="feature-2-body">
            <a:extLst xmlns:a="http://schemas.openxmlformats.org/drawingml/2006/main">
              <a:ext uri="{FF2B5EF4-FFF2-40B4-BE49-F238E27FC236}">
                <a16:creationId xmlns:a16="http://schemas.microsoft.com/office/drawing/2014/main" id="{552BB0DC-0A43-4891-8354-FE4A523F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196318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이력서·채용공고·모의 지원으로 이동합니다. 선택 직무와 준비 상태를 유지합니다.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B9BECBC-FFF3-4DFA-8541-0071A42F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78011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95B0561-C296-43F1-A79E-94AFEFFF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35161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7" name="feature-3-title">
            <a:extLst xmlns:a="http://schemas.openxmlformats.org/drawingml/2006/main">
              <a:ext uri="{FF2B5EF4-FFF2-40B4-BE49-F238E27FC236}">
                <a16:creationId xmlns:a16="http://schemas.microsoft.com/office/drawing/2014/main" id="{BCE77088-4AF6-43DD-81DB-2D5527A0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725636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계정 메뉴</a:t>
            </a:r>
          </a:p>
        </p:txBody>
      </p:sp>
      <p:sp>
        <p:nvSpPr>
          <p:cNvPr id="48" name="feature-3-body">
            <a:extLst xmlns:a="http://schemas.openxmlformats.org/drawingml/2006/main">
              <a:ext uri="{FF2B5EF4-FFF2-40B4-BE49-F238E27FC236}">
                <a16:creationId xmlns:a16="http://schemas.microsoft.com/office/drawing/2014/main" id="{9ED80B61-90C8-4EDB-B574-6AC9F471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001861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로그인 또는 이름·마이페이지·로그아웃을 표시합니다. 미저장 로그아웃은 확인합니다.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59E047D-4D11-4D7E-B774-F2F8AAE2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483554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8FCB005-881A-485E-8B8B-EE3A6E20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40704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51" name="feature-4-title">
            <a:extLst xmlns:a="http://schemas.openxmlformats.org/drawingml/2006/main">
              <a:ext uri="{FF2B5EF4-FFF2-40B4-BE49-F238E27FC236}">
                <a16:creationId xmlns:a16="http://schemas.microsoft.com/office/drawing/2014/main" id="{40D0FEC0-E05D-46E0-9A2F-02F6A078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531179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진행 단계</a:t>
            </a:r>
          </a:p>
        </p:txBody>
      </p:sp>
      <p:sp>
        <p:nvSpPr>
          <p:cNvPr id="52" name="feature-4-body">
            <a:extLst xmlns:a="http://schemas.openxmlformats.org/drawingml/2006/main">
              <a:ext uri="{FF2B5EF4-FFF2-40B4-BE49-F238E27FC236}">
                <a16:creationId xmlns:a16="http://schemas.microsoft.com/office/drawing/2014/main" id="{267F6BF3-CD5D-4631-8A96-39A322CA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07404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업무 화면에서 현재·완료 단계를 표시합니다. 소개에서는 숨깁니다.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8ADB2B9-3569-418D-9EC5-496998C2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89096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E182EEF-419C-4DBE-BB54-BDD06E30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346246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55" name="feature-5-title">
            <a:extLst xmlns:a="http://schemas.openxmlformats.org/drawingml/2006/main">
              <a:ext uri="{FF2B5EF4-FFF2-40B4-BE49-F238E27FC236}">
                <a16:creationId xmlns:a16="http://schemas.microsoft.com/office/drawing/2014/main" id="{7A9976F3-BAD7-499B-A2A6-D5BA177E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336721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상태 메시지</a:t>
            </a:r>
          </a:p>
        </p:txBody>
      </p:sp>
      <p:sp>
        <p:nvSpPr>
          <p:cNvPr id="56" name="feature-5-body">
            <a:extLst xmlns:a="http://schemas.openxmlformats.org/drawingml/2006/main">
              <a:ext uri="{FF2B5EF4-FFF2-40B4-BE49-F238E27FC236}">
                <a16:creationId xmlns:a16="http://schemas.microsoft.com/office/drawing/2014/main" id="{0CC6F3E4-CD02-4060-AA3A-34F0E159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612946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로딩·완료·오류를 표시합니다. 만료 시 재로그인 또는 이력서 재첨부를 안내합니다.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61F4AB3-DB10-454A-81A9-4A95FD1A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094639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FDAFE72-6584-4F05-A1D6-97FB0598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151789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59" name="feature-6-title">
            <a:extLst xmlns:a="http://schemas.openxmlformats.org/drawingml/2006/main">
              <a:ext uri="{FF2B5EF4-FFF2-40B4-BE49-F238E27FC236}">
                <a16:creationId xmlns:a16="http://schemas.microsoft.com/office/drawing/2014/main" id="{2A62DE9C-E7C4-46E8-857C-F0C53E51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142264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소개 자동 이동</a:t>
            </a:r>
          </a:p>
        </p:txBody>
      </p:sp>
      <p:sp>
        <p:nvSpPr>
          <p:cNvPr id="60" name="feature-6-body">
            <a:extLst xmlns:a="http://schemas.openxmlformats.org/drawingml/2006/main">
              <a:ext uri="{FF2B5EF4-FFF2-40B4-BE49-F238E27FC236}">
                <a16:creationId xmlns:a16="http://schemas.microsoft.com/office/drawing/2014/main" id="{99490F4F-AB3A-490A-90DA-4AA3E371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418489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건너뛰기·2.5초 경과 시 이력서로 이동합니다. 소개에는 단계바와 업무 모션이 없습니다.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FB841F0-45B3-41E8-959D-EBE77C2A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00182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53FB6D2-BDE4-46D3-A5CA-935A191C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957332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63" name="feature-7-title">
            <a:extLst xmlns:a="http://schemas.openxmlformats.org/drawingml/2006/main">
              <a:ext uri="{FF2B5EF4-FFF2-40B4-BE49-F238E27FC236}">
                <a16:creationId xmlns:a16="http://schemas.microsoft.com/office/drawing/2014/main" id="{90C2A839-D0E8-41A9-A0D6-03B7DF12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47807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프로젝트 안내</a:t>
            </a:r>
          </a:p>
        </p:txBody>
      </p:sp>
      <p:sp>
        <p:nvSpPr>
          <p:cNvPr id="64" name="feature-7-body">
            <a:extLst xmlns:a="http://schemas.openxmlformats.org/drawingml/2006/main">
              <a:ext uri="{FF2B5EF4-FFF2-40B4-BE49-F238E27FC236}">
                <a16:creationId xmlns:a16="http://schemas.microsoft.com/office/drawing/2014/main" id="{CB489A51-EB58-4039-BB5C-3AC35F56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224032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교육용 프로젝트이며 기업에 실제 지원서를 보내지 않음을 안내합니다.</a:t>
            </a:r>
          </a:p>
        </p:txBody>
      </p:sp>
    </p:spTree>
    <p:extLst>
      <p:ext uri="{BB962C8B-B14F-4D97-AF65-F5344CB8AC3E}">
        <p14:creationId xmlns:p14="http://schemas.microsoft.com/office/powerpoint/2010/main" val="8538234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146EB0B3-30F6-4A36-A452-B0A7F090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417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이메일 로그인</a:t>
            </a:r>
          </a:p>
        </p:txBody>
      </p:sp>
      <p:sp>
        <p:nvSpPr>
          <p:cNvPr id="2" name="screen-route">
            <a:extLst xmlns:a="http://schemas.openxmlformats.org/drawingml/2006/main">
              <a:ext uri="{FF2B5EF4-FFF2-40B4-BE49-F238E27FC236}">
                <a16:creationId xmlns:a16="http://schemas.microsoft.com/office/drawing/2014/main" id="{EA43DA53-F2B1-4E70-9EE0-249E0F61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975"/>
            <a:ext cx="1417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#/email · #/login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657A02-99B9-4F24-AFF2-451E2018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417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46180CBC-A4CB-4BCA-8B90-65C1E4A8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92202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" name="features-heading">
            <a:extLst xmlns:a="http://schemas.openxmlformats.org/drawingml/2006/main">
              <a:ext uri="{FF2B5EF4-FFF2-40B4-BE49-F238E27FC236}">
                <a16:creationId xmlns:a16="http://schemas.microsoft.com/office/drawing/2014/main" id="{5A52C232-2904-4FC9-B928-3CC2BBF9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621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기능 설명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5CC2DC-96D8-4C7C-983F-62F64D50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71675"/>
            <a:ext cx="461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reen-id">
            <a:extLst xmlns:a="http://schemas.openxmlformats.org/drawingml/2006/main">
              <a:ext uri="{FF2B5EF4-FFF2-40B4-BE49-F238E27FC236}">
                <a16:creationId xmlns:a16="http://schemas.microsoft.com/office/drawing/2014/main" id="{D1593D4D-FC3A-4C88-B613-D0960528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t>CareerLens 프로젝트 2 · 2026.10.13 개정 2 · 현재 구현 화면 구성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551D61F-6B18-4A35-A5CD-C371B088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581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02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A1013C-4633-412D-9A30-43697202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228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CareerLens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3D3C05-9856-48A3-A044-0E46AF4D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이력서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9218F0-8089-473E-8178-195AC10F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채용공고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F322F4-A1E2-483A-85CF-6F7A37C3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모의 지원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7AF705-C164-4E44-94F4-C22F1C02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514600"/>
            <a:ext cx="4581525" cy="465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931D69-E1C3-4B0A-992B-B1EE2B9A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14600"/>
            <a:ext cx="3743325" cy="465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0141DE-6581-4609-AF37-57A5EDF1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81300"/>
            <a:ext cx="3857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이메일로 로그인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43963E-854B-4F00-88C0-55DCA947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00400"/>
            <a:ext cx="3857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다시 만나 반가워요.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0C765B-A91D-4AE8-8508-22AE49ED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657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D93217-DE4F-43A1-927F-A966352C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676650"/>
            <a:ext cx="3381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이메일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79D67A-480B-47CD-B0F2-C300B13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10025"/>
            <a:ext cx="4019550" cy="42862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name@example.com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37174C-9D2E-4108-8EC3-1729E583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6005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4A9A33-6693-47D6-A9CA-89F237BB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619625"/>
            <a:ext cx="3381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비밀번호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2254C2-54B6-4405-AA8E-357F47AB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53000"/>
            <a:ext cx="3076575" cy="42862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••••••••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BF0029-7829-47E3-A948-C7B74E3F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953000"/>
            <a:ext cx="895350" cy="42862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표시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4B59E7-57BB-4C84-9AFF-7D89DEBC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19750"/>
            <a:ext cx="4019550" cy="447675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285DA8"/>
          </a:solidFill>
          <a:ln xmlns:a="http://schemas.openxmlformats.org/drawingml/2006/main" w="9525">
            <a:solidFill>
              <a:srgbClr val="285DA8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로그인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1D77F0-6333-4D0F-83F5-DC13AA2F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15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BE6CA3-9111-49A4-855B-C2944165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57925"/>
            <a:ext cx="3905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계정이 없으신가요?  이메일로 회원가입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3C6914-A48B-4B80-BB6B-C85A88E4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48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C41E1E-391E-4C50-8CF8-77192694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67056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다른 방법으로 계속하기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1BB2AE-88C2-459C-B1CC-D54928CC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6696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D22776-478E-46F9-BFC1-40995887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943225"/>
            <a:ext cx="30575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경험은 더 선명하게,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지원은 더 자신 있게.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5427DC-1C45-48AC-A88B-604A5AE0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000500"/>
            <a:ext cx="2990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나의 경험과 연결되는 기회를 찾아보세요.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DD817E-43D0-4D32-8CA4-20785CAA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762500"/>
            <a:ext cx="31337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12C5EE-4D7A-4E31-BAA7-3BB30F27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943475"/>
            <a:ext cx="2771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가상 채용공고 화면 예시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직무 · 회사 · 지역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F29D08-68DE-4D4D-857E-587CDD06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61436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91D534-7004-442E-BD5C-E6BEB32D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181725"/>
            <a:ext cx="2838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오류 · 처리 중 · 인증 안내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DA52FC-97AB-421A-84AF-50AA3128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715125"/>
            <a:ext cx="3343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현재 소셜 로그인·비밀번호 재설정 미지원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524E18-BFE9-4D99-87D8-830DB26F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8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A7D0FF7E-B01C-4C38-9E3A-B6BA967C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14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이메일</a:t>
            </a:r>
          </a:p>
        </p:txBody>
      </p:sp>
      <p:sp>
        <p:nvSpPr>
          <p:cNvPr id="39" name="feature-1-body">
            <a:extLst xmlns:a="http://schemas.openxmlformats.org/drawingml/2006/main">
              <a:ext uri="{FF2B5EF4-FFF2-40B4-BE49-F238E27FC236}">
                <a16:creationId xmlns:a16="http://schemas.microsoft.com/office/drawing/2014/main" id="{2135AD42-CDA6-4718-B403-5492C5C2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907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필수 입력, 이메일 형식과 최대 254자를 검증합니다.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0B29CD-D92C-43CE-95AF-2E4C6064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067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5D5456C-51FF-4D39-B5D5-403F587A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63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42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21E2B5D1-D1DE-4600-84E4-17BAA4EC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543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비밀번호 · 표시</a:t>
            </a:r>
          </a:p>
        </p:txBody>
      </p:sp>
      <p:sp>
        <p:nvSpPr>
          <p:cNvPr id="43" name="feature-2-body">
            <a:extLst xmlns:a="http://schemas.openxmlformats.org/drawingml/2006/main">
              <a:ext uri="{FF2B5EF4-FFF2-40B4-BE49-F238E27FC236}">
                <a16:creationId xmlns:a16="http://schemas.microsoft.com/office/drawing/2014/main" id="{05CF6E57-FF1B-470B-B5A8-44D12566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3305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필수 입력, 최대 128자입니다. 표시/숨김 버튼으로 입력 내용을 전환합니다.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D58E058-8647-4643-9519-F5A521AC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9465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7EB6B48-13F1-4253-8522-88F5DF19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03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6" name="feature-3-title">
            <a:extLst xmlns:a="http://schemas.openxmlformats.org/drawingml/2006/main">
              <a:ext uri="{FF2B5EF4-FFF2-40B4-BE49-F238E27FC236}">
                <a16:creationId xmlns:a16="http://schemas.microsoft.com/office/drawing/2014/main" id="{CE2B6C03-4480-4BD3-BEF6-27CFB424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9941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로그인</a:t>
            </a:r>
          </a:p>
        </p:txBody>
      </p:sp>
      <p:sp>
        <p:nvSpPr>
          <p:cNvPr id="47" name="feature-3-body">
            <a:extLst xmlns:a="http://schemas.openxmlformats.org/drawingml/2006/main">
              <a:ext uri="{FF2B5EF4-FFF2-40B4-BE49-F238E27FC236}">
                <a16:creationId xmlns:a16="http://schemas.microsoft.com/office/drawing/2014/main" id="{E0BBDE91-0081-4551-9D3A-BE72ED78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703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성공하면 준비 중이던 작업을 이어갑니다. 처리 중 문구를 표시하고 중복 제출을 막습니다.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213FDAE-0773-48C0-9028-C4A9A9B2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863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7116CEB-DF3C-4F4E-B92D-97AFC325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43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50" name="feature-4-title">
            <a:extLst xmlns:a="http://schemas.openxmlformats.org/drawingml/2006/main">
              <a:ext uri="{FF2B5EF4-FFF2-40B4-BE49-F238E27FC236}">
                <a16:creationId xmlns:a16="http://schemas.microsoft.com/office/drawing/2014/main" id="{12071BAE-C1DF-452B-A790-AC6A960F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9339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회원가입 이동</a:t>
            </a:r>
          </a:p>
        </p:txBody>
      </p:sp>
      <p:sp>
        <p:nvSpPr>
          <p:cNvPr id="51" name="feature-4-body">
            <a:extLst xmlns:a="http://schemas.openxmlformats.org/drawingml/2006/main">
              <a:ext uri="{FF2B5EF4-FFF2-40B4-BE49-F238E27FC236}">
                <a16:creationId xmlns:a16="http://schemas.microsoft.com/office/drawing/2014/main" id="{3A88E4C5-4E7D-47F2-A74D-73FB9517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101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이메일로 회원가입 화면으로 전환합니다.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20D5578-7D21-4D8C-B123-FA06C73C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8261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B1007F7-F4CC-4735-B5D2-F0C27440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8832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54" name="feature-5-title">
            <a:extLst xmlns:a="http://schemas.openxmlformats.org/drawingml/2006/main">
              <a:ext uri="{FF2B5EF4-FFF2-40B4-BE49-F238E27FC236}">
                <a16:creationId xmlns:a16="http://schemas.microsoft.com/office/drawing/2014/main" id="{54A1A926-15BA-40DA-9D33-D37A9858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8737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다른 방법 링크</a:t>
            </a:r>
          </a:p>
        </p:txBody>
      </p:sp>
      <p:sp>
        <p:nvSpPr>
          <p:cNvPr id="55" name="feature-5-body">
            <a:extLst xmlns:a="http://schemas.openxmlformats.org/drawingml/2006/main">
              <a:ext uri="{FF2B5EF4-FFF2-40B4-BE49-F238E27FC236}">
                <a16:creationId xmlns:a16="http://schemas.microsoft.com/office/drawing/2014/main" id="{3E8E75B4-DE8F-4835-9C21-59DEFD33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1499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현재 팀 API에서는 이메일 폼으로 연결됩니다. 보고서 위 팝업에는 이 링크가 없습니다.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0F551EF-773D-4ACA-96C8-D691CD1F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7659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EF734D4-3746-4D64-8124-120F8FFD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823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58" name="feature-6-title">
            <a:extLst xmlns:a="http://schemas.openxmlformats.org/drawingml/2006/main">
              <a:ext uri="{FF2B5EF4-FFF2-40B4-BE49-F238E27FC236}">
                <a16:creationId xmlns:a16="http://schemas.microsoft.com/office/drawing/2014/main" id="{EC895FD6-91E0-4DF6-896D-46E9E12C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813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예외 · 지원 범위</a:t>
            </a:r>
          </a:p>
        </p:txBody>
      </p:sp>
      <p:sp>
        <p:nvSpPr>
          <p:cNvPr id="59" name="feature-6-body">
            <a:extLst xmlns:a="http://schemas.openxmlformats.org/drawingml/2006/main">
              <a:ext uri="{FF2B5EF4-FFF2-40B4-BE49-F238E27FC236}">
                <a16:creationId xmlns:a16="http://schemas.microsoft.com/office/drawing/2014/main" id="{E6D3C28B-561E-44EB-89EB-17C4B707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0897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오류는 폼 위에 표시합니다. 소셜 로그인·비밀번호 재설정은 미지원이며, 우측 공고는 가상 예시입니다.</a:t>
            </a:r>
          </a:p>
        </p:txBody>
      </p:sp>
    </p:spTree>
    <p:extLst>
      <p:ext uri="{BB962C8B-B14F-4D97-AF65-F5344CB8AC3E}">
        <p14:creationId xmlns:p14="http://schemas.microsoft.com/office/powerpoint/2010/main" val="4331131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3B7A5664-263E-45E8-B6E6-F1170618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417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회원가입 · 이메일 인증 대기</a:t>
            </a:r>
          </a:p>
        </p:txBody>
      </p:sp>
      <p:sp>
        <p:nvSpPr>
          <p:cNvPr id="2" name="screen-route">
            <a:extLst xmlns:a="http://schemas.openxmlformats.org/drawingml/2006/main">
              <a:ext uri="{FF2B5EF4-FFF2-40B4-BE49-F238E27FC236}">
                <a16:creationId xmlns:a16="http://schemas.microsoft.com/office/drawing/2014/main" id="{C7D71489-540B-4778-8F1E-16900617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975"/>
            <a:ext cx="1417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#/signup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EC440E-22FA-4A4E-A908-E5F7625C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417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6AFFF7A3-EAAE-4912-8B38-CAE48D92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92202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" name="features-heading">
            <a:extLst xmlns:a="http://schemas.openxmlformats.org/drawingml/2006/main">
              <a:ext uri="{FF2B5EF4-FFF2-40B4-BE49-F238E27FC236}">
                <a16:creationId xmlns:a16="http://schemas.microsoft.com/office/drawing/2014/main" id="{BBA4E141-4CAC-43D6-BBD4-A78EB535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621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기능 설명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ADFE58-134C-4D13-8C27-F817FA44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71675"/>
            <a:ext cx="461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reen-id">
            <a:extLst xmlns:a="http://schemas.openxmlformats.org/drawingml/2006/main">
              <a:ext uri="{FF2B5EF4-FFF2-40B4-BE49-F238E27FC236}">
                <a16:creationId xmlns:a16="http://schemas.microsoft.com/office/drawing/2014/main" id="{6C9D381F-FEA4-4AEB-8A50-F37886F3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t>CareerLens 프로젝트 2 · 2026.10.13 개정 2 · 현재 구현 화면 구성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2FB6B29-7B3B-4DB9-8156-D1E008D2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581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03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6E6A45-B5A8-43F7-9821-55AAF2ED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228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CareerLens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515671-9A2D-4428-A0C9-B59F41C9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이력서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CC77EF-3C31-4045-ABAD-F667688A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채용공고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F3B729-ACBD-40DF-996C-EC4D902B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모의 지원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506F3F-FF80-4A3E-B611-E98CC866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14600"/>
            <a:ext cx="4543425" cy="488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087EDF-101F-4AB6-A323-840D14CE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14600"/>
            <a:ext cx="3752850" cy="488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4753D2-DB53-4EDE-8D0E-B6B94AFB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7622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나만의 워크스페이스 만들기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C6E7B8-1FB4-4218-8657-3EB73ADE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051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963BED-C4BA-422F-AB78-C9DC71D7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24225"/>
            <a:ext cx="3533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55E2F8-FC08-4BC6-97D8-0BA01A30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19500"/>
            <a:ext cx="4010025" cy="400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이름을 입력해 주세요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D74D81-39C1-43FA-B483-FA06AF21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81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91BBAC-D178-41C0-B0FE-422C39AF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00525"/>
            <a:ext cx="3533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이메일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250F08-25A4-4DF1-8682-2DD109E1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95800"/>
            <a:ext cx="4010025" cy="400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name@example.com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01AB3F-7819-4117-B1E8-D60D24CA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577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B7BD8F-AE25-4C91-9668-A5831DF6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76825"/>
            <a:ext cx="3533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비밀번호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787094-9D14-4D1E-B38D-003C1173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372100"/>
            <a:ext cx="3057525" cy="400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••••••••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477419-B14B-494C-9B89-A94601E7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372100"/>
            <a:ext cx="8953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표시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6CEC3E-B081-4987-A2FC-511F5829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838825"/>
            <a:ext cx="3781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8자 이상, 128자 이하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349F1C-04ED-4BB6-AB64-5F86C66A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181725"/>
            <a:ext cx="4010025" cy="42862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285DA8"/>
          </a:solidFill>
          <a:ln xmlns:a="http://schemas.openxmlformats.org/drawingml/2006/main" w="9525">
            <a:solidFill>
              <a:srgbClr val="285DA8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회원가입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CE30CD-2887-42BC-8C03-1BDBBA6E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2769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BCDA07-B48D-4937-AC19-8E259F0A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896100"/>
            <a:ext cx="3819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이미 계정이 있으신가요?  로그인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2C3682-830C-4BD9-A7FE-3C328599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865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0C0BF5-EFB8-4246-851A-13328ACC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813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260614-F4AB-43C7-A82B-122819EF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00350"/>
            <a:ext cx="2867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인증 메일 확인 대기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710F1C-EEB0-4861-B27E-9D4BD624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38525"/>
            <a:ext cx="3162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이메일 인증을 기다리고 있습니다.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A472BA-93D5-4143-BB61-F86656A3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162425"/>
            <a:ext cx="316230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가장 최근 인증 메일의 링크를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한 번만 열어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인증 후 이 창에서 로그인하면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첨부한 이력서를 이어서 사용합니다.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DAE3EC-E71A-4377-8001-2DA418E7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915025"/>
            <a:ext cx="3162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메일이 없거나 링크가 만료되면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서비스 담당자에게 재요청하세요.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4DD149-E11C-4AE0-89FB-01E538EF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6724650"/>
            <a:ext cx="316230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85DA8"/>
          </a:solidFill>
          <a:ln xmlns:a="http://schemas.openxmlformats.org/drawingml/2006/main" w="9525">
            <a:solidFill>
              <a:srgbClr val="285DA8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이메일로 로그인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6EEB76-9AFD-4F62-8720-07BECD6C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8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214C761D-F48E-475E-9A46-B7B7A0F2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14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이름</a:t>
            </a:r>
          </a:p>
        </p:txBody>
      </p:sp>
      <p:sp>
        <p:nvSpPr>
          <p:cNvPr id="39" name="feature-1-body">
            <a:extLst xmlns:a="http://schemas.openxmlformats.org/drawingml/2006/main">
              <a:ext uri="{FF2B5EF4-FFF2-40B4-BE49-F238E27FC236}">
                <a16:creationId xmlns:a16="http://schemas.microsoft.com/office/drawing/2014/main" id="{B2AB2FB3-6BD6-48E5-A23D-2A1C8578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907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필수 입력, 최대 80자입니다.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BDD58C-EA38-4B1C-95D8-95013C19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067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F95A7D-4DFC-4B5A-954B-C3B4D640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63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42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D83AF999-DD69-4767-93A8-E70DF65F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543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이메일</a:t>
            </a:r>
          </a:p>
        </p:txBody>
      </p:sp>
      <p:sp>
        <p:nvSpPr>
          <p:cNvPr id="43" name="feature-2-body">
            <a:extLst xmlns:a="http://schemas.openxmlformats.org/drawingml/2006/main">
              <a:ext uri="{FF2B5EF4-FFF2-40B4-BE49-F238E27FC236}">
                <a16:creationId xmlns:a16="http://schemas.microsoft.com/office/drawing/2014/main" id="{4788E7A6-C189-4950-9339-46CF75C8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3305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필수 입력, 이메일 형식과 최대 254자를 검증합니다.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A9261A2-EAAC-4FCD-84B4-A1A1B679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9465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4375B86-EA5B-4566-841A-EA773B38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03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6" name="feature-3-title">
            <a:extLst xmlns:a="http://schemas.openxmlformats.org/drawingml/2006/main">
              <a:ext uri="{FF2B5EF4-FFF2-40B4-BE49-F238E27FC236}">
                <a16:creationId xmlns:a16="http://schemas.microsoft.com/office/drawing/2014/main" id="{AC9ED1F3-26C3-4E91-921F-53A71CE3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9941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비밀번호</a:t>
            </a:r>
          </a:p>
        </p:txBody>
      </p:sp>
      <p:sp>
        <p:nvSpPr>
          <p:cNvPr id="47" name="feature-3-body">
            <a:extLst xmlns:a="http://schemas.openxmlformats.org/drawingml/2006/main">
              <a:ext uri="{FF2B5EF4-FFF2-40B4-BE49-F238E27FC236}">
                <a16:creationId xmlns:a16="http://schemas.microsoft.com/office/drawing/2014/main" id="{5FEF21EB-D908-4408-B348-763C554F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703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8~128자로 입력합니다. 표시/숨김 버튼으로 내용을 확인할 수 있습니다.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1C9A31B-4CAD-4343-BC80-10F37E69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863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DA2A24D-935C-445D-BAAE-79370589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43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50" name="feature-4-title">
            <a:extLst xmlns:a="http://schemas.openxmlformats.org/drawingml/2006/main">
              <a:ext uri="{FF2B5EF4-FFF2-40B4-BE49-F238E27FC236}">
                <a16:creationId xmlns:a16="http://schemas.microsoft.com/office/drawing/2014/main" id="{561F8B70-00F0-438C-B639-34EE7C7F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9339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회원가입 제출</a:t>
            </a:r>
          </a:p>
        </p:txBody>
      </p:sp>
      <p:sp>
        <p:nvSpPr>
          <p:cNvPr id="51" name="feature-4-body">
            <a:extLst xmlns:a="http://schemas.openxmlformats.org/drawingml/2006/main">
              <a:ext uri="{FF2B5EF4-FFF2-40B4-BE49-F238E27FC236}">
                <a16:creationId xmlns:a16="http://schemas.microsoft.com/office/drawing/2014/main" id="{61DF61C1-7D9A-4437-9D19-447B9FF0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101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검증 후 가입을 요청하고 중복 제출을 막습니다. 인증된 세션이면 준비하던 작업을 이어갑니다.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93E1E2C-FDB2-4FE3-A7EB-7C9D34C0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8261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A3E8B69-FE76-47B7-9BC2-2A0EB443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8832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54" name="feature-5-title">
            <a:extLst xmlns:a="http://schemas.openxmlformats.org/drawingml/2006/main">
              <a:ext uri="{FF2B5EF4-FFF2-40B4-BE49-F238E27FC236}">
                <a16:creationId xmlns:a16="http://schemas.microsoft.com/office/drawing/2014/main" id="{48F17FFE-07CF-421E-A223-1B5667A0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8737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인증 대기 상태</a:t>
            </a:r>
          </a:p>
        </p:txBody>
      </p:sp>
      <p:sp>
        <p:nvSpPr>
          <p:cNvPr id="55" name="feature-5-body">
            <a:extLst xmlns:a="http://schemas.openxmlformats.org/drawingml/2006/main">
              <a:ext uri="{FF2B5EF4-FFF2-40B4-BE49-F238E27FC236}">
                <a16:creationId xmlns:a16="http://schemas.microsoft.com/office/drawing/2014/main" id="{E610C35C-F5DD-49BB-A824-90FE3C4D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1499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최신 메일 확인 안내와 로그인 버튼을 표시합니다. 미수신·만료 시 담당자에게 재요청합니다.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5BD32B6-0951-496D-9BD5-97B58F74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7659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A92D929-E9EF-42BF-BF0D-D0202970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823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58" name="feature-6-title">
            <a:extLst xmlns:a="http://schemas.openxmlformats.org/drawingml/2006/main">
              <a:ext uri="{FF2B5EF4-FFF2-40B4-BE49-F238E27FC236}">
                <a16:creationId xmlns:a16="http://schemas.microsoft.com/office/drawing/2014/main" id="{E3089A3C-A2CF-4AA0-8C37-B7FE59F4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813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로그인 · 오류</a:t>
            </a:r>
          </a:p>
        </p:txBody>
      </p:sp>
      <p:sp>
        <p:nvSpPr>
          <p:cNvPr id="59" name="feature-6-body">
            <a:extLst xmlns:a="http://schemas.openxmlformats.org/drawingml/2006/main">
              <a:ext uri="{FF2B5EF4-FFF2-40B4-BE49-F238E27FC236}">
                <a16:creationId xmlns:a16="http://schemas.microsoft.com/office/drawing/2014/main" id="{42C04861-AE1F-4B48-8DE2-10592FAA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0897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기존 계정은 로그인으로 전환합니다. 오류는 폼 위에 표시하고 이미 인증한 계정의 로그인을 안내합니다.</a:t>
            </a:r>
          </a:p>
        </p:txBody>
      </p:sp>
    </p:spTree>
    <p:extLst>
      <p:ext uri="{BB962C8B-B14F-4D97-AF65-F5344CB8AC3E}">
        <p14:creationId xmlns:p14="http://schemas.microsoft.com/office/powerpoint/2010/main" val="19893933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8E02600C-56F9-48C2-96A6-99CB9BB0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417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비회원 이력서 첨부</a:t>
            </a:r>
          </a:p>
        </p:txBody>
      </p:sp>
      <p:sp>
        <p:nvSpPr>
          <p:cNvPr id="2" name="screen-route">
            <a:extLst xmlns:a="http://schemas.openxmlformats.org/drawingml/2006/main">
              <a:ext uri="{FF2B5EF4-FFF2-40B4-BE49-F238E27FC236}">
                <a16:creationId xmlns:a16="http://schemas.microsoft.com/office/drawing/2014/main" id="{99C4BE4B-66AE-40AB-B731-4504B6B7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975"/>
            <a:ext cx="1417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#/resume · 비로그인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338064-844C-4A85-AA60-10F59811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417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CCC4D7C2-0046-4415-837D-89F5B31D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92202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" name="features-heading">
            <a:extLst xmlns:a="http://schemas.openxmlformats.org/drawingml/2006/main">
              <a:ext uri="{FF2B5EF4-FFF2-40B4-BE49-F238E27FC236}">
                <a16:creationId xmlns:a16="http://schemas.microsoft.com/office/drawing/2014/main" id="{1D0CE609-C697-4E73-BE23-F364C7B5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621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기능 설명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0037C3-8A57-4C99-A3A3-603E1446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71675"/>
            <a:ext cx="461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reen-id">
            <a:extLst xmlns:a="http://schemas.openxmlformats.org/drawingml/2006/main">
              <a:ext uri="{FF2B5EF4-FFF2-40B4-BE49-F238E27FC236}">
                <a16:creationId xmlns:a16="http://schemas.microsoft.com/office/drawing/2014/main" id="{9235CCC1-158A-4A4D-B4CE-15867612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t>CareerLens 프로젝트 2 · 2026.10.13 개정 2 · 현재 구현 화면 구성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8D8E7E5-5C6D-4244-9556-8A50BA18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581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04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E8F96A-A94D-4FBC-937C-ECB5CF10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228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CareerLens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2711A2-2D20-4FC3-99CB-61BDBC07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이력서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FB63DC-1298-4065-8589-E317D747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채용공고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8D7E24-C2A7-4E79-8E9D-B8D7318B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모의 지원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E40A4D-A083-4CF2-B892-96758978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819275"/>
            <a:ext cx="962025" cy="371475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로그인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7459DE-F33A-4736-AE2D-B00D7575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76475"/>
            <a:ext cx="864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C8269F-353E-447E-8937-3829BC4C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381250"/>
            <a:ext cx="2047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1  이력서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652225-0675-43A2-B427-88DB82B4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381250"/>
            <a:ext cx="2333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2  채용공고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D43B2B-91A4-407C-A955-5F8EA64D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81250"/>
            <a:ext cx="2333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3  모의 지원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DAA75D-BFC3-48B6-98FC-2D24904B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지원의 시작은, 내 이력서부터.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722F9C-1E5D-4B0D-829F-239EF0CF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9925"/>
            <a:ext cx="817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이력서를 첨부하고, 나에게 맞는 채용공고로 모의지원을 시작하세요.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E0F921-BFF7-47B5-861F-5C44C53C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67125"/>
            <a:ext cx="5610225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E0D375-2520-488C-9CD1-C5426A60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67125"/>
            <a:ext cx="2752725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0AA1CC-E1ED-40A4-84D7-DA99B553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5BB3C4-F6DD-447E-8C9B-5A98E3C3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57625"/>
            <a:ext cx="4705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이력서 첨부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DD39BF-CDE2-4075-B1FA-2E3A7AE4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305300"/>
            <a:ext cx="5095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Markdown(.md) · UTF-8 텍스트 · 최대 10MB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A3F442-172D-44B0-A065-5A601315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695825"/>
            <a:ext cx="5095875" cy="447675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파일 선택     선택한 파일이 없습니다.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9FBD45-35B7-40E7-8456-9638E2C7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38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F22C3E-EBA1-4914-B84D-63D81716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67325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선택한 파일명 / 첨부 완료 상태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E9DA4C-1E90-4671-9FB1-C589B48E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7626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87F10B-AD3D-49B8-9CFE-BFB35637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7215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로그인 전에 분석하고, 인증 후 결과를 확인하세요.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A7907-1A92-421A-BF12-C7E9FD4F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305550"/>
            <a:ext cx="457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현재 탭에 첨부 후 30분 임시 보관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E87590-653E-4BD2-BA5C-43A781F2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848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0483EE-7333-4F2F-AA35-400F5516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862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어떤 일을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하고 싶으신가요?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4BCE0F-0BB4-4695-A143-85599207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791075"/>
            <a:ext cx="23050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희망 직무 공고를 비교하고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같은 이력서로 공고별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모의지원 보고서를 만듭니다.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65BF1B-C3DE-4173-A13D-F7D89DE4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6115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D9BB48-0D22-474F-BF58-433136D7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143625"/>
            <a:ext cx="2105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형식·크기·본문 오류 안내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0E6DF7-EFFD-46F8-BE55-19D365C6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7058025"/>
            <a:ext cx="3028950" cy="466725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285DA8"/>
          </a:solidFill>
          <a:ln xmlns:a="http://schemas.openxmlformats.org/drawingml/2006/main" w="9525">
            <a:solidFill>
              <a:srgbClr val="285DA8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첨부한 이력서로 계속 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12F95D-2A9C-427B-B80C-CA1905A4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71532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8A52A6-A498-4368-BFD8-D0D0C7EE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9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D0E702D5-45E3-4631-A6A5-5051C7DD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14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이력서 파일</a:t>
            </a:r>
          </a:p>
        </p:txBody>
      </p:sp>
      <p:sp>
        <p:nvSpPr>
          <p:cNvPr id="40" name="feature-1-body">
            <a:extLst xmlns:a="http://schemas.openxmlformats.org/drawingml/2006/main">
              <a:ext uri="{FF2B5EF4-FFF2-40B4-BE49-F238E27FC236}">
                <a16:creationId xmlns:a16="http://schemas.microsoft.com/office/drawing/2014/main" id="{08AEF443-D215-4230-B70C-BB3EFF95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907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UTF-8 Markdown(.md), 10MB 이하만 첨부합니다. 경력·프로젝트·기술·학력을 텍스트로 작성합니다.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7ADC45-5BED-4354-A1F1-4A4E4FD8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067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2DF591-B336-4561-BBE3-5910CE2A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63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43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D132DF16-F396-4338-90C4-B4669BC0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543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첨부 상태</a:t>
            </a:r>
          </a:p>
        </p:txBody>
      </p:sp>
      <p:sp>
        <p:nvSpPr>
          <p:cNvPr id="44" name="feature-2-body">
            <a:extLst xmlns:a="http://schemas.openxmlformats.org/drawingml/2006/main">
              <a:ext uri="{FF2B5EF4-FFF2-40B4-BE49-F238E27FC236}">
                <a16:creationId xmlns:a16="http://schemas.microsoft.com/office/drawing/2014/main" id="{78A0D463-632C-4FC2-9B99-2099DC28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3305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미선택·선택 파일명·첨부 완료를 표시합니다. 파일 형식·크기 오류는 선택 시 안내합니다.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B10E1F3-8B99-4BEF-8D82-DE83C143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9465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2622483-1A16-498D-B453-C89440D7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03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7" name="feature-3-title">
            <a:extLst xmlns:a="http://schemas.openxmlformats.org/drawingml/2006/main">
              <a:ext uri="{FF2B5EF4-FFF2-40B4-BE49-F238E27FC236}">
                <a16:creationId xmlns:a16="http://schemas.microsoft.com/office/drawing/2014/main" id="{983F952D-5F3B-45A1-896A-A9BD8672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9941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임시 자료 안내</a:t>
            </a:r>
          </a:p>
        </p:txBody>
      </p:sp>
      <p:sp>
        <p:nvSpPr>
          <p:cNvPr id="48" name="feature-3-body">
            <a:extLst xmlns:a="http://schemas.openxmlformats.org/drawingml/2006/main">
              <a:ext uri="{FF2B5EF4-FFF2-40B4-BE49-F238E27FC236}">
                <a16:creationId xmlns:a16="http://schemas.microsoft.com/office/drawing/2014/main" id="{C4509A92-4930-40D5-B230-876E4820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703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첫 첨부부터 30분 임시 보관한다. 서버에서 실제 분석을 마치고 인증 후 저장된 결과를 연다.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1D797CF-66BD-4941-82F2-1EBFAFC4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863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BE33ABA-8304-4939-948F-A66B2628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43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51" name="feature-4-title">
            <a:extLst xmlns:a="http://schemas.openxmlformats.org/drawingml/2006/main">
              <a:ext uri="{FF2B5EF4-FFF2-40B4-BE49-F238E27FC236}">
                <a16:creationId xmlns:a16="http://schemas.microsoft.com/office/drawing/2014/main" id="{1E1C11D2-6213-4715-B36D-E5BE080C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9339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다음 단계</a:t>
            </a:r>
          </a:p>
        </p:txBody>
      </p:sp>
      <p:sp>
        <p:nvSpPr>
          <p:cNvPr id="52" name="feature-4-body">
            <a:extLst xmlns:a="http://schemas.openxmlformats.org/drawingml/2006/main">
              <a:ext uri="{FF2B5EF4-FFF2-40B4-BE49-F238E27FC236}">
                <a16:creationId xmlns:a16="http://schemas.microsoft.com/office/drawing/2014/main" id="{24061D72-5DAD-4130-BEDC-949FDD99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101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검증·첨부 후 희망 직무로 이동합니다. 선택 공고가 있으면 이어가고 제출 중 중복 실행을 막습니다.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1E80BD2-E8D2-47F3-80D1-3EB920A5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8261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BA5765F-6D74-49EF-8A8A-C86FE0A4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8832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55" name="feature-5-title">
            <a:extLst xmlns:a="http://schemas.openxmlformats.org/drawingml/2006/main">
              <a:ext uri="{FF2B5EF4-FFF2-40B4-BE49-F238E27FC236}">
                <a16:creationId xmlns:a16="http://schemas.microsoft.com/office/drawing/2014/main" id="{5A5F615C-A21E-4E03-9BC3-17B459A7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8737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사용 안내</a:t>
            </a:r>
          </a:p>
        </p:txBody>
      </p:sp>
      <p:sp>
        <p:nvSpPr>
          <p:cNvPr id="56" name="feature-5-body">
            <a:extLst xmlns:a="http://schemas.openxmlformats.org/drawingml/2006/main">
              <a:ext uri="{FF2B5EF4-FFF2-40B4-BE49-F238E27FC236}">
                <a16:creationId xmlns:a16="http://schemas.microsoft.com/office/drawing/2014/main" id="{B0DB3BB9-888A-4994-96C5-BC07B49D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1499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직무별 공고 비교와 공고별 보고서를 안내합니다. 비회원은 본문 편집·가상 이력서 패널이 없습니다.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052BBE0-7D0C-4BDA-B5DA-5D84EF7B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7659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6352130-F9D8-4B14-83EB-95442302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823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59" name="feature-6-title">
            <a:extLst xmlns:a="http://schemas.openxmlformats.org/drawingml/2006/main">
              <a:ext uri="{FF2B5EF4-FFF2-40B4-BE49-F238E27FC236}">
                <a16:creationId xmlns:a16="http://schemas.microsoft.com/office/drawing/2014/main" id="{77E83D00-7EEB-4832-8689-7A4371C7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813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입력 검증</a:t>
            </a:r>
          </a:p>
        </p:txBody>
      </p:sp>
      <p:sp>
        <p:nvSpPr>
          <p:cNvPr id="60" name="feature-6-body">
            <a:extLst xmlns:a="http://schemas.openxmlformats.org/drawingml/2006/main">
              <a:ext uri="{FF2B5EF4-FFF2-40B4-BE49-F238E27FC236}">
                <a16:creationId xmlns:a16="http://schemas.microsoft.com/office/drawing/2014/main" id="{79FE877F-4827-42E9-8101-6D49325E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0897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미선택·빈 본문·용량·UTF-8·확장자만 변경·읽기 오류를 안내하고 올바른 파일 재선택을 요청합니다.</a:t>
            </a:r>
          </a:p>
        </p:txBody>
      </p:sp>
    </p:spTree>
    <p:extLst>
      <p:ext uri="{BB962C8B-B14F-4D97-AF65-F5344CB8AC3E}">
        <p14:creationId xmlns:p14="http://schemas.microsoft.com/office/powerpoint/2010/main" val="13880423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229E4738-12BB-4166-9C8E-3C9E674E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417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회원 이력서 편집</a:t>
            </a:r>
          </a:p>
        </p:txBody>
      </p:sp>
      <p:sp>
        <p:nvSpPr>
          <p:cNvPr id="2" name="screen-route">
            <a:extLst xmlns:a="http://schemas.openxmlformats.org/drawingml/2006/main">
              <a:ext uri="{FF2B5EF4-FFF2-40B4-BE49-F238E27FC236}">
                <a16:creationId xmlns:a16="http://schemas.microsoft.com/office/drawing/2014/main" id="{CDE44094-F1FC-4340-9F31-2BB87388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975"/>
            <a:ext cx="1417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#/resume · 로그인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3D98A6-257F-496E-AD88-9D0C35BE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417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8C524C95-CA6B-44B6-BED2-5FF7F2E6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92202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" name="features-heading">
            <a:extLst xmlns:a="http://schemas.openxmlformats.org/drawingml/2006/main">
              <a:ext uri="{FF2B5EF4-FFF2-40B4-BE49-F238E27FC236}">
                <a16:creationId xmlns:a16="http://schemas.microsoft.com/office/drawing/2014/main" id="{26255D68-384B-428A-9562-A25BB4EA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621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기능 설명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912DAA-14FC-43BB-A0D0-26F8C38C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71675"/>
            <a:ext cx="461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reen-id">
            <a:extLst xmlns:a="http://schemas.openxmlformats.org/drawingml/2006/main">
              <a:ext uri="{FF2B5EF4-FFF2-40B4-BE49-F238E27FC236}">
                <a16:creationId xmlns:a16="http://schemas.microsoft.com/office/drawing/2014/main" id="{AD3D3013-BEDE-48A6-85E6-590A8D65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t>CareerLens 프로젝트 2 · 2026.10.13 개정 2 · 현재 구현 화면 구성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FF23D30-99C2-44F5-B514-C3306B75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581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05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E68673-D60B-4EEF-9EA9-EA79887A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228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CareerLens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B34951-CA7D-4DB8-8808-CC4FF909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이력서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3D49ED-205C-44F3-955A-1B172944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채용공고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6D01C7-F2FD-432D-9D91-8183974B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모의 지원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8D0BF4-2BEA-4C7D-8977-D6A9A000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19275"/>
            <a:ext cx="2076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회원 님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마이페이지 · 로그아웃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808A5A-051F-4CF7-9613-63FE07A3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76475"/>
            <a:ext cx="864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B1A92C-D2CD-4A68-ADB2-9FFA43C3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381250"/>
            <a:ext cx="2047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1  이력서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4921EC-CEF5-4E0B-9225-A0D0C677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381250"/>
            <a:ext cx="2333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2  채용공고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A1DF0D-B6C1-49D3-971A-5E147B74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81250"/>
            <a:ext cx="2333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3  모의 지원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AF8CEA-4CFD-4A86-97EE-E36793B8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지원의 시작은, 내 이력서부터.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7D4431-5FCA-4D00-AA7D-DA19E851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85534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49F242-23D7-4636-9EF0-AF595948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3909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08524F-1944-456A-8C3A-A70631DF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09950"/>
            <a:ext cx="7658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가상 이력서로 체험하기  ▾     직무별 검색 · 무작위 선택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B1B651-FF32-41AA-93FF-02315225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76675"/>
            <a:ext cx="5657850" cy="2962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EE9132-2F4B-4508-ABBB-E59C8F70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876675"/>
            <a:ext cx="2695575" cy="2962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A0E387-AF4A-45F3-BF53-7EFB87BE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00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26D7A7-5915-4D40-911C-9A26097F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38600"/>
            <a:ext cx="4867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이력서 파일 불러오기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7A3883-CE6E-42B8-871F-F793EBF4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400550"/>
            <a:ext cx="31527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.md / UTF-8 / 최대 10MB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5868B7-9672-450B-9635-EE247DC0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714875"/>
            <a:ext cx="3219450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파일 선택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66F8F2-0096-45AE-A7A4-6F522F57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714875"/>
            <a:ext cx="1819275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파일 불러오기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42D8DB-9EA2-4C8B-B4D8-23A3A8ED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76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81D286-3962-426C-A233-E982688C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95900"/>
            <a:ext cx="4695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이력서 본문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E53D3C-189C-42D6-84E2-F436FC43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629275"/>
            <a:ext cx="5133975" cy="71437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경력 · 프로젝트 · 기술 · 학력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직접 입력하거나 붙여넣으세요.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F7ED02-0F57-4801-8CC6-EA0A57E1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4579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최소 40자                        입력 글자 수 / 50,000자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73E1AB-A08C-4B83-9B9F-5DB1CA57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019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A6C39C-95F0-44E3-8835-5C3099E0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048125"/>
            <a:ext cx="2038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모의지원까지,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세 단계로 준비해요.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684015-5D35-4B08-9E27-A23842F7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895850"/>
            <a:ext cx="224790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1  이력서 입력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2  채용공고 선택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3  모의지원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입력은 팀 API로 전송됩니다.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17D708-0D47-4648-8601-C1B11F95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924175"/>
            <a:ext cx="2028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예시로 체험하기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2C170E-B00D-45B2-9EB4-FABBF1FB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95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64E32C-9BC5-4D7F-9B8B-CF0075AD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172325"/>
            <a:ext cx="3343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입력 내용과 결과 삭제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40D9A6-A8F4-460E-A78F-BE47779A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1532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434FCB0-589D-45BF-9887-7015F594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7058025"/>
            <a:ext cx="2638425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85DA8"/>
          </a:solidFill>
          <a:ln xmlns:a="http://schemas.openxmlformats.org/drawingml/2006/main" w="9525">
            <a:solidFill>
              <a:srgbClr val="285DA8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채용공고로 계속 →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2A4EDE3-8EDC-41DA-A41A-C39CDE0E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71532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F96213-A49E-4627-AB4A-3E2BAD79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3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C75DD1E2-BA39-4362-AB98-A5ED9405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14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파일 불러오기</a:t>
            </a:r>
          </a:p>
        </p:txBody>
      </p:sp>
      <p:sp>
        <p:nvSpPr>
          <p:cNvPr id="44" name="feature-1-body">
            <a:extLst xmlns:a="http://schemas.openxmlformats.org/drawingml/2006/main">
              <a:ext uri="{FF2B5EF4-FFF2-40B4-BE49-F238E27FC236}">
                <a16:creationId xmlns:a16="http://schemas.microsoft.com/office/drawing/2014/main" id="{857A3D4C-4F47-4880-A642-F5333A0A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90775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.md·UTF-8·10MB 검증 후 본문에 불러옵니다. 버튼 실행 후 완료·오류를 안내합니다.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7B78BC8-BCF8-480C-B53E-A92E2B17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72468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CA38C2C-EF82-464B-959A-EE5D742C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29618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47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0C8E6A93-EA7E-4738-8F4B-3495B7AB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20093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본문 편집</a:t>
            </a:r>
          </a:p>
        </p:txBody>
      </p:sp>
      <p:sp>
        <p:nvSpPr>
          <p:cNvPr id="48" name="feature-2-body">
            <a:extLst xmlns:a="http://schemas.openxmlformats.org/drawingml/2006/main">
              <a:ext uri="{FF2B5EF4-FFF2-40B4-BE49-F238E27FC236}">
                <a16:creationId xmlns:a16="http://schemas.microsoft.com/office/drawing/2014/main" id="{98BC7DF2-E19B-4458-ABA1-791CE64C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196318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직접 입력·붙여넣기를 지원합니다. 필수 40~50,000자이며 파일명과 글자 수를 표시합니다.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95CBDC0-939F-4C4B-ACE7-ED452DA1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78011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9F68C6D-B0C8-4A6A-89A8-1596FAB2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35161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51" name="feature-3-title">
            <a:extLst xmlns:a="http://schemas.openxmlformats.org/drawingml/2006/main">
              <a:ext uri="{FF2B5EF4-FFF2-40B4-BE49-F238E27FC236}">
                <a16:creationId xmlns:a16="http://schemas.microsoft.com/office/drawing/2014/main" id="{DDBCB127-264C-4577-ADA2-984DC232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725636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저장 후 계속</a:t>
            </a:r>
          </a:p>
        </p:txBody>
      </p:sp>
      <p:sp>
        <p:nvSpPr>
          <p:cNvPr id="52" name="feature-3-body">
            <a:extLst xmlns:a="http://schemas.openxmlformats.org/drawingml/2006/main">
              <a:ext uri="{FF2B5EF4-FFF2-40B4-BE49-F238E27FC236}">
                <a16:creationId xmlns:a16="http://schemas.microsoft.com/office/drawing/2014/main" id="{D7C11111-05AB-4FC9-8874-7A0B19C8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001861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저장 후 직무 선택 또는 기존 선택 공고로 이어갑니다. 저장 중 중복 제출을 막습니다.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9E36F63-1CF8-44D8-A47F-6149DFEC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483554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2B360D7-51B2-4A74-AC99-003BBF52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40704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55" name="feature-4-title">
            <a:extLst xmlns:a="http://schemas.openxmlformats.org/drawingml/2006/main">
              <a:ext uri="{FF2B5EF4-FFF2-40B4-BE49-F238E27FC236}">
                <a16:creationId xmlns:a16="http://schemas.microsoft.com/office/drawing/2014/main" id="{9E230BB0-8BF3-43BC-A1AE-36A40B74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531179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가상 이력서 패널</a:t>
            </a:r>
          </a:p>
        </p:txBody>
      </p:sp>
      <p:sp>
        <p:nvSpPr>
          <p:cNvPr id="56" name="feature-4-body">
            <a:extLst xmlns:a="http://schemas.openxmlformats.org/drawingml/2006/main">
              <a:ext uri="{FF2B5EF4-FFF2-40B4-BE49-F238E27FC236}">
                <a16:creationId xmlns:a16="http://schemas.microsoft.com/office/drawing/2014/main" id="{307C9930-6317-46B3-92AE-F9C44CAD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07404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검색·무작위·개별 선택으로 가상 이력서를 불러옵니다. 선택 자료는 계정에 저장됩니다.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CDA2702-D823-42D1-B9C6-EAB44E81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89096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69F834E-7550-4D5B-8B50-23AB76E0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346246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59" name="feature-5-title">
            <a:extLst xmlns:a="http://schemas.openxmlformats.org/drawingml/2006/main">
              <a:ext uri="{FF2B5EF4-FFF2-40B4-BE49-F238E27FC236}">
                <a16:creationId xmlns:a16="http://schemas.microsoft.com/office/drawing/2014/main" id="{7AD7005C-7A1A-45D1-A9BB-FB9DCEEA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336721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간단 예시 체험</a:t>
            </a:r>
          </a:p>
        </p:txBody>
      </p:sp>
      <p:sp>
        <p:nvSpPr>
          <p:cNvPr id="60" name="feature-5-body">
            <a:extLst xmlns:a="http://schemas.openxmlformats.org/drawingml/2006/main">
              <a:ext uri="{FF2B5EF4-FFF2-40B4-BE49-F238E27FC236}">
                <a16:creationId xmlns:a16="http://schemas.microsoft.com/office/drawing/2014/main" id="{D4F07672-C59B-4BCC-B2DA-E91FECD7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612946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저장 본문이 없을 때만 표시합니다. 교체 확인 후 예시를 불러오고 직무로 이동합니다.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C299E2D-2B16-41F3-8FED-127A2AA3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094639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D028958-29C1-4925-A515-954D8C0F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151789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63" name="feature-6-title">
            <a:extLst xmlns:a="http://schemas.openxmlformats.org/drawingml/2006/main">
              <a:ext uri="{FF2B5EF4-FFF2-40B4-BE49-F238E27FC236}">
                <a16:creationId xmlns:a16="http://schemas.microsoft.com/office/drawing/2014/main" id="{517D031E-2DE3-49BD-BC43-5F0C36A7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142264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입력 삭제</a:t>
            </a:r>
          </a:p>
        </p:txBody>
      </p:sp>
      <p:sp>
        <p:nvSpPr>
          <p:cNvPr id="64" name="feature-6-body">
            <a:extLst xmlns:a="http://schemas.openxmlformats.org/drawingml/2006/main">
              <a:ext uri="{FF2B5EF4-FFF2-40B4-BE49-F238E27FC236}">
                <a16:creationId xmlns:a16="http://schemas.microsoft.com/office/drawing/2014/main" id="{7E0010F6-EE45-4526-98C8-F1E05E3C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418489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본문이 있으면 표시합니다. 확인 후 현재 이력서 삭제와 작업상태 초기화를 요청합니다.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DBB17F3-CB5F-441B-9451-1EC03D07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00182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625E5C0-3302-45B4-AFDD-81535173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957332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67" name="feature-7-title">
            <a:extLst xmlns:a="http://schemas.openxmlformats.org/drawingml/2006/main">
              <a:ext uri="{FF2B5EF4-FFF2-40B4-BE49-F238E27FC236}">
                <a16:creationId xmlns:a16="http://schemas.microsoft.com/office/drawing/2014/main" id="{3569FAA4-F991-4613-ADE5-40EB9FA3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47807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준비 안내</a:t>
            </a:r>
          </a:p>
        </p:txBody>
      </p:sp>
      <p:sp>
        <p:nvSpPr>
          <p:cNvPr id="68" name="feature-7-body">
            <a:extLst xmlns:a="http://schemas.openxmlformats.org/drawingml/2006/main">
              <a:ext uri="{FF2B5EF4-FFF2-40B4-BE49-F238E27FC236}">
                <a16:creationId xmlns:a16="http://schemas.microsoft.com/office/drawing/2014/main" id="{C2E34C35-A8B1-49CC-82DD-60744DD0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224032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세 단계 사용법과 팀 API 전송, 첨부 파일 제한을 안내합니다.</a:t>
            </a:r>
          </a:p>
        </p:txBody>
      </p:sp>
    </p:spTree>
    <p:extLst>
      <p:ext uri="{BB962C8B-B14F-4D97-AF65-F5344CB8AC3E}">
        <p14:creationId xmlns:p14="http://schemas.microsoft.com/office/powerpoint/2010/main" val="9147553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5F09AE1C-8686-4961-8DE2-EF201A5F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417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가상 이력서 검색 · 불러오기</a:t>
            </a:r>
          </a:p>
        </p:txBody>
      </p:sp>
      <p:sp>
        <p:nvSpPr>
          <p:cNvPr id="2" name="screen-route">
            <a:extLst xmlns:a="http://schemas.openxmlformats.org/drawingml/2006/main">
              <a:ext uri="{FF2B5EF4-FFF2-40B4-BE49-F238E27FC236}">
                <a16:creationId xmlns:a16="http://schemas.microsoft.com/office/drawing/2014/main" id="{88A3BAA3-A970-4D83-A5E4-B5D23917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975"/>
            <a:ext cx="1417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#/resume · 가상 이력서 패널 확장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08789F-5FFF-41CB-9C81-4D979ACE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417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9C99EBF3-08F1-48BE-9462-1041541F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92202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" name="features-heading">
            <a:extLst xmlns:a="http://schemas.openxmlformats.org/drawingml/2006/main">
              <a:ext uri="{FF2B5EF4-FFF2-40B4-BE49-F238E27FC236}">
                <a16:creationId xmlns:a16="http://schemas.microsoft.com/office/drawing/2014/main" id="{FC664CF9-8985-415E-8087-25A780E2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621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기능 설명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3D6BFA-55D8-4625-8BAA-8AAAF043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71675"/>
            <a:ext cx="461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reen-id">
            <a:extLst xmlns:a="http://schemas.openxmlformats.org/drawingml/2006/main">
              <a:ext uri="{FF2B5EF4-FFF2-40B4-BE49-F238E27FC236}">
                <a16:creationId xmlns:a16="http://schemas.microsoft.com/office/drawing/2014/main" id="{716B5103-99A2-4752-8CEB-E88067C8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t>CareerLens 프로젝트 2 · 2026.10.13 개정 2 · 현재 구현 화면 구성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5568754-D3E2-41C3-8E79-D351DF55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581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06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AE736B-B2ED-4C9C-8B5A-ADF1F654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228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CareerLens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32C27A-9CD8-46D5-ABED-1B7D83CF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이력서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20902C-09CD-466B-8929-6B787CA6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채용공고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BF2BFA-0774-4F44-9388-9B8EA113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모의 지원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A64560-C960-4EC1-8045-23CF571B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19275"/>
            <a:ext cx="2076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회원 님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마이페이지 · 로그아웃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61A2E6-D675-41B6-8EFE-1F11D41F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76475"/>
            <a:ext cx="864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4512E2-2726-4E31-9012-DE383D10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381250"/>
            <a:ext cx="2047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1  이력서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AD6B15-D901-4088-AA7F-7101CA18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381250"/>
            <a:ext cx="2333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2  채용공고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93E4A7-28F6-4D89-9302-2BF7AD1D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81250"/>
            <a:ext cx="2333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3  모의 지원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B5405D-D30E-4292-B5D8-F6E01AA0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가상 이력서로 체험하기  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9C7C63-B49D-48C6-A10F-0E92E2DB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67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25A05F-B8C3-4A11-9720-D3DC1025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305175"/>
            <a:ext cx="79152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학습용 가상 인물·경력입니다. 선택하면 내 계정의 이력서에 저장됩니다.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9CCDB2-7A78-4C90-91B4-D809319C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385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4C5ACB-A4C4-47FB-93DF-97ADFD0D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790950"/>
            <a:ext cx="4486275" cy="409575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직무·기술·경력 검색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61004C-112D-4DEA-AE8B-E234C913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90950"/>
            <a:ext cx="3105150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무작위 이력서 불러오기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396C49-2107-4F80-85A5-9E84DE9E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876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EB1A34-19C9-4E94-8C90-15636A31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6245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전체 N개 중 N개 · 1 / N페이지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8DFB14-762F-4E30-92C3-554C58CF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781550"/>
            <a:ext cx="2686050" cy="1800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F7DF52-2D0C-44E9-B0BA-5056C87B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62525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가상 이력서 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378E90-97B8-412F-8E25-E7FF85F0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43525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백엔드 개발 · 신입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123065-1AA3-44C4-B21C-01971FC5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24525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Python · SQL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D50197-81AA-47A8-A393-08FFCB8D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124575"/>
            <a:ext cx="2333625" cy="33337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이 이력서 불러오기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63381C-56F0-4326-94A5-A373DD8D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781550"/>
            <a:ext cx="2686050" cy="1800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ED38F8-302C-4600-9079-2AA3EBD6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962525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가상 이력서 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E5835D-6829-4449-B2D3-EB57972A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343525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데이터 분석 · 경력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DB4F45-E52D-4392-99A3-687C4880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724525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데이터 분석 · 시각화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08A71E-C6BC-4676-87A7-DC730F5D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6124575"/>
            <a:ext cx="2333625" cy="33337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이 이력서 불러오기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632C44-5D69-47E2-9D77-98CC5B06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781550"/>
            <a:ext cx="2686050" cy="1800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657FCF-5BB7-4F4D-94F3-E33A9F76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62525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가상 이력서 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8BA054-B492-47F0-896B-BF6FC6BA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343525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서비스 기획 · 신입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63C05B-3248-4F51-BB82-08336754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724525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문제 정의 · 사용자 조사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E6E836-6BFF-45E7-A6B1-8AA211AB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124575"/>
            <a:ext cx="2333625" cy="33337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이 이력서 불러오기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152785-6304-4BAB-A670-C9D9A031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6577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5C2F81-075E-4FDD-8BB3-69E830E8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6991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5C96DC2-3EBB-4AF5-9748-949058C5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6953250"/>
            <a:ext cx="1057275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이전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F25BAFF-2CA5-46B7-84E7-7D0B03FC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6953250"/>
            <a:ext cx="1228725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다음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CEDCCF9-BD6A-4A8F-9DE6-E761EE04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7000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A83A628-11DE-450A-9EF2-7DA610CF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7029450"/>
            <a:ext cx="5019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로딩 / 검색 결과 없음 / 오류 + 다시 시도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0B0B501-788E-4A60-A481-5C4497FD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8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ADE06BAC-BD0A-4BEF-B67A-28A28A48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14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가상 자료 안내</a:t>
            </a:r>
          </a:p>
        </p:txBody>
      </p:sp>
      <p:sp>
        <p:nvSpPr>
          <p:cNvPr id="49" name="feature-1-body">
            <a:extLst xmlns:a="http://schemas.openxmlformats.org/drawingml/2006/main">
              <a:ext uri="{FF2B5EF4-FFF2-40B4-BE49-F238E27FC236}">
                <a16:creationId xmlns:a16="http://schemas.microsoft.com/office/drawing/2014/main" id="{6EA279B3-A9FD-45B0-9CAC-C5DB6F1C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907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가상 인물·경력을 사용한 학습 자료입니다. 불러오면 현재 계정 이력서로 저장된다는 안내를 표시합니다.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50BC63D-38EA-4E2D-9FD7-C5C65266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067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1B25693-0EC5-44F0-9A80-B1A1A4A0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63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52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5B7D9F27-CD7B-42D1-9A89-7B21D014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543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즉시 검색</a:t>
            </a:r>
          </a:p>
        </p:txBody>
      </p:sp>
      <p:sp>
        <p:nvSpPr>
          <p:cNvPr id="53" name="feature-2-body">
            <a:extLst xmlns:a="http://schemas.openxmlformats.org/drawingml/2006/main">
              <a:ext uri="{FF2B5EF4-FFF2-40B4-BE49-F238E27FC236}">
                <a16:creationId xmlns:a16="http://schemas.microsoft.com/office/drawing/2014/main" id="{D59043B7-2E74-46C8-A8DB-1225E34B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3305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직무·기술·경력을 입력하면 목록을 필터링합니다. 여러 검색어를 모두 포함한 항목을 찾습니다.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6AA94D4-61FE-4721-AD4F-E7ED6761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9465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4C00D4B-0FAE-43FA-9B2D-0BD8E494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03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56" name="feature-3-title">
            <a:extLst xmlns:a="http://schemas.openxmlformats.org/drawingml/2006/main">
              <a:ext uri="{FF2B5EF4-FFF2-40B4-BE49-F238E27FC236}">
                <a16:creationId xmlns:a16="http://schemas.microsoft.com/office/drawing/2014/main" id="{6E709580-1C7D-431A-BE1F-78288DF5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9941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무작위 선택</a:t>
            </a:r>
          </a:p>
        </p:txBody>
      </p:sp>
      <p:sp>
        <p:nvSpPr>
          <p:cNvPr id="57" name="feature-3-body">
            <a:extLst xmlns:a="http://schemas.openxmlformats.org/drawingml/2006/main">
              <a:ext uri="{FF2B5EF4-FFF2-40B4-BE49-F238E27FC236}">
                <a16:creationId xmlns:a16="http://schemas.microsoft.com/office/drawing/2014/main" id="{F9769E44-3533-464D-832D-B905B246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703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현재 검색 결과 안에서 이력서 하나를 불러옵니다. 검색 결과가 없으면 비활성화합니다.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5C157AD-A46E-4DF4-8BC2-32DA74CC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863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C3BAF4D-87A7-47AC-88E6-4E90D34E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43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60" name="feature-4-title">
            <a:extLst xmlns:a="http://schemas.openxmlformats.org/drawingml/2006/main">
              <a:ext uri="{FF2B5EF4-FFF2-40B4-BE49-F238E27FC236}">
                <a16:creationId xmlns:a16="http://schemas.microsoft.com/office/drawing/2014/main" id="{5281B3FD-D546-4A5C-B306-E8085033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9339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이력서 선택</a:t>
            </a:r>
          </a:p>
        </p:txBody>
      </p:sp>
      <p:sp>
        <p:nvSpPr>
          <p:cNvPr id="61" name="feature-4-body">
            <a:extLst xmlns:a="http://schemas.openxmlformats.org/drawingml/2006/main">
              <a:ext uri="{FF2B5EF4-FFF2-40B4-BE49-F238E27FC236}">
                <a16:creationId xmlns:a16="http://schemas.microsoft.com/office/drawing/2014/main" id="{07BCF829-470D-4BE4-B9E4-8D6C3917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101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제목·직무·경력·요약·기술을 확인합니다. 기존 내용은 교체 확인 후 저장하고 이전 분석상태를 초기화합니다.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73CB7FD-EC4F-44E3-A5CA-FE869706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8261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EE1E97F-340A-4B2D-9F35-45CC24CA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8832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64" name="feature-5-title">
            <a:extLst xmlns:a="http://schemas.openxmlformats.org/drawingml/2006/main">
              <a:ext uri="{FF2B5EF4-FFF2-40B4-BE49-F238E27FC236}">
                <a16:creationId xmlns:a16="http://schemas.microsoft.com/office/drawing/2014/main" id="{73FCF438-CF9B-4050-BE10-F969FB65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8737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건수 · 페이지</a:t>
            </a:r>
          </a:p>
        </p:txBody>
      </p:sp>
      <p:sp>
        <p:nvSpPr>
          <p:cNvPr id="65" name="feature-5-body">
            <a:extLst xmlns:a="http://schemas.openxmlformats.org/drawingml/2006/main">
              <a:ext uri="{FF2B5EF4-FFF2-40B4-BE49-F238E27FC236}">
                <a16:creationId xmlns:a16="http://schemas.microsoft.com/office/drawing/2014/main" id="{88F6EEE1-A312-4078-9432-3BD74264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1499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전체·검색 건수와 페이지를 표시합니다. 12개씩 이동하며 처음·마지막 이동은 비활성입니다.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40ACA94-8332-4B15-9456-AF9C3E5E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7659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F1A277A-451F-4644-8DA8-8DAC4A7F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823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68" name="feature-6-title">
            <a:extLst xmlns:a="http://schemas.openxmlformats.org/drawingml/2006/main">
              <a:ext uri="{FF2B5EF4-FFF2-40B4-BE49-F238E27FC236}">
                <a16:creationId xmlns:a16="http://schemas.microsoft.com/office/drawing/2014/main" id="{9E479931-3AF3-477C-A2F6-70093572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813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처리 상태</a:t>
            </a:r>
          </a:p>
        </p:txBody>
      </p:sp>
      <p:sp>
        <p:nvSpPr>
          <p:cNvPr id="69" name="feature-6-body">
            <a:extLst xmlns:a="http://schemas.openxmlformats.org/drawingml/2006/main">
              <a:ext uri="{FF2B5EF4-FFF2-40B4-BE49-F238E27FC236}">
                <a16:creationId xmlns:a16="http://schemas.microsoft.com/office/drawing/2014/main" id="{724466AF-E3D0-433B-BF33-1F645C30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0897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로딩·검색 결과 없음·오류와 다시 시도를 표시합니다. 선택 중 버튼을 비활성화합니다.</a:t>
            </a:r>
          </a:p>
        </p:txBody>
      </p:sp>
    </p:spTree>
    <p:extLst>
      <p:ext uri="{BB962C8B-B14F-4D97-AF65-F5344CB8AC3E}">
        <p14:creationId xmlns:p14="http://schemas.microsoft.com/office/powerpoint/2010/main" val="17246507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13AF4C7E-F617-4F00-BFD2-CA4F56DA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417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희망 직무 선택</a:t>
            </a:r>
          </a:p>
        </p:txBody>
      </p:sp>
      <p:sp>
        <p:nvSpPr>
          <p:cNvPr id="2" name="screen-route">
            <a:extLst xmlns:a="http://schemas.openxmlformats.org/drawingml/2006/main">
              <a:ext uri="{FF2B5EF4-FFF2-40B4-BE49-F238E27FC236}">
                <a16:creationId xmlns:a16="http://schemas.microsoft.com/office/drawing/2014/main" id="{2E95D501-4DA9-40DD-A111-69F5AA07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975"/>
            <a:ext cx="1417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#/desired-role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BB67DA-F776-4514-B1FC-F7869508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417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8C05788F-582C-487A-A9C8-2B92716D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92202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" name="features-heading">
            <a:extLst xmlns:a="http://schemas.openxmlformats.org/drawingml/2006/main">
              <a:ext uri="{FF2B5EF4-FFF2-40B4-BE49-F238E27FC236}">
                <a16:creationId xmlns:a16="http://schemas.microsoft.com/office/drawing/2014/main" id="{767A6BF8-A377-4527-874A-03186471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621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기능 설명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F53234-09C9-407D-99F4-08B88AC3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71675"/>
            <a:ext cx="461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reen-id">
            <a:extLst xmlns:a="http://schemas.openxmlformats.org/drawingml/2006/main">
              <a:ext uri="{FF2B5EF4-FFF2-40B4-BE49-F238E27FC236}">
                <a16:creationId xmlns:a16="http://schemas.microsoft.com/office/drawing/2014/main" id="{B9017018-8F8E-4512-8C30-A9CF2F6F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t>CareerLens 프로젝트 2 · 2026.10.13 개정 2 · 현재 구현 화면 구성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40451D9-4F25-4E47-BAE2-DD0E48A2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581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07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04603E-4E26-40FB-B259-1A6ADD4C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228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CareerLens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497021-8C9A-42C7-B81D-4F7479ED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이력서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218B4F-C140-4FDC-AF0E-1FD5D320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채용공고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B5A85B-5FF5-4055-A1C2-568B87C8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모의 지원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7FF9EA-475D-43A4-992D-005BA30C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819275"/>
            <a:ext cx="962025" cy="371475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로그인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B86431-8081-486F-B2C4-74710863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76475"/>
            <a:ext cx="864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F2C32F-B4DC-433E-BDAE-49A1F9B0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381250"/>
            <a:ext cx="2047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1  이력서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7A1FEC-60B3-4984-A5F7-FA4283C5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381250"/>
            <a:ext cx="2333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2  채용공고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841454-602A-496D-A86A-6B000C84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81250"/>
            <a:ext cx="2333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3  모의 지원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2B2034-0E03-4C4D-8344-63657426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희망하는 직무를 선택해 주세요.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3C4A0C-ABC2-4BD2-817C-058B77E5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685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1  희망 직무 선택  →  2  공고 선택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60E455-7F6B-4F37-B589-47A4BA61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67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EE3F9C-45DD-49E7-8B64-F0F381CF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24275"/>
            <a:ext cx="56007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C1B27E-EA53-44DB-9D53-E5379B34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24275"/>
            <a:ext cx="27432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E87FB0-864F-4881-BCDE-CAD0BE7F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76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420CFD-C96E-4F61-B0EA-B4A183FF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05250"/>
            <a:ext cx="46767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희망 직무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8FEC43-7103-450D-B89A-DD38FDE5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7200"/>
            <a:ext cx="5095875" cy="390525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희망 직무를 선택하세요  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042205-7EA2-4FF9-B79F-99D718C5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52975"/>
            <a:ext cx="501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선택한 직무에 대한 설명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E20457-96E1-49D2-B2ED-37D1A548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CD401C-2411-4241-BB84-8076F485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86350"/>
            <a:ext cx="4857750" cy="390525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희망 직무 직접 입력 · 선택 시 표시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F229D1-2967-49E4-AA9B-3824433B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483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C9945E-2DAE-4912-866C-E3C2EFBF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67375"/>
            <a:ext cx="481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선택한 공고를 기준으로 분석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9268A4-931B-4794-B396-A0471DFD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19800"/>
            <a:ext cx="5095875" cy="685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공고의 요구사항과 이력서 근거를 함께 살펴봅니다.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54EF86-433A-40F1-9ACB-C6FCEE60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905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585CDB-2BA8-4C23-8678-6EBED337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33825"/>
            <a:ext cx="20288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이력서 준비 상태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2E0D5F-5AB6-46B0-AAED-909CB117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657725"/>
            <a:ext cx="2257425" cy="189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첨부 파일명 / 본문 글자 수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</a:p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직무 선택은 언제든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바꿀 수 있어요.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</a:p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비회원도 분석을 마친 뒤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인증하고 결과를 봅니다.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05E8D6-8A95-45EB-9B56-1A8B253D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7191375"/>
            <a:ext cx="3181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← 이력서 수정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32A360-924E-4561-A865-896B6073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1723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DBC02E-0F9A-4B22-AB5A-DBE08E9C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067550"/>
            <a:ext cx="2724150" cy="447675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285DA8"/>
          </a:solidFill>
          <a:ln xmlns:a="http://schemas.openxmlformats.org/drawingml/2006/main" w="9525">
            <a:solidFill>
              <a:srgbClr val="285DA8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채용공고 보기 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2CA540-854F-48CD-B16F-AD19365D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7162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D81782-2ACA-4D9D-87E3-80770DB5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0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04F7E067-8DDF-47C2-88C9-4239F30B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14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공고 선택 순서</a:t>
            </a:r>
          </a:p>
        </p:txBody>
      </p:sp>
      <p:sp>
        <p:nvSpPr>
          <p:cNvPr id="41" name="feature-1-body">
            <a:extLst xmlns:a="http://schemas.openxmlformats.org/drawingml/2006/main">
              <a:ext uri="{FF2B5EF4-FFF2-40B4-BE49-F238E27FC236}">
                <a16:creationId xmlns:a16="http://schemas.microsoft.com/office/drawing/2014/main" id="{05B62361-9332-416D-934B-BB97132F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90775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직무 선택→공고 선택의 내부 단계를 표시합니다. 아직 진입하지 않은 공고 단계는 비활성입니다.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2DBC1B8-F62F-41E4-8B7F-8D98253D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72468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F8EDE97-8BC7-4CCA-86B6-FC83FFE1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29618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44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2DA6F134-50D0-46B6-B06A-0336D406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20093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희망 직무</a:t>
            </a:r>
          </a:p>
        </p:txBody>
      </p:sp>
      <p:sp>
        <p:nvSpPr>
          <p:cNvPr id="45" name="feature-2-body">
            <a:extLst xmlns:a="http://schemas.openxmlformats.org/drawingml/2006/main">
              <a:ext uri="{FF2B5EF4-FFF2-40B4-BE49-F238E27FC236}">
                <a16:creationId xmlns:a16="http://schemas.microsoft.com/office/drawing/2014/main" id="{02CAB3E1-21E5-4C0E-9046-D6B86838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196318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목록과 선택 설명을 표시합니다. 로딩 중 선택·제출을 막고, 실패 시 다시 불러옵니다.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32C057D-0062-424B-B768-77C6D629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78011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74568C1-E83D-4CF5-B051-E5C392FE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35161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8" name="feature-3-title">
            <a:extLst xmlns:a="http://schemas.openxmlformats.org/drawingml/2006/main">
              <a:ext uri="{FF2B5EF4-FFF2-40B4-BE49-F238E27FC236}">
                <a16:creationId xmlns:a16="http://schemas.microsoft.com/office/drawing/2014/main" id="{4DF5A3F0-06C7-4D7D-81B4-9AD61695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725636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직접 입력</a:t>
            </a:r>
          </a:p>
        </p:txBody>
      </p:sp>
      <p:sp>
        <p:nvSpPr>
          <p:cNvPr id="49" name="feature-3-body">
            <a:extLst xmlns:a="http://schemas.openxmlformats.org/drawingml/2006/main">
              <a:ext uri="{FF2B5EF4-FFF2-40B4-BE49-F238E27FC236}">
                <a16:creationId xmlns:a16="http://schemas.microsoft.com/office/drawing/2014/main" id="{DD10FEB7-FD6A-4B75-B0CE-CB7D74C6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001861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직접 입력을 선택할 때 나타나며 필수입니다. 희망 직무명은 최대 120자입니다.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F91DA3D-EDE7-42AC-8709-18B6FE3B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483554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1BD3271-4A76-425D-A013-9E39E66A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40704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52" name="feature-4-title">
            <a:extLst xmlns:a="http://schemas.openxmlformats.org/drawingml/2006/main">
              <a:ext uri="{FF2B5EF4-FFF2-40B4-BE49-F238E27FC236}">
                <a16:creationId xmlns:a16="http://schemas.microsoft.com/office/drawing/2014/main" id="{300B7B32-F8CC-46E0-BDC5-91905829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531179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선택 공고 기준</a:t>
            </a:r>
          </a:p>
        </p:txBody>
      </p:sp>
      <p:sp>
        <p:nvSpPr>
          <p:cNvPr id="53" name="feature-4-body">
            <a:extLst xmlns:a="http://schemas.openxmlformats.org/drawingml/2006/main">
              <a:ext uri="{FF2B5EF4-FFF2-40B4-BE49-F238E27FC236}">
                <a16:creationId xmlns:a16="http://schemas.microsoft.com/office/drawing/2014/main" id="{812F8D47-94A1-4808-8D2B-E4F0F5E4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07404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다음 화면에서 고른 공고의 요구사항으로 분석한다. 별도 관심 내용 입력란은 없다.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A29AC18-B7A7-4EAF-B3C5-EFF01B3D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89096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024FF8B-9C3F-4BEE-A587-18792150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346246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56" name="feature-5-title">
            <a:extLst xmlns:a="http://schemas.openxmlformats.org/drawingml/2006/main">
              <a:ext uri="{FF2B5EF4-FFF2-40B4-BE49-F238E27FC236}">
                <a16:creationId xmlns:a16="http://schemas.microsoft.com/office/drawing/2014/main" id="{6E7CBA49-1B4F-445F-9FD7-9246B3F1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336721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이력서 수정</a:t>
            </a:r>
          </a:p>
        </p:txBody>
      </p:sp>
      <p:sp>
        <p:nvSpPr>
          <p:cNvPr id="57" name="feature-5-body">
            <a:extLst xmlns:a="http://schemas.openxmlformats.org/drawingml/2006/main">
              <a:ext uri="{FF2B5EF4-FFF2-40B4-BE49-F238E27FC236}">
                <a16:creationId xmlns:a16="http://schemas.microsoft.com/office/drawing/2014/main" id="{D5C02764-415F-4333-8DFE-9610916A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612946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이력서 페이지로 돌아가 자료를 수정합니다.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1E4C1D9-2898-40C6-8A95-DDDCFA0C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094639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A4A8A15-B637-4456-A88D-6D86962A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151789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60" name="feature-6-title">
            <a:extLst xmlns:a="http://schemas.openxmlformats.org/drawingml/2006/main">
              <a:ext uri="{FF2B5EF4-FFF2-40B4-BE49-F238E27FC236}">
                <a16:creationId xmlns:a16="http://schemas.microsoft.com/office/drawing/2014/main" id="{75210BD9-D102-4328-987D-A680B659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142264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공고 목록 이동</a:t>
            </a:r>
          </a:p>
        </p:txBody>
      </p:sp>
      <p:sp>
        <p:nvSpPr>
          <p:cNvPr id="61" name="feature-6-body">
            <a:extLst xmlns:a="http://schemas.openxmlformats.org/drawingml/2006/main">
              <a:ext uri="{FF2B5EF4-FFF2-40B4-BE49-F238E27FC236}">
                <a16:creationId xmlns:a16="http://schemas.microsoft.com/office/drawing/2014/main" id="{782BEB96-2A55-4C38-8804-9D922DBE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418489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직무를 저장하고 공고를 연다. 미선택 시 비활성화하고 저장 중 중복 제출을 막는다.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DF43DB5-A7CF-4B7B-8C15-2677E486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00182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139681D-A542-470C-9BE1-090316E5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957332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64" name="feature-7-title">
            <a:extLst xmlns:a="http://schemas.openxmlformats.org/drawingml/2006/main">
              <a:ext uri="{FF2B5EF4-FFF2-40B4-BE49-F238E27FC236}">
                <a16:creationId xmlns:a16="http://schemas.microsoft.com/office/drawing/2014/main" id="{68AC327A-56F8-437F-8572-1D301F6E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47807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준비 상태 안내</a:t>
            </a:r>
          </a:p>
        </p:txBody>
      </p:sp>
      <p:sp>
        <p:nvSpPr>
          <p:cNvPr id="65" name="feature-7-body">
            <a:extLst xmlns:a="http://schemas.openxmlformats.org/drawingml/2006/main">
              <a:ext uri="{FF2B5EF4-FFF2-40B4-BE49-F238E27FC236}">
                <a16:creationId xmlns:a16="http://schemas.microsoft.com/office/drawing/2014/main" id="{8967C695-345B-4A80-AA8B-4EC16910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224032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파일명·본문 글자 수와 준비 상태를 안내한다. 비회원도 계산 후 인증으로 결과를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5104801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57333BC8-8C62-4710-82F6-A5540A7D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417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희망 직무별 공고 목록 · 상세</a:t>
            </a:r>
          </a:p>
        </p:txBody>
      </p:sp>
      <p:sp>
        <p:nvSpPr>
          <p:cNvPr id="2" name="screen-route">
            <a:extLst xmlns:a="http://schemas.openxmlformats.org/drawingml/2006/main">
              <a:ext uri="{FF2B5EF4-FFF2-40B4-BE49-F238E27FC236}">
                <a16:creationId xmlns:a16="http://schemas.microsoft.com/office/drawing/2014/main" id="{94898C82-150E-475C-BC64-E4C93B40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975"/>
            <a:ext cx="1417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#/opportunities?role_id=…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84A38F-B1AD-4F38-8956-FD6344E8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417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BEBDCD86-1F7A-42D3-8776-CA985DEF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92202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" name="features-heading">
            <a:extLst xmlns:a="http://schemas.openxmlformats.org/drawingml/2006/main">
              <a:ext uri="{FF2B5EF4-FFF2-40B4-BE49-F238E27FC236}">
                <a16:creationId xmlns:a16="http://schemas.microsoft.com/office/drawing/2014/main" id="{EFCD76BE-7AFD-4101-8051-2E4225B7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621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기능 설명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66E76F-8079-467E-AE94-6A854997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71675"/>
            <a:ext cx="461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reen-id">
            <a:extLst xmlns:a="http://schemas.openxmlformats.org/drawingml/2006/main">
              <a:ext uri="{FF2B5EF4-FFF2-40B4-BE49-F238E27FC236}">
                <a16:creationId xmlns:a16="http://schemas.microsoft.com/office/drawing/2014/main" id="{CB9EB477-6385-4BC6-8B38-D48D8873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t>CareerLens 프로젝트 2 · 2026.10.13 개정 2 · 현재 구현 화면 구성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A5C4D71-9E66-488D-AF6F-E6652181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581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08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3197DE-1E39-4B69-9B1E-D3B35C5F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228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CareerLens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BBFF1C-4D0E-4F2A-93D0-54C968C1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이력서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FE9FEB-6A10-4DD1-8DF2-9443DD7D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채용공고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EB1E3B-96DF-4B07-AA69-99BAF822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모의 지원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18C710-17F2-4FF2-A298-01389B5C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819275"/>
            <a:ext cx="962025" cy="371475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로그인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5AF9B3-4E45-4FC9-85C6-8E673EC1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76475"/>
            <a:ext cx="864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EECD99-84FC-4357-A8B9-D26F896A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381250"/>
            <a:ext cx="2047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1  이력서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02ECE1-C7D1-4910-BCB7-6F7AD12E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381250"/>
            <a:ext cx="2333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2  채용공고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C4090A-E0E0-49A2-BAF5-72BC12DC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81250"/>
            <a:ext cx="2333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3  모의 지원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0218B1-43B8-4AAC-9541-D5953876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어떤 공고에 지원해 볼까요?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8AE9D8-AECB-46B1-8275-25BAE92D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52750"/>
            <a:ext cx="1685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희망 직무 수정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135365-B90D-455A-8BD0-6266DCBE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933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A7134F-A888-4E0E-8E5F-73DFEFCE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24225"/>
            <a:ext cx="685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1  희망 직무 선택  →  2  공고 선택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BF1B3E-125C-4DAC-8D5C-50179023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743325"/>
            <a:ext cx="31051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E597C8-6BDB-40F9-BC3D-A77DC479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743325"/>
            <a:ext cx="53054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F1A858-FD26-424C-B4B7-18131C2D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2695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선택한 희망 직무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B035BE-A96B-44F5-867F-BAEA2351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57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B33142-EDFB-4625-B26C-E5ACB376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48150"/>
            <a:ext cx="2533650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같은 분류의 공고  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6C7878-CF03-427F-8121-2C12C924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529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F9AC13-10FB-4F10-9A22-19A42FEF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772025"/>
            <a:ext cx="24955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N개 공고 · 전체 직무별 공고 보기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C2DDBC-E0EA-48AF-834A-AC0E891D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14950"/>
            <a:ext cx="27717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9B8FF5-9C65-4F86-AB04-98500C82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542925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가상 예시 회사 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BA4480-3D5D-4D26-AEA6-6F6328B2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569595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직무 · 서울 · 신입 · 기술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4992B4-80CD-4D09-815E-FDA17B73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038850"/>
            <a:ext cx="27717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56A570-3DFA-482D-A5EA-3BE10238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615315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가상 예시 회사 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934C6D-6DD8-459E-AD65-CC1061F4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641985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직무 · 원격 · 경력 · 기술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158F3D-8156-4925-977D-A4E61BA9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08D7CF-7EC2-4F2E-B8CD-E13AF4D2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913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F9771F-7122-4686-896D-8B7F241C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800850"/>
            <a:ext cx="2524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이전       1 / N       다음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63AC4E-3C14-4247-8D4E-49345096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093C98-4F5D-46CE-ABBC-6B0032D4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14775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가상 예시 회사 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A5F13CF-4214-46A9-AA8F-364D0627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33875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선택한 채용 직무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268F47-2D53-40EE-846D-EE3F4385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819650"/>
            <a:ext cx="4743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근무지  |  경력  |  고용 형태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기술 · 역량 태그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3F07DD-9F29-4B00-9BAA-7FA94AED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5638800"/>
            <a:ext cx="4667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담당 업무와 지원 요건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DFD13BB-F85A-4F6D-9C38-6C8B4354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6048375"/>
            <a:ext cx="46958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공고 본문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상세 영역 내부 스크롤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B1FAF76-B522-47BE-81B3-6DEAA27C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7181850"/>
            <a:ext cx="2905125" cy="371475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285DA8"/>
          </a:solidFill>
          <a:ln xmlns:a="http://schemas.openxmlformats.org/drawingml/2006/main" w="9525">
            <a:solidFill>
              <a:srgbClr val="285DA8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모의지원 결과 확인 →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6FC8C79-F264-4074-8297-4784EBAE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7229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F72A7CB-6BC7-4362-8862-93375DC8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96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A64867B-E6BF-4CC4-AD81-2C411BE1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315200"/>
            <a:ext cx="461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목록·상세 별도 로딩 / 재시도 / 공고 없음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DFC17B7-7A1C-4AC8-BE59-02C11136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9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C9877FBD-11AC-461E-9D08-E6AC5398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14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직무 변경</a:t>
            </a:r>
          </a:p>
        </p:txBody>
      </p:sp>
      <p:sp>
        <p:nvSpPr>
          <p:cNvPr id="50" name="feature-1-body">
            <a:extLst xmlns:a="http://schemas.openxmlformats.org/drawingml/2006/main">
              <a:ext uri="{FF2B5EF4-FFF2-40B4-BE49-F238E27FC236}">
                <a16:creationId xmlns:a16="http://schemas.microsoft.com/office/drawing/2014/main" id="{4963A675-BE14-4EA9-A843-57CC2710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90775"/>
            <a:ext cx="4210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희망 직무 선택으로 복귀합니다. 내부 단계바로도 이동합니다.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9BD7EA6-ED9C-48BF-B3BA-143F7946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77177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EE87793-0E89-4DC0-848A-0D8C95BB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289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53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A75499A9-0128-4C00-B39B-11DC99F9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1940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표시 범위</a:t>
            </a:r>
          </a:p>
        </p:txBody>
      </p:sp>
      <p:sp>
        <p:nvSpPr>
          <p:cNvPr id="54" name="feature-2-body">
            <a:extLst xmlns:a="http://schemas.openxmlformats.org/drawingml/2006/main">
              <a:ext uri="{FF2B5EF4-FFF2-40B4-BE49-F238E27FC236}">
                <a16:creationId xmlns:a16="http://schemas.microsoft.com/office/drawing/2014/main" id="{71D028C8-2B08-4013-88EB-0685AA4F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95625"/>
            <a:ext cx="4210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같은 분류·선택 직무만·전체를 고릅니다. 분류 누락 시 대체 기준을 안내합니다.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F3B46E5-2259-4E72-B892-BBD40A32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4766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9003AA-D9B4-4452-A85E-30DC7617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337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57" name="feature-3-title">
            <a:extLst xmlns:a="http://schemas.openxmlformats.org/drawingml/2006/main">
              <a:ext uri="{FF2B5EF4-FFF2-40B4-BE49-F238E27FC236}">
                <a16:creationId xmlns:a16="http://schemas.microsoft.com/office/drawing/2014/main" id="{B219F93A-4A42-45A9-8F67-E8A3EB17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5242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공고 수 · 전체 목록</a:t>
            </a:r>
          </a:p>
        </p:txBody>
      </p:sp>
      <p:sp>
        <p:nvSpPr>
          <p:cNvPr id="58" name="feature-3-body">
            <a:extLst xmlns:a="http://schemas.openxmlformats.org/drawingml/2006/main">
              <a:ext uri="{FF2B5EF4-FFF2-40B4-BE49-F238E27FC236}">
                <a16:creationId xmlns:a16="http://schemas.microsoft.com/office/drawing/2014/main" id="{BAFDB300-446E-4094-B95B-37D9305E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800475"/>
            <a:ext cx="4210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직무·건수를 표시합니다. 전체 검색을 열고 선택 화면 복귀 경로를 유지합니다.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6E1FD7A-1A2D-429D-AD0F-7605B99D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B34369A-56EC-4F53-B4DA-7C41FB31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2386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61" name="feature-4-title">
            <a:extLst xmlns:a="http://schemas.openxmlformats.org/drawingml/2006/main">
              <a:ext uri="{FF2B5EF4-FFF2-40B4-BE49-F238E27FC236}">
                <a16:creationId xmlns:a16="http://schemas.microsoft.com/office/drawing/2014/main" id="{5C03A7EF-7535-4F94-885F-543B0FA1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2910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목록 선택</a:t>
            </a:r>
          </a:p>
        </p:txBody>
      </p:sp>
      <p:sp>
        <p:nvSpPr>
          <p:cNvPr id="62" name="feature-4-body">
            <a:extLst xmlns:a="http://schemas.openxmlformats.org/drawingml/2006/main">
              <a:ext uri="{FF2B5EF4-FFF2-40B4-BE49-F238E27FC236}">
                <a16:creationId xmlns:a16="http://schemas.microsoft.com/office/drawing/2014/main" id="{CC2F36E1-1463-475B-9B58-ACC85CB0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505325"/>
            <a:ext cx="4210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회사·직무·조건·기술을 봅니다. 첫 공고를 선택하고 행 클릭 시 상세를 갱신합니다.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DC39997-A9C1-4B17-B4D3-80CD765E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863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A522B76-EDB7-4950-8819-E1D3F307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43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65" name="feature-5-title">
            <a:extLst xmlns:a="http://schemas.openxmlformats.org/drawingml/2006/main">
              <a:ext uri="{FF2B5EF4-FFF2-40B4-BE49-F238E27FC236}">
                <a16:creationId xmlns:a16="http://schemas.microsoft.com/office/drawing/2014/main" id="{ADAD9E24-3EFD-44B4-A1CE-AF3ECE53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9339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페이지 · 스크롤</a:t>
            </a:r>
          </a:p>
        </p:txBody>
      </p:sp>
      <p:sp>
        <p:nvSpPr>
          <p:cNvPr id="66" name="feature-5-body">
            <a:extLst xmlns:a="http://schemas.openxmlformats.org/drawingml/2006/main">
              <a:ext uri="{FF2B5EF4-FFF2-40B4-BE49-F238E27FC236}">
                <a16:creationId xmlns:a16="http://schemas.microsoft.com/office/drawing/2014/main" id="{41D53AC2-968D-422D-817E-E056002A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10175"/>
            <a:ext cx="4210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20개씩 내부 스크롤·페이지 이동합니다. 열린 상세는 유지하며 첫·끝은 비활성입니다.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B31E2D6-5E4C-4C2B-AF9B-EEC5E289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59117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8888C9B-97E6-4936-8605-39104D9D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6483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69" name="feature-6-title">
            <a:extLst xmlns:a="http://schemas.openxmlformats.org/drawingml/2006/main">
              <a:ext uri="{FF2B5EF4-FFF2-40B4-BE49-F238E27FC236}">
                <a16:creationId xmlns:a16="http://schemas.microsoft.com/office/drawing/2014/main" id="{D3CB937E-6742-492D-AD51-5F5EEB1B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63880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공고 상세</a:t>
            </a:r>
          </a:p>
        </p:txBody>
      </p:sp>
      <p:sp>
        <p:nvSpPr>
          <p:cNvPr id="70" name="feature-6-body">
            <a:extLst xmlns:a="http://schemas.openxmlformats.org/drawingml/2006/main">
              <a:ext uri="{FF2B5EF4-FFF2-40B4-BE49-F238E27FC236}">
                <a16:creationId xmlns:a16="http://schemas.microsoft.com/office/drawing/2014/main" id="{1FDD2D66-FFF0-49DB-B17F-3B118FC1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915025"/>
            <a:ext cx="4210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근무조건·기술·업무·요건을 표시합니다. 긴 내용은 상세 안에서 스크롤합니다.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239BD1A-F7C0-4C6A-9C8D-D572488F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2960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87EA298-3D48-46D9-93F4-6BE52E9F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531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73" name="feature-7-title">
            <a:extLst xmlns:a="http://schemas.openxmlformats.org/drawingml/2006/main">
              <a:ext uri="{FF2B5EF4-FFF2-40B4-BE49-F238E27FC236}">
                <a16:creationId xmlns:a16="http://schemas.microsoft.com/office/drawing/2014/main" id="{D9D97C3C-497D-4FD2-B73A-EE4FF18B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3436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결과 확인</a:t>
            </a:r>
          </a:p>
        </p:txBody>
      </p:sp>
      <p:sp>
        <p:nvSpPr>
          <p:cNvPr id="74" name="feature-7-body">
            <a:extLst xmlns:a="http://schemas.openxmlformats.org/drawingml/2006/main">
              <a:ext uri="{FF2B5EF4-FFF2-40B4-BE49-F238E27FC236}">
                <a16:creationId xmlns:a16="http://schemas.microsoft.com/office/drawing/2014/main" id="{31B580E8-AEC2-45BE-AB7A-A7E9B24A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619875"/>
            <a:ext cx="4210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회원·비회원 모두 실제 분석합니다. 비회원 결과는 인증 전 잠금 상태입니다.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F909E4A-7961-4E09-B97C-B66E92E6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00087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0EF0DC5-36F9-470F-8F9F-FD4CD12E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70580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77" name="feature-8-title">
            <a:extLst xmlns:a="http://schemas.openxmlformats.org/drawingml/2006/main">
              <a:ext uri="{FF2B5EF4-FFF2-40B4-BE49-F238E27FC236}">
                <a16:creationId xmlns:a16="http://schemas.microsoft.com/office/drawing/2014/main" id="{5D1EBACD-FB90-4F6B-B50D-4A86849D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04850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예외 상태</a:t>
            </a:r>
          </a:p>
        </p:txBody>
      </p:sp>
      <p:sp>
        <p:nvSpPr>
          <p:cNvPr id="78" name="feature-8-body">
            <a:extLst xmlns:a="http://schemas.openxmlformats.org/drawingml/2006/main">
              <a:ext uri="{FF2B5EF4-FFF2-40B4-BE49-F238E27FC236}">
                <a16:creationId xmlns:a16="http://schemas.microsoft.com/office/drawing/2014/main" id="{A65DBF48-125D-47C2-9C9E-70DF2988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324725"/>
            <a:ext cx="4210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목록·상세별 로딩·재시도를 제공합니다. 공고가 없으면 범위·직무 변경을 안내합니다.</a:t>
            </a:r>
          </a:p>
        </p:txBody>
      </p:sp>
    </p:spTree>
    <p:extLst>
      <p:ext uri="{BB962C8B-B14F-4D97-AF65-F5344CB8AC3E}">
        <p14:creationId xmlns:p14="http://schemas.microsoft.com/office/powerpoint/2010/main" val="448561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4446F74A-2F67-4031-98D2-8E82CBB0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417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전체 채용공고 검색</a:t>
            </a:r>
          </a:p>
        </p:txBody>
      </p:sp>
      <p:sp>
        <p:nvSpPr>
          <p:cNvPr id="2" name="screen-route">
            <a:extLst xmlns:a="http://schemas.openxmlformats.org/drawingml/2006/main">
              <a:ext uri="{FF2B5EF4-FFF2-40B4-BE49-F238E27FC236}">
                <a16:creationId xmlns:a16="http://schemas.microsoft.com/office/drawing/2014/main" id="{A3AE1AA8-7448-4469-A111-3729D286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975"/>
            <a:ext cx="1417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#/jobs?…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72CA83-0791-4ACE-A5D9-BA66C5C5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417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1071FFA2-0223-4040-B23D-47A4FA6F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92202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" name="features-heading">
            <a:extLst xmlns:a="http://schemas.openxmlformats.org/drawingml/2006/main">
              <a:ext uri="{FF2B5EF4-FFF2-40B4-BE49-F238E27FC236}">
                <a16:creationId xmlns:a16="http://schemas.microsoft.com/office/drawing/2014/main" id="{B7EDA951-70FB-4AAF-9B11-1E8C46A2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621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기능 설명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24B9F-9832-4755-9004-184A4669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71675"/>
            <a:ext cx="461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reen-id">
            <a:extLst xmlns:a="http://schemas.openxmlformats.org/drawingml/2006/main">
              <a:ext uri="{FF2B5EF4-FFF2-40B4-BE49-F238E27FC236}">
                <a16:creationId xmlns:a16="http://schemas.microsoft.com/office/drawing/2014/main" id="{38D67FCF-5686-4B2A-AC97-D87AA509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t>CareerLens 프로젝트 2 · 2026.10.13 개정 2 · 현재 구현 화면 구성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3809C85-BC33-4ED0-9623-983941C0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581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09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97B55C-23D4-48A6-BEE5-642C906C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228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CareerLens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882001-C853-40A4-B921-D8984B99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이력서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59E668-D654-49BC-9E45-0BA8880C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채용공고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DC293F-83A7-4240-BD24-EFBA844C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모의 지원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2E62B3-689F-4DB8-9617-77B566C8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819275"/>
            <a:ext cx="962025" cy="371475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로그인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0FB070-FAA4-433F-8089-628EE7EC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76475"/>
            <a:ext cx="864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53AA1D-2528-4CE4-9624-A314C832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381250"/>
            <a:ext cx="2047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1  이력서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31737D-D779-4BF0-97EF-1802F860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381250"/>
            <a:ext cx="2333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2  채용공고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80ABC2-FFA1-494A-8F45-00110167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81250"/>
            <a:ext cx="2333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3  모의 지원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C1C05E-0633-4394-9384-C33CD460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직무별 채용공고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B5BA73-3EA4-4495-A8FB-5880EB35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52750"/>
            <a:ext cx="2647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1 희망 직무 → 2 공고 선택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88F1F6-19B1-4925-A17D-4D753AAD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8479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4C96E4-EBA0-49CC-AAB7-9D4165D6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8765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공고 선택으로 돌아가기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78EB92-65FD-4A67-96B2-F6341101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956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5ADDC5-2F2C-41EE-8252-7E8D6594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333750"/>
            <a:ext cx="78009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가상 예시 / 평가 서버 등록 공고 · 실제 지원서는 전송되지 않습니다.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4FB372-38E4-47A9-B350-4FF6D901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762375"/>
            <a:ext cx="85534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A37C8A-F851-4491-839D-C9F3738E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867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31C686-0B0C-41A1-BD62-432F6CF8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819525"/>
            <a:ext cx="6438900" cy="390525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직무·회사·기술 검색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B2F1DF-427C-46F5-BD87-05C2F99C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819525"/>
            <a:ext cx="1343025" cy="390525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85DA8"/>
          </a:solidFill>
          <a:ln xmlns:a="http://schemas.openxmlformats.org/drawingml/2006/main" w="9525">
            <a:solidFill>
              <a:srgbClr val="285DA8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ACFF41-F657-4283-9A62-0407C0FA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3529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92E97B-04E4-4844-B3CE-ABCA300F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305300"/>
            <a:ext cx="1514475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직무 분류  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C7D031-9AC2-453E-9AEF-CBE89877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305300"/>
            <a:ext cx="1514475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지역  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376E2E-9D6B-4F6C-9C3C-E6BBD201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305300"/>
            <a:ext cx="1514475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고용 형태  ▾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A45EC4-5672-4B55-8A98-BC02BC30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305300"/>
            <a:ext cx="1514475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경력  ▾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2AFCB7-E4EA-40BA-B0F1-D6757135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305300"/>
            <a:ext cx="1514475" cy="381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기술  ▾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F1FAE8-2C3D-4E12-80C6-10159759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905375"/>
            <a:ext cx="1743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검색 초기화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723E91-0811-4E9C-BCFB-D98EB494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876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5F5F68-2468-4395-9B00-4A0FE2D3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905375"/>
            <a:ext cx="3371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□ 저장한 공고만 · 연동 준비 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811044-8B3B-4334-8FEC-8A5D58E5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819650"/>
            <a:ext cx="1562100" cy="35242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공고 직접 입력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75A56D-87FB-4508-BD7B-63418168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553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05BE96-7E83-4DED-993A-8F2EC502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81650"/>
            <a:ext cx="7734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둘러볼 공고  N개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EE514C-943F-4BBE-8035-AEB1910C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72175"/>
            <a:ext cx="42100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0341ED7-C1E6-4D48-A487-FF59CCEF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096000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가상 예시 회사 A  ·  채용 직무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333EFB-EC3C-404F-9830-076ECB22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391275"/>
            <a:ext cx="3867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지역 · 고용 형태 · 경력 · 기술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8FE750F-D180-4F05-95AE-F4BF8CCF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705600"/>
            <a:ext cx="3867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상세 보기 →        관심 공고 저장 (준비 중)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ACBFCD8-633C-4215-AA30-F52E2320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5972175"/>
            <a:ext cx="42100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D15DD38-2620-47F6-85F2-EADEF410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096000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가상 예시 회사 B  ·  채용 직무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3464105-A47C-4DF6-AD9A-16B19FDB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391275"/>
            <a:ext cx="3867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지역 · 고용 형태 · 경력 · 기술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51C31AD-2CB5-44F8-9A07-9B0C02F5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705600"/>
            <a:ext cx="3867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상세 보기 →        관심 공고 저장 (준비 중)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AA6DBAD-75D9-45EE-A68A-513B6F92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181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E0E940D-C24F-4B2F-8C9F-F510DF36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210425"/>
            <a:ext cx="4943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로딩 / 다시 시도 / 조건에 맞는 공고 없음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EEC11B3-CEC1-45C3-9056-080AF138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7181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2E2F610-785F-4115-8324-3813E314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7210425"/>
            <a:ext cx="2466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이전    1 / N페이지    다음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4690097-F410-4B9E-B4CC-C2B85A23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53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07CE86D2-E3B9-4F1C-9A5B-1E242D9A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14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검색어</a:t>
            </a:r>
          </a:p>
        </p:txBody>
      </p:sp>
      <p:sp>
        <p:nvSpPr>
          <p:cNvPr id="54" name="feature-1-body">
            <a:extLst xmlns:a="http://schemas.openxmlformats.org/drawingml/2006/main">
              <a:ext uri="{FF2B5EF4-FFF2-40B4-BE49-F238E27FC236}">
                <a16:creationId xmlns:a16="http://schemas.microsoft.com/office/drawing/2014/main" id="{530B0F5A-AD40-4BDA-B260-3BE0A78F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90775"/>
            <a:ext cx="4210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직무·회사·기술을 최대 200자로 검색합니다. 검색 버튼을 눌러 적용합니다.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8C143C5-3F0A-406D-A190-B93A4F47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77177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AA14249-95D7-416B-BB04-442EEF19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289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57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C5BFD27A-5801-4954-8CA2-02FD5AEF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1940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필터 · 초기화</a:t>
            </a:r>
          </a:p>
        </p:txBody>
      </p:sp>
      <p:sp>
        <p:nvSpPr>
          <p:cNvPr id="58" name="feature-2-body">
            <a:extLst xmlns:a="http://schemas.openxmlformats.org/drawingml/2006/main">
              <a:ext uri="{FF2B5EF4-FFF2-40B4-BE49-F238E27FC236}">
                <a16:creationId xmlns:a16="http://schemas.microsoft.com/office/drawing/2014/main" id="{DDF7A4E0-D714-4572-B495-360C1A44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95625"/>
            <a:ext cx="4210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직무·지역·고용·경력·기술 선택 후 검색합니다. 초기화하면 전체를 봅니다.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35BF3AF-5B23-4EAC-985F-F01FC259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4766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C931821-ED17-45EE-BE95-C7471F89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337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61" name="feature-3-title">
            <a:extLst xmlns:a="http://schemas.openxmlformats.org/drawingml/2006/main">
              <a:ext uri="{FF2B5EF4-FFF2-40B4-BE49-F238E27FC236}">
                <a16:creationId xmlns:a16="http://schemas.microsoft.com/office/drawing/2014/main" id="{1BC15CD4-0DAA-475B-A92A-E2B9279E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5242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공고 카드</a:t>
            </a:r>
          </a:p>
        </p:txBody>
      </p:sp>
      <p:sp>
        <p:nvSpPr>
          <p:cNvPr id="62" name="feature-3-body">
            <a:extLst xmlns:a="http://schemas.openxmlformats.org/drawingml/2006/main">
              <a:ext uri="{FF2B5EF4-FFF2-40B4-BE49-F238E27FC236}">
                <a16:creationId xmlns:a16="http://schemas.microsoft.com/office/drawing/2014/main" id="{1F670C9E-832E-422C-BF22-F84FA129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800475"/>
            <a:ext cx="4210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자료 구분·근무조건·기술·요약을 봅니다. 직무명·상세 보기로 이동합니다.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D98ECE8-B386-4ECD-A67B-7A0B2A7B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53F36E1-F7F7-4F64-B328-F878FBDD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2386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65" name="feature-4-title">
            <a:extLst xmlns:a="http://schemas.openxmlformats.org/drawingml/2006/main">
              <a:ext uri="{FF2B5EF4-FFF2-40B4-BE49-F238E27FC236}">
                <a16:creationId xmlns:a16="http://schemas.microsoft.com/office/drawing/2014/main" id="{9C76D71F-72B2-4F55-9C80-2EE676BC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2910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페이지 이동</a:t>
            </a:r>
          </a:p>
        </p:txBody>
      </p:sp>
      <p:sp>
        <p:nvSpPr>
          <p:cNvPr id="66" name="feature-4-body">
            <a:extLst xmlns:a="http://schemas.openxmlformats.org/drawingml/2006/main">
              <a:ext uri="{FF2B5EF4-FFF2-40B4-BE49-F238E27FC236}">
                <a16:creationId xmlns:a16="http://schemas.microsoft.com/office/drawing/2014/main" id="{FEADEF39-0649-49B4-B3D2-B2F028FB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505325"/>
            <a:ext cx="4210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현재·전체 페이지와 이전·다음을 표시합니다. 첫·끝 이동은 비활성입니다.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D45AF08-C36B-4F60-B61E-2EC9096D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863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5F08CC3-A11F-4521-8B53-2D04A8DB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43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69" name="feature-5-title">
            <a:extLst xmlns:a="http://schemas.openxmlformats.org/drawingml/2006/main">
              <a:ext uri="{FF2B5EF4-FFF2-40B4-BE49-F238E27FC236}">
                <a16:creationId xmlns:a16="http://schemas.microsoft.com/office/drawing/2014/main" id="{780F5900-0C27-489B-88B0-EEF87D3F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9339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선택 화면 복귀</a:t>
            </a:r>
          </a:p>
        </p:txBody>
      </p:sp>
      <p:sp>
        <p:nvSpPr>
          <p:cNvPr id="70" name="feature-5-body">
            <a:extLst xmlns:a="http://schemas.openxmlformats.org/drawingml/2006/main">
              <a:ext uri="{FF2B5EF4-FFF2-40B4-BE49-F238E27FC236}">
                <a16:creationId xmlns:a16="http://schemas.microsoft.com/office/drawing/2014/main" id="{2AD56DC9-551B-48D5-8F55-B766D3F4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10175"/>
            <a:ext cx="4210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직무별 분할 목록에서 들어온 경우, 기존 공고 선택 화면으로 돌아갑니다.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2FDD960-22DD-4EE5-BF05-303F5492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59117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C279325-B257-42B5-9530-5225C214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6483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73" name="feature-6-title">
            <a:extLst xmlns:a="http://schemas.openxmlformats.org/drawingml/2006/main">
              <a:ext uri="{FF2B5EF4-FFF2-40B4-BE49-F238E27FC236}">
                <a16:creationId xmlns:a16="http://schemas.microsoft.com/office/drawing/2014/main" id="{AD790F5F-8965-455B-810E-E72D7E45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63880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준비 중 기능</a:t>
            </a:r>
          </a:p>
        </p:txBody>
      </p:sp>
      <p:sp>
        <p:nvSpPr>
          <p:cNvPr id="74" name="feature-6-body">
            <a:extLst xmlns:a="http://schemas.openxmlformats.org/drawingml/2006/main">
              <a:ext uri="{FF2B5EF4-FFF2-40B4-BE49-F238E27FC236}">
                <a16:creationId xmlns:a16="http://schemas.microsoft.com/office/drawing/2014/main" id="{E8415052-981F-4AEB-BC50-92BD3B0C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915025"/>
            <a:ext cx="4210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직접 입력·관심 저장·저장만 보기는 비활성입니다. 시연 세션만 탭에 저장합니다.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99BE752-16D6-439C-AD69-B5054E69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2960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0C44639-0CCA-4727-9937-7E6E9E24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531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77" name="feature-7-title">
            <a:extLst xmlns:a="http://schemas.openxmlformats.org/drawingml/2006/main">
              <a:ext uri="{FF2B5EF4-FFF2-40B4-BE49-F238E27FC236}">
                <a16:creationId xmlns:a16="http://schemas.microsoft.com/office/drawing/2014/main" id="{5FD29E51-7142-4922-AD5B-E87C38C6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3436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공고 출처 안내</a:t>
            </a:r>
          </a:p>
        </p:txBody>
      </p:sp>
      <p:sp>
        <p:nvSpPr>
          <p:cNvPr id="78" name="feature-7-body">
            <a:extLst xmlns:a="http://schemas.openxmlformats.org/drawingml/2006/main">
              <a:ext uri="{FF2B5EF4-FFF2-40B4-BE49-F238E27FC236}">
                <a16:creationId xmlns:a16="http://schemas.microsoft.com/office/drawing/2014/main" id="{46379135-0AC2-4C73-A47F-2E85FA90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619875"/>
            <a:ext cx="4210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비회원은 가상 예시, 회원은 등록 공고입니다. 기업에 실제 전송하지 않습니다.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0ECB15E-17B2-482D-93CE-3C4D2183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00087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C79FDE8-399C-4BC3-94A0-D535BF4B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70580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81" name="feature-8-title">
            <a:extLst xmlns:a="http://schemas.openxmlformats.org/drawingml/2006/main">
              <a:ext uri="{FF2B5EF4-FFF2-40B4-BE49-F238E27FC236}">
                <a16:creationId xmlns:a16="http://schemas.microsoft.com/office/drawing/2014/main" id="{08743AF5-7334-437B-91C7-D718087D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04850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예외 상태</a:t>
            </a:r>
          </a:p>
        </p:txBody>
      </p:sp>
      <p:sp>
        <p:nvSpPr>
          <p:cNvPr id="82" name="feature-8-body">
            <a:extLst xmlns:a="http://schemas.openxmlformats.org/drawingml/2006/main">
              <a:ext uri="{FF2B5EF4-FFF2-40B4-BE49-F238E27FC236}">
                <a16:creationId xmlns:a16="http://schemas.microsoft.com/office/drawing/2014/main" id="{CD05788C-C4B2-40E2-B709-499738F8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324725"/>
            <a:ext cx="42100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로딩·오류·재시도를 표시합니다. 검색 0건은 초기화·전체 보기를 안내합니다.</a:t>
            </a:r>
          </a:p>
        </p:txBody>
      </p:sp>
    </p:spTree>
    <p:extLst>
      <p:ext uri="{BB962C8B-B14F-4D97-AF65-F5344CB8AC3E}">
        <p14:creationId xmlns:p14="http://schemas.microsoft.com/office/powerpoint/2010/main" val="5580505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1DB9B586-7BA2-4F28-811D-B4C92B8A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417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전체 공고 상세</a:t>
            </a:r>
          </a:p>
        </p:txBody>
      </p:sp>
      <p:sp>
        <p:nvSpPr>
          <p:cNvPr id="2" name="screen-route">
            <a:extLst xmlns:a="http://schemas.openxmlformats.org/drawingml/2006/main">
              <a:ext uri="{FF2B5EF4-FFF2-40B4-BE49-F238E27FC236}">
                <a16:creationId xmlns:a16="http://schemas.microsoft.com/office/drawing/2014/main" id="{DF224122-272D-4D25-BB16-C4E39860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975"/>
            <a:ext cx="1417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#/jobs/:id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AA21E5-578E-45FE-9D2F-8E10DD53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417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CD0CDAEB-ACF3-48BE-BEDA-DE7AB1AE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92202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" name="features-heading">
            <a:extLst xmlns:a="http://schemas.openxmlformats.org/drawingml/2006/main">
              <a:ext uri="{FF2B5EF4-FFF2-40B4-BE49-F238E27FC236}">
                <a16:creationId xmlns:a16="http://schemas.microsoft.com/office/drawing/2014/main" id="{C511CDB7-01B9-4E37-83F6-C4EF85A0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621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기능 설명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88F4AE-2129-431C-A23A-779AAC18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71675"/>
            <a:ext cx="461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reen-id">
            <a:extLst xmlns:a="http://schemas.openxmlformats.org/drawingml/2006/main">
              <a:ext uri="{FF2B5EF4-FFF2-40B4-BE49-F238E27FC236}">
                <a16:creationId xmlns:a16="http://schemas.microsoft.com/office/drawing/2014/main" id="{1E66C449-EC49-40A8-8F0E-82C64E99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t>CareerLens 프로젝트 2 · 2026.10.13 개정 2 · 현재 구현 화면 구성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D8DB11D-3072-4823-B94A-FF48233D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581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10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925702-5EEA-48C6-B3F4-A2D44550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228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CareerLens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66639D-E383-400D-8841-C8B2736D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이력서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4E76A0-F833-4460-BB6F-72ECB543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채용공고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A49721-A113-45A0-879A-8108C480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95475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모의 지원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2FF3F9-C1C5-4968-97D4-725DCC29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819275"/>
            <a:ext cx="962025" cy="371475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로그인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DFF540-EE67-4EAF-B0AC-81D1EE16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76475"/>
            <a:ext cx="864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5F4FEE-7964-4FCE-92FF-6C31D114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381250"/>
            <a:ext cx="2047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1  이력서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C82D10-0202-4DE8-AB4C-60588C86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381250"/>
            <a:ext cx="2333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2  채용공고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4B4E50-2FB7-4B1E-951D-90E26E49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81250"/>
            <a:ext cx="2333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3  모의 지원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36BBF7-C01B-437E-82A2-DBE6F62D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685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1  희망 직무 선택  →  2  공고 선택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5EE93A-128E-4540-9E59-A082BBB0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051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982595-0D5A-410E-B4F2-DD715F94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343275"/>
            <a:ext cx="790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← 공고 목록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A5B349-682F-4404-93D7-625A4F6F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62375"/>
            <a:ext cx="8543925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6846D8-3FB4-407D-9051-B0030F6D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957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9E44CC-502E-4E88-8545-7BF88A1E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24300"/>
            <a:ext cx="584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등록 공고 / 가상 예시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99F741-16AC-4629-8888-FAE74E90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343400"/>
            <a:ext cx="7810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회사명 · 채용 직무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FE9607-DA0F-4220-9575-7C20369F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819650"/>
            <a:ext cx="7715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근무지 · 고용 형태 · 경력        기술 · 역량 태그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A81122-5E96-4772-9B2D-696145C4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314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A64A14-B028-4125-B5FD-52AAC61B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43525"/>
            <a:ext cx="76866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주요 업무와 지원 요건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853420-3247-4146-B5BB-CFC2FB36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5762625"/>
            <a:ext cx="7858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공고 본문: 담당 업무 · 자격 요건 · 우대 사항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006248-CB1A-4F9D-A6E3-1215A607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4103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410CDC-BAD4-43AE-8AB0-99576AA8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438900"/>
            <a:ext cx="500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공고 원문 링크 열기 ↗   ·   새 탭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A236D2-007C-46B8-A9C9-593B98E1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419850"/>
            <a:ext cx="2019300" cy="35242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관심 공고 저장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A802CA-EC72-4724-934D-268E5A5F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6467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DABDDF-B1C0-4DA1-A858-1C5EA429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7181850"/>
            <a:ext cx="2895600" cy="371475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285DA8"/>
          </a:solidFill>
          <a:ln xmlns:a="http://schemas.openxmlformats.org/drawingml/2006/main" w="9525">
            <a:solidFill>
              <a:srgbClr val="285DA8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모의지원 결과 확인 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64300B-EB79-4DB5-BD37-064E1AC2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7229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BFA8C9-2C91-4DF7-A296-4D35BE2A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10425"/>
            <a:ext cx="5105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실제 모집 여부는 출처에서 확인해 주세요.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593381-A117-48CD-ADF1-CA18466D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7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42AF2F75-6B6A-428F-828F-8EEE305B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14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목록 복귀</a:t>
            </a:r>
          </a:p>
        </p:txBody>
      </p:sp>
      <p:sp>
        <p:nvSpPr>
          <p:cNvPr id="38" name="feature-1-body">
            <a:extLst xmlns:a="http://schemas.openxmlformats.org/drawingml/2006/main">
              <a:ext uri="{FF2B5EF4-FFF2-40B4-BE49-F238E27FC236}">
                <a16:creationId xmlns:a16="http://schemas.microsoft.com/office/drawing/2014/main" id="{B7309DAE-D8F6-4FD9-BD6B-F22840E6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907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기존 검색 조건을 유지해 전체 채용공고 목록으로 돌아갑니다.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DD7DA4-27B7-42E1-B2ED-F5399BD2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067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151A14-1A46-4292-9B27-E89D2A2D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63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41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44E9398E-B240-4F6D-83CC-FFE55271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543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공고 정보</a:t>
            </a:r>
          </a:p>
        </p:txBody>
      </p:sp>
      <p:sp>
        <p:nvSpPr>
          <p:cNvPr id="42" name="feature-2-body">
            <a:extLst xmlns:a="http://schemas.openxmlformats.org/drawingml/2006/main">
              <a:ext uri="{FF2B5EF4-FFF2-40B4-BE49-F238E27FC236}">
                <a16:creationId xmlns:a16="http://schemas.microsoft.com/office/drawing/2014/main" id="{8CC935F3-3BDB-4370-8292-52F536D0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3305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등록·가상·시연 자료 배지와 회사·직무·근무지·고용 형태·경력·기술을 표시합니다.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1DF8C49-DCF7-49AB-B68C-389EDD23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9465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60BBEC-BC3A-4813-8C93-DFEC06A8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03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5" name="feature-3-title">
            <a:extLst xmlns:a="http://schemas.openxmlformats.org/drawingml/2006/main">
              <a:ext uri="{FF2B5EF4-FFF2-40B4-BE49-F238E27FC236}">
                <a16:creationId xmlns:a16="http://schemas.microsoft.com/office/drawing/2014/main" id="{B7D59B6A-130C-4BA9-B3F1-8732ADC4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9941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업무 · 지원 요건</a:t>
            </a:r>
          </a:p>
        </p:txBody>
      </p:sp>
      <p:sp>
        <p:nvSpPr>
          <p:cNvPr id="46" name="feature-3-body">
            <a:extLst xmlns:a="http://schemas.openxmlformats.org/drawingml/2006/main">
              <a:ext uri="{FF2B5EF4-FFF2-40B4-BE49-F238E27FC236}">
                <a16:creationId xmlns:a16="http://schemas.microsoft.com/office/drawing/2014/main" id="{9C829C2D-0D4F-4223-9A92-DC761DCF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703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담당 업무·자격 요건·우대 사항을 확인합니다. 자료 성격과 실제 모집 여부 확인 안내를 표시합니다.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4F189ED-B0F1-4E1D-B691-B44B7E47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863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8903138-CD06-4688-9393-8CEBF134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43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9" name="feature-4-title">
            <a:extLst xmlns:a="http://schemas.openxmlformats.org/drawingml/2006/main">
              <a:ext uri="{FF2B5EF4-FFF2-40B4-BE49-F238E27FC236}">
                <a16:creationId xmlns:a16="http://schemas.microsoft.com/office/drawing/2014/main" id="{EE919F4E-CAB9-4557-84B3-990BA319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9339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출처 링크</a:t>
            </a:r>
          </a:p>
        </p:txBody>
      </p:sp>
      <p:sp>
        <p:nvSpPr>
          <p:cNvPr id="50" name="feature-4-body">
            <a:extLst xmlns:a="http://schemas.openxmlformats.org/drawingml/2006/main">
              <a:ext uri="{FF2B5EF4-FFF2-40B4-BE49-F238E27FC236}">
                <a16:creationId xmlns:a16="http://schemas.microsoft.com/office/drawing/2014/main" id="{EFEEAF32-3F9D-4A11-BA76-603D9388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101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출처가 있으면 새 탭으로 엽니다. 가상 예시는 실제 모집 링크가 아닌 참고 직무 자료임을 안내합니다.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374281A-5FFF-4292-9A8F-741AD746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8261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68DBDF1-17D2-4029-A48E-AA4B0CBA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8832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53" name="feature-5-title">
            <a:extLst xmlns:a="http://schemas.openxmlformats.org/drawingml/2006/main">
              <a:ext uri="{FF2B5EF4-FFF2-40B4-BE49-F238E27FC236}">
                <a16:creationId xmlns:a16="http://schemas.microsoft.com/office/drawing/2014/main" id="{372C4116-6124-43FE-9CA5-F023AF4D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8737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모의지원 실행</a:t>
            </a:r>
          </a:p>
        </p:txBody>
      </p:sp>
      <p:sp>
        <p:nvSpPr>
          <p:cNvPr id="54" name="feature-5-body">
            <a:extLst xmlns:a="http://schemas.openxmlformats.org/drawingml/2006/main">
              <a:ext uri="{FF2B5EF4-FFF2-40B4-BE49-F238E27FC236}">
                <a16:creationId xmlns:a16="http://schemas.microsoft.com/office/drawing/2014/main" id="{0177083D-037A-4EC5-87ED-4CBCA2FC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1499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이력서가 없으면 첨부로 이동한다. 회원·비회원 모두 실제 분석하며 비회원 결과는 인증 후 연다.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8484E3A-9FE0-4C25-813A-409BB0A9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7659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09531BA-4214-43C2-B9BD-18831CB7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823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57" name="feature-6-title">
            <a:extLst xmlns:a="http://schemas.openxmlformats.org/drawingml/2006/main">
              <a:ext uri="{FF2B5EF4-FFF2-40B4-BE49-F238E27FC236}">
                <a16:creationId xmlns:a16="http://schemas.microsoft.com/office/drawing/2014/main" id="{21F7BA8B-7507-4BC1-B2CF-0F0DCBD1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813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준비 중 · 예외</a:t>
            </a:r>
          </a:p>
        </p:txBody>
      </p:sp>
      <p:sp>
        <p:nvSpPr>
          <p:cNvPr id="58" name="feature-6-body">
            <a:extLst xmlns:a="http://schemas.openxmlformats.org/drawingml/2006/main">
              <a:ext uri="{FF2B5EF4-FFF2-40B4-BE49-F238E27FC236}">
                <a16:creationId xmlns:a16="http://schemas.microsoft.com/office/drawing/2014/main" id="{336EBD1D-FF38-47B6-BE31-14793382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089775"/>
            <a:ext cx="4210050" cy="62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관심 저장·공고 쓰기는 비활성입니다. 오류는 재시도·목록 복귀를 제공하고 실행 중 중복 클릭을 막습니다.</a:t>
            </a:r>
          </a:p>
        </p:txBody>
      </p:sp>
    </p:spTree>
    <p:extLst>
      <p:ext uri="{BB962C8B-B14F-4D97-AF65-F5344CB8AC3E}">
        <p14:creationId xmlns:p14="http://schemas.microsoft.com/office/powerpoint/2010/main" val="5628794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808A8056-B332-4708-B587-E083F860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417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모의지원 · 분석 진행</a:t>
            </a:r>
          </a:p>
        </p:txBody>
      </p:sp>
      <p:sp>
        <p:nvSpPr>
          <p:cNvPr id="2" name="screen-route">
            <a:extLst xmlns:a="http://schemas.openxmlformats.org/drawingml/2006/main">
              <a:ext uri="{FF2B5EF4-FFF2-40B4-BE49-F238E27FC236}">
                <a16:creationId xmlns:a16="http://schemas.microsoft.com/office/drawing/2014/main" id="{77A6344F-82E3-4471-A79E-5E1DED07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975"/>
            <a:ext cx="1417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채용공고 상세 → 결과 확인 · 전체 화면 진행 모달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8E58BD-0338-4DD6-AAD3-84E97E81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417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1D321D89-C538-4938-AD26-E6789B42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92202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" name="features-heading">
            <a:extLst xmlns:a="http://schemas.openxmlformats.org/drawingml/2006/main">
              <a:ext uri="{FF2B5EF4-FFF2-40B4-BE49-F238E27FC236}">
                <a16:creationId xmlns:a16="http://schemas.microsoft.com/office/drawing/2014/main" id="{220964A7-B5A6-4313-A2DB-FA90EEB5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621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기능 설명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84B64B-55DE-4C13-BD24-C7851B15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71675"/>
            <a:ext cx="461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reen-id">
            <a:extLst xmlns:a="http://schemas.openxmlformats.org/drawingml/2006/main">
              <a:ext uri="{FF2B5EF4-FFF2-40B4-BE49-F238E27FC236}">
                <a16:creationId xmlns:a16="http://schemas.microsoft.com/office/drawing/2014/main" id="{76974F25-034A-48D4-915C-B6A00F2D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CareerLens 프로젝트 2 · 2026.10.13 개정 2 · 현재 구현 화면 구성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B85129D-98E5-4251-B000-12840763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581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11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8376FD-C907-41EA-94D9-1181A4DE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952625"/>
            <a:ext cx="7762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진입 조건 · 채용공고의 「모의지원 결과 확인」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D5D315-AD38-4A21-8A29-81A0A55D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7FA0FE-BB4A-4435-A4F9-31D66432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28925"/>
            <a:ext cx="8153400" cy="439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E7EC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3C7570-69B4-4982-A184-EF9F4AE0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276600"/>
            <a:ext cx="3295650" cy="1447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F3FC"/>
          </a:solidFill>
          <a:ln xmlns:a="http://schemas.openxmlformats.org/drawingml/2006/main" w="19050">
            <a:solidFill>
              <a:srgbClr val="A9C8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406128-7827-428F-94E0-9FB70215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62325"/>
            <a:ext cx="1228725" cy="1228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E6FA"/>
          </a:solidFill>
          <a:ln xmlns:a="http://schemas.openxmlformats.org/drawingml/2006/main" w="19050">
            <a:solidFill>
              <a:srgbClr val="6D9C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11F5B3-33A6-4FDB-9D7E-13D53640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733800"/>
            <a:ext cx="485775" cy="485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9525">
            <a:solidFill>
              <a:srgbClr val="285D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69F44B-776A-4004-BF5A-B03D3193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7052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7F1ADD-0B4E-4153-86F1-8C13FE65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9149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서버 진행률(%) / 확인 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C8538E-CB3F-438A-95A6-6E18B3C9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914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CCB31A-AEDD-4BDB-A545-970E3925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419725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8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경험을 하나의 보고서로 정리하고 있어요.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6C7596-E6DC-4C13-8CBB-C4752812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5800725"/>
            <a:ext cx="615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이력서와 선택한 채용공고를 함께 살펴봅니다.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93A032-00EE-4906-92FD-AF9B74D7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6153150"/>
            <a:ext cx="504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현재 작업 상태 · 서버 응답에 따라 갱신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8A9D4C-2F82-42A2-9DA2-D4256500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61436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D26E02-4B27-474D-8FCF-79139A8A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6705600"/>
            <a:ext cx="2371725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채용공고로 돌아가기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1508AF-EB8A-4E1A-91F9-8D5AFF03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67722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285BF9-E16D-4F16-9420-CF230ED1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305675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비회원: 실제 분석과 서버 저장 완료 후 인증 안내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C3052D-AC88-400D-9559-0A13DEC4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7296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F747DF-A523-4321-BEC5-E0ECEF08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7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14B5038C-66C8-4C42-9552-51233090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14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모의지원 시작</a:t>
            </a:r>
          </a:p>
        </p:txBody>
      </p:sp>
      <p:sp>
        <p:nvSpPr>
          <p:cNvPr id="28" name="feature-1-body">
            <a:extLst xmlns:a="http://schemas.openxmlformats.org/drawingml/2006/main">
              <a:ext uri="{FF2B5EF4-FFF2-40B4-BE49-F238E27FC236}">
                <a16:creationId xmlns:a16="http://schemas.microsoft.com/office/drawing/2014/main" id="{27F6EF9A-622B-4AEB-A043-84C2214F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90775"/>
            <a:ext cx="4210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선택 공고와 이력서로 시작. 이력서가 없으면 첨부·저장 화면으로 이동한다.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5D87EE-1365-4B2E-A276-5D24F963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F2AABD-B5E3-4346-974D-2330A103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38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1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4568FE67-4C63-4BB9-AC13-F1FB20B3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289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분석 모션</a:t>
            </a:r>
          </a:p>
        </p:txBody>
      </p:sp>
      <p:sp>
        <p:nvSpPr>
          <p:cNvPr id="32" name="feature-2-body">
            <a:extLst xmlns:a="http://schemas.openxmlformats.org/drawingml/2006/main">
              <a:ext uri="{FF2B5EF4-FFF2-40B4-BE49-F238E27FC236}">
                <a16:creationId xmlns:a16="http://schemas.microsoft.com/office/drawing/2014/main" id="{85FA1124-3024-4240-BF62-5BDA25C0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305175"/>
            <a:ext cx="4210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눈 모션을 최소 4초 표시한 뒤 보고서로 전환한다. 모션 자체는 평가값이 아니다.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4DCD00-9CBF-4FC4-9C54-DBFF7176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8957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5A848D-F3D8-4DEB-A62D-0EBA87AD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952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5" name="feature-3-title">
            <a:extLst xmlns:a="http://schemas.openxmlformats.org/drawingml/2006/main">
              <a:ext uri="{FF2B5EF4-FFF2-40B4-BE49-F238E27FC236}">
                <a16:creationId xmlns:a16="http://schemas.microsoft.com/office/drawing/2014/main" id="{C796F07F-0FC2-467F-94F7-2E4C7EA5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9433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실제 작업 진행률</a:t>
            </a:r>
          </a:p>
        </p:txBody>
      </p:sp>
      <p:sp>
        <p:nvSpPr>
          <p:cNvPr id="36" name="feature-3-body">
            <a:extLst xmlns:a="http://schemas.openxmlformats.org/drawingml/2006/main">
              <a:ext uri="{FF2B5EF4-FFF2-40B4-BE49-F238E27FC236}">
                <a16:creationId xmlns:a16="http://schemas.microsoft.com/office/drawing/2014/main" id="{B080406A-19BD-41CC-8D9B-F3A8FA76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19575"/>
            <a:ext cx="4210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서버 진행률을 표시한다. 값이 없으면 확인 중이며 점수·합격 가능성과 다르다.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AD0133-AE47-4D17-AAF2-7CB9834F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101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B0BB2E-A89A-4EA8-B036-A45A74B5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672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9" name="feature-4-title">
            <a:extLst xmlns:a="http://schemas.openxmlformats.org/drawingml/2006/main">
              <a:ext uri="{FF2B5EF4-FFF2-40B4-BE49-F238E27FC236}">
                <a16:creationId xmlns:a16="http://schemas.microsoft.com/office/drawing/2014/main" id="{A4913377-4837-45F0-9E9D-48C44496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577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현재 작업 상태</a:t>
            </a:r>
          </a:p>
        </p:txBody>
      </p:sp>
      <p:sp>
        <p:nvSpPr>
          <p:cNvPr id="40" name="feature-4-body">
            <a:extLst xmlns:a="http://schemas.openxmlformats.org/drawingml/2006/main">
              <a:ext uri="{FF2B5EF4-FFF2-40B4-BE49-F238E27FC236}">
                <a16:creationId xmlns:a16="http://schemas.microsoft.com/office/drawing/2014/main" id="{B107C084-F835-4FE9-A481-29E42510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133975"/>
            <a:ext cx="4210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대기·문서 확인·근거 탐색·평가·검증·보고서 작성 상태를 알려준다.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6E7404-AD01-43B0-8D4B-13B18D3D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7245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EB1F66-2C92-4F87-B07F-D2F9FD75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781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43" name="feature-5-title">
            <a:extLst xmlns:a="http://schemas.openxmlformats.org/drawingml/2006/main">
              <a:ext uri="{FF2B5EF4-FFF2-40B4-BE49-F238E27FC236}">
                <a16:creationId xmlns:a16="http://schemas.microsoft.com/office/drawing/2014/main" id="{109D1583-BB0B-4E26-9979-C0EE0D1E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7721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비회원 실제 분석</a:t>
            </a:r>
          </a:p>
        </p:txBody>
      </p:sp>
      <p:sp>
        <p:nvSpPr>
          <p:cNvPr id="44" name="feature-5-body">
            <a:extLst xmlns:a="http://schemas.openxmlformats.org/drawingml/2006/main">
              <a:ext uri="{FF2B5EF4-FFF2-40B4-BE49-F238E27FC236}">
                <a16:creationId xmlns:a16="http://schemas.microsoft.com/office/drawing/2014/main" id="{9A2A2079-BF35-45BD-B1B4-FCC6A05D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048375"/>
            <a:ext cx="4210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프론트 서버에서 계산·저장을 마친 뒤 잠금 화면을 연다. 인증 전에는 결과 원문을 전달하지 않는다.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BD4D79C-5804-4E0C-A30B-91867786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6389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4163657-5965-472E-9D82-6B7D7E5E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696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47" name="feature-6-title">
            <a:extLst xmlns:a="http://schemas.openxmlformats.org/drawingml/2006/main">
              <a:ext uri="{FF2B5EF4-FFF2-40B4-BE49-F238E27FC236}">
                <a16:creationId xmlns:a16="http://schemas.microsoft.com/office/drawing/2014/main" id="{6FB4D768-2D4B-43C9-AE62-FE40D750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686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돌아가기·취소</a:t>
            </a:r>
          </a:p>
        </p:txBody>
      </p:sp>
      <p:sp>
        <p:nvSpPr>
          <p:cNvPr id="48" name="feature-6-body">
            <a:extLst xmlns:a="http://schemas.openxmlformats.org/drawingml/2006/main">
              <a:ext uri="{FF2B5EF4-FFF2-40B4-BE49-F238E27FC236}">
                <a16:creationId xmlns:a16="http://schemas.microsoft.com/office/drawing/2014/main" id="{9F79CC04-A394-4C1D-B422-3C10381B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62775"/>
            <a:ext cx="4210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공고 상세로 돌아간다. Escape도 동일하며 생성된 실제 평가에는 취소를 요청한다.</a:t>
            </a:r>
          </a:p>
        </p:txBody>
      </p:sp>
    </p:spTree>
    <p:extLst>
      <p:ext uri="{BB962C8B-B14F-4D97-AF65-F5344CB8AC3E}">
        <p14:creationId xmlns:p14="http://schemas.microsoft.com/office/powerpoint/2010/main" val="10741241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4D25D663-9D0C-44F6-B430-E6058A5F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417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비회원 · 잠금 보고서 안내</a:t>
            </a:r>
          </a:p>
        </p:txBody>
      </p:sp>
      <p:sp>
        <p:nvSpPr>
          <p:cNvPr id="2" name="screen-route">
            <a:extLst xmlns:a="http://schemas.openxmlformats.org/drawingml/2006/main">
              <a:ext uri="{FF2B5EF4-FFF2-40B4-BE49-F238E27FC236}">
                <a16:creationId xmlns:a16="http://schemas.microsoft.com/office/drawing/2014/main" id="{8951CEAF-F09F-4B73-8CF2-FF2D26FA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975"/>
            <a:ext cx="1417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#/result · 실제 계산 완료 후 결과 잠금과 중앙 인증 팝업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EE3BD9-EFDA-4287-A381-F97146BB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417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6662510E-9526-46EE-89C7-A379C8A6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92202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" name="features-heading">
            <a:extLst xmlns:a="http://schemas.openxmlformats.org/drawingml/2006/main">
              <a:ext uri="{FF2B5EF4-FFF2-40B4-BE49-F238E27FC236}">
                <a16:creationId xmlns:a16="http://schemas.microsoft.com/office/drawing/2014/main" id="{EBF1852C-3DDD-4BE8-B4E7-C9F596C9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621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기능 설명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19CE8-13B5-45AB-9221-135DCA8C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71675"/>
            <a:ext cx="461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reen-id">
            <a:extLst xmlns:a="http://schemas.openxmlformats.org/drawingml/2006/main">
              <a:ext uri="{FF2B5EF4-FFF2-40B4-BE49-F238E27FC236}">
                <a16:creationId xmlns:a16="http://schemas.microsoft.com/office/drawing/2014/main" id="{1464DD5B-437D-42CC-8D5D-FFEBA165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CareerLens 프로젝트 2 · 2026.10.13 개정 2 · 현재 구현 화면 구성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9F8ED64-B57F-4ADB-9B39-64219DDC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581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12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3CA932-BA8D-4787-8EA5-428D9170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CareerLens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0DD4D5-D1FF-41E9-8F13-893C0F1D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3357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이력서    채용공고    모의 지원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BD7205-069B-4595-ADE3-5808EA0E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933575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로그인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BB2DC0-C1C1-4B0C-A8FB-101B6C63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883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C87CF7-E6C3-4F2D-9FF8-D7BD8FB7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76500"/>
            <a:ext cx="8267700" cy="474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4E9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1778D4-C2C7-4DA3-94EA-1C972F68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76525"/>
            <a:ext cx="23336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6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D5E186-A628-426A-B57B-DCF0A594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62275"/>
            <a:ext cx="38004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927DBB-A4C1-4C96-B542-5C749612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14700"/>
            <a:ext cx="25527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01D9EA-D0DD-435C-B8BC-85036D10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457575"/>
            <a:ext cx="457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7E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54E36E-BFA7-4246-9D89-EC6A1C9E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733800"/>
            <a:ext cx="43148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7E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F242A0-67AF-4843-BCC4-49499593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010025"/>
            <a:ext cx="40576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7E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78B2E0-E8FB-4907-A5F8-17C0B183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286250"/>
            <a:ext cx="38004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7E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C33F15-D822-49F2-BF36-921A504B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62475"/>
            <a:ext cx="35433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7E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863D30-E3CA-40D4-8238-37EEF112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76875"/>
            <a:ext cx="7581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E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A24E7B-190D-4277-B6DA-5720030C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734050"/>
            <a:ext cx="7429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E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45971A-41A1-43A2-B3B6-DFE44AF9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91225"/>
            <a:ext cx="7277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E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D29AC4-AACE-4B89-AEE1-7AE0333A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248400"/>
            <a:ext cx="7124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E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F4B4B2-2900-48FB-8EEE-DBEB633B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505575"/>
            <a:ext cx="6972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E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F3A13A-98E8-4B76-8818-0E2D5363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71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948E3B-0738-424E-AABA-F567CE37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762250"/>
            <a:ext cx="5467350" cy="4352925"/>
          </a:xfrm>
          <a:prstGeom xmlns:a="http://schemas.openxmlformats.org/drawingml/2006/main" prst="roundRect">
            <a:avLst>
              <a:gd name="adj" fmla="val 17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FCA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1334F0-38A5-43DB-9413-3BACDE67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432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잠금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DEED28-CEFA-426A-967E-D68206F3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33750"/>
            <a:ext cx="47529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분석이 완료되었어요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B1B2B0-CCFA-4EF1-9A55-3D405084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004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CC4382-6435-4C0C-A8A4-12649900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200525"/>
            <a:ext cx="4876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이력서와 공고 분석을 마치고 보고서를 임시 저장했어요.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로그인·회원가입 후 추가 분석 없이 확인할 수 있습니다.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56EEEF-AB72-4971-8FD5-781550FB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829175"/>
            <a:ext cx="487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로그인하면 이번 이력서와 보고서를 계정에 연결합니다.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실제 점수·본문은 인증을 마친 뒤 표시합니다.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DCBC6D-3ADF-431A-BF1F-EFF0567B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381625"/>
            <a:ext cx="4876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프론트 서버 임시 보관 · 첫 첨부부터 30분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FED723-74E7-4B50-BDF5-EA38AACB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5372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1C4DED-EFF1-4D1D-8E08-A41FFB17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705475"/>
            <a:ext cx="468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자동 삭제 예정 · 만료 일시 (기기 시간 기준)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B84E8F-10D9-4A7F-B093-AFF1122F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5695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64E31F-E0DB-4D00-8A66-8E3C7BCB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6096000"/>
            <a:ext cx="2324100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285DA8"/>
          </a:solidFill>
          <a:ln xmlns:a="http://schemas.openxmlformats.org/drawingml/2006/main" w="9525">
            <a:solidFill>
              <a:srgbClr val="285DA8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로그인하고 결과 보기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76083E2-8015-4234-9E4E-EFE1144A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9531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7CB4DD-B7CA-4C03-A56B-8672EB32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096000"/>
            <a:ext cx="2447925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회원가입하고 결과 보기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DAE6E89-60A9-4233-93EB-5E382129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9531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C361360-BB67-4BE0-8B6F-606A74CF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6715125"/>
            <a:ext cx="3190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이력서와 결과 파기하기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4833931-2C2F-4A8D-83F4-2BACD3F8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6686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E3E4512-D3BF-4E4D-906C-99F99C64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5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75BDD8CA-6DB1-45BF-B86C-B9B3FD9C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14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잠금 배경</a:t>
            </a:r>
          </a:p>
        </p:txBody>
      </p:sp>
      <p:sp>
        <p:nvSpPr>
          <p:cNvPr id="46" name="feature-1-body">
            <a:extLst xmlns:a="http://schemas.openxmlformats.org/drawingml/2006/main">
              <a:ext uri="{FF2B5EF4-FFF2-40B4-BE49-F238E27FC236}">
                <a16:creationId xmlns:a16="http://schemas.microsoft.com/office/drawing/2014/main" id="{C282E4AD-F136-4FD9-B6DC-6E9CA347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90775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강하게 흐리고 어둡게 처리한 빈 골격이다. 피라미드 결과를 숨기고 배경 조작을 막는다.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D90D4F9-73CB-43F9-83D9-2947050B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72468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C3A4429-A4F7-4E68-B880-4090FF24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29618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49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F4E114E7-0066-42D0-8634-C951C69E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20093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실제 분석 완료</a:t>
            </a:r>
          </a:p>
        </p:txBody>
      </p:sp>
      <p:sp>
        <p:nvSpPr>
          <p:cNvPr id="50" name="feature-2-body">
            <a:extLst xmlns:a="http://schemas.openxmlformats.org/drawingml/2006/main">
              <a:ext uri="{FF2B5EF4-FFF2-40B4-BE49-F238E27FC236}">
                <a16:creationId xmlns:a16="http://schemas.microsoft.com/office/drawing/2014/main" id="{78D27437-4376-4BB9-BF9A-E429CA38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196318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실제 계산과 서버 저장을 완료했을 때 표시한다. 원문·점수는 아직 브라우저에 보내지 않는다.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12C82A7-99B5-4FC4-829E-DECD4073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78011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0AFFD63-51CB-4A1C-B1BA-2811AFD5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35161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53" name="feature-3-title">
            <a:extLst xmlns:a="http://schemas.openxmlformats.org/drawingml/2006/main">
              <a:ext uri="{FF2B5EF4-FFF2-40B4-BE49-F238E27FC236}">
                <a16:creationId xmlns:a16="http://schemas.microsoft.com/office/drawing/2014/main" id="{7E5D8EE0-CE2D-4683-A0E9-49E2725A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725636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임시 보관</a:t>
            </a:r>
          </a:p>
        </p:txBody>
      </p:sp>
      <p:sp>
        <p:nvSpPr>
          <p:cNvPr id="54" name="feature-3-body">
            <a:extLst xmlns:a="http://schemas.openxmlformats.org/drawingml/2006/main">
              <a:ext uri="{FF2B5EF4-FFF2-40B4-BE49-F238E27FC236}">
                <a16:creationId xmlns:a16="http://schemas.microsoft.com/office/drawing/2014/main" id="{9E4BD46C-7EBB-4960-8B58-F2396D28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001861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첫 첨부부터 30분 동안 입력·결과를 임시 보관한다. 새로고침과 로그인 대기로 연장하지 않는다.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D256B06-80B8-4050-BD4B-4969B259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483554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9129EE1-F8C0-45D5-AED0-F8CED5B7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40704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57" name="feature-4-title">
            <a:extLst xmlns:a="http://schemas.openxmlformats.org/drawingml/2006/main">
              <a:ext uri="{FF2B5EF4-FFF2-40B4-BE49-F238E27FC236}">
                <a16:creationId xmlns:a16="http://schemas.microsoft.com/office/drawing/2014/main" id="{446FB955-4D7F-4E4D-92DA-6E6CEBF6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531179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로그인</a:t>
            </a:r>
          </a:p>
        </p:txBody>
      </p:sp>
      <p:sp>
        <p:nvSpPr>
          <p:cNvPr id="58" name="feature-4-body">
            <a:extLst xmlns:a="http://schemas.openxmlformats.org/drawingml/2006/main">
              <a:ext uri="{FF2B5EF4-FFF2-40B4-BE49-F238E27FC236}">
                <a16:creationId xmlns:a16="http://schemas.microsoft.com/office/drawing/2014/main" id="{8035E910-B701-4FC0-8607-59478D9F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07404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인증 후 기존 결과를 계정에 연결한다. 추가 분석 없이 저장한 보고서를 조회한다.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4EB636F-B511-4D94-A6AC-DC46986E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89096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3E665C2-0229-4F8E-94E6-8775A384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346246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61" name="feature-5-title">
            <a:extLst xmlns:a="http://schemas.openxmlformats.org/drawingml/2006/main">
              <a:ext uri="{FF2B5EF4-FFF2-40B4-BE49-F238E27FC236}">
                <a16:creationId xmlns:a16="http://schemas.microsoft.com/office/drawing/2014/main" id="{6D1908A5-2B45-4AB9-BC20-541B9357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336721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회원가입</a:t>
            </a:r>
          </a:p>
        </p:txBody>
      </p:sp>
      <p:sp>
        <p:nvSpPr>
          <p:cNvPr id="62" name="feature-5-body">
            <a:extLst xmlns:a="http://schemas.openxmlformats.org/drawingml/2006/main">
              <a:ext uri="{FF2B5EF4-FFF2-40B4-BE49-F238E27FC236}">
                <a16:creationId xmlns:a16="http://schemas.microsoft.com/office/drawing/2014/main" id="{E693D03A-9337-4F6B-9945-DB850DE3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612946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같은 팝업에 가입 폼을 연다. 이메일 인증이 필요하면 인증·로그인을 안내한다.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87D62C5-F0B1-4B6A-9C8A-674E609C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094639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08872BB-57A3-45CE-85D1-CC72C74C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151789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65" name="feature-6-title">
            <a:extLst xmlns:a="http://schemas.openxmlformats.org/drawingml/2006/main">
              <a:ext uri="{FF2B5EF4-FFF2-40B4-BE49-F238E27FC236}">
                <a16:creationId xmlns:a16="http://schemas.microsoft.com/office/drawing/2014/main" id="{AA4F5B48-E104-4006-AAA4-B77DBD6A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142264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자료 삭제·나가기</a:t>
            </a:r>
          </a:p>
        </p:txBody>
      </p:sp>
      <p:sp>
        <p:nvSpPr>
          <p:cNvPr id="66" name="feature-6-body">
            <a:extLst xmlns:a="http://schemas.openxmlformats.org/drawingml/2006/main">
              <a:ext uri="{FF2B5EF4-FFF2-40B4-BE49-F238E27FC236}">
                <a16:creationId xmlns:a16="http://schemas.microsoft.com/office/drawing/2014/main" id="{13CB61C1-4A60-4916-92D2-CE254DAB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418489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임시 입력과 결과를 파기하고 이력서로 이동한다. 실패하면 팝업 안에서 다시 시도를 안내한다.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6A6D911-4ADD-418F-BD93-B18799AB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00182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697A773-7191-49A6-AC10-9164F705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957332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69" name="feature-7-title">
            <a:extLst xmlns:a="http://schemas.openxmlformats.org/drawingml/2006/main">
              <a:ext uri="{FF2B5EF4-FFF2-40B4-BE49-F238E27FC236}">
                <a16:creationId xmlns:a16="http://schemas.microsoft.com/office/drawing/2014/main" id="{C8C8903D-A4F3-4D58-B505-8AF4344D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47807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만료 예정 시각</a:t>
            </a:r>
          </a:p>
        </p:txBody>
      </p:sp>
      <p:sp>
        <p:nvSpPr>
          <p:cNvPr id="70" name="feature-7-body">
            <a:extLst xmlns:a="http://schemas.openxmlformats.org/drawingml/2006/main">
              <a:ext uri="{FF2B5EF4-FFF2-40B4-BE49-F238E27FC236}">
                <a16:creationId xmlns:a16="http://schemas.microsoft.com/office/drawing/2014/main" id="{5A0BCEB6-6061-4012-9D41-BFD6D090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224032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자동 삭제 시각을 기기 시간 기준으로 표시한다. 안내 팝업은 Escape로 닫히지 않는다.</a:t>
            </a:r>
          </a:p>
        </p:txBody>
      </p:sp>
    </p:spTree>
    <p:extLst>
      <p:ext uri="{BB962C8B-B14F-4D97-AF65-F5344CB8AC3E}">
        <p14:creationId xmlns:p14="http://schemas.microsoft.com/office/powerpoint/2010/main" val="5068065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2421CDF0-671C-46CD-8E20-F00E2703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417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잠금 보고서 · 이메일 인증 팝업</a:t>
            </a:r>
          </a:p>
        </p:txBody>
      </p:sp>
      <p:sp>
        <p:nvSpPr>
          <p:cNvPr id="2" name="screen-route">
            <a:extLst xmlns:a="http://schemas.openxmlformats.org/drawingml/2006/main">
              <a:ext uri="{FF2B5EF4-FFF2-40B4-BE49-F238E27FC236}">
                <a16:creationId xmlns:a16="http://schemas.microsoft.com/office/drawing/2014/main" id="{042236B7-DA76-4D89-A0FD-34DAD703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975"/>
            <a:ext cx="1417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#/email 또는 #/signup · 주요 영역: 로그인 / 회원가입 상태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E5066A-C0FA-4FDE-9732-E29E463B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417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E547EA0A-0FAA-4101-9F17-DC8FB3BA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92202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" name="features-heading">
            <a:extLst xmlns:a="http://schemas.openxmlformats.org/drawingml/2006/main">
              <a:ext uri="{FF2B5EF4-FFF2-40B4-BE49-F238E27FC236}">
                <a16:creationId xmlns:a16="http://schemas.microsoft.com/office/drawing/2014/main" id="{F14B463D-C8CF-4B57-B6C2-A396C96A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621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기능 설명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38D733-78EB-4F1D-9FAC-B4A874BD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71675"/>
            <a:ext cx="461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reen-id">
            <a:extLst xmlns:a="http://schemas.openxmlformats.org/drawingml/2006/main">
              <a:ext uri="{FF2B5EF4-FFF2-40B4-BE49-F238E27FC236}">
                <a16:creationId xmlns:a16="http://schemas.microsoft.com/office/drawing/2014/main" id="{28525B4C-6F46-4DCC-AA29-82FCC06E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CareerLens 프로젝트 2 · 2026.10.13 개정 2 · 현재 구현 화면 구성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5672154-4301-4240-A367-82D3BD34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581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13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09EAA6-1229-4EF5-AD1E-A74C00DB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8839200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E7A3E1-87FA-491C-87D5-64820047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050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로그인 상태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252595-FA58-40C5-938C-CBD6D53E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9050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회원가입 상태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12A1D1-5567-46EB-B059-5013ABBB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4000500" cy="48958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2B73AC-A35E-4432-8C87-358ACE99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05050"/>
            <a:ext cx="4000500" cy="48958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D371E1-265E-4098-BD4C-7269428F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466975"/>
            <a:ext cx="2333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← 안내로 돌아가기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B046B9-CB45-488F-BC04-F976FB0C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288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21C4D5-A264-48BB-BFCC-D64A65FF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466975"/>
            <a:ext cx="2333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← 안내로 돌아가기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B8BC50-B329-48C7-9BCA-D6934412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876550"/>
            <a:ext cx="328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8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이메일로 로그인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6BA6DB-8728-4C28-AA3C-D4B790C2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4194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이메일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880BA2-3D3E-405A-ADD6-5DAAE4F2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705225"/>
            <a:ext cx="3505200" cy="409575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이메일 입력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DE8549-A8C9-4277-AF89-D42C0BD9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62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7E3CB0-5884-4062-9A58-A6D1D53B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2767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비밀번호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8A3E01-71C0-4F02-8DF2-2DC29211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572000"/>
            <a:ext cx="2647950" cy="409575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비밀번호 입력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B443FA-3A9D-47EE-B6B2-0A3531A5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572000"/>
            <a:ext cx="771525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표시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66CA91-58EB-4270-AE48-33AA2763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29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93B9DD-AF4B-4529-BEE8-24178AD0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324475"/>
            <a:ext cx="3505200" cy="42862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285DA8"/>
          </a:solidFill>
          <a:ln xmlns:a="http://schemas.openxmlformats.org/drawingml/2006/main" w="9525">
            <a:solidFill>
              <a:srgbClr val="285DA8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로그인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C7D1B7-E982-4FE6-A3C3-E2AFD83D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911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281E6A-DE68-45AD-B629-34A1070D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924550"/>
            <a:ext cx="3505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계정이 없으신가요? 이메일로 회원가입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3F68BC-AD31-434D-B4BE-3E686A21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6381750"/>
            <a:ext cx="3505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처리 결과 · 인증/입력 오류 안내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E1C96C-B15B-4739-81C0-2C5321F3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63341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1DAC30-1DEC-4543-8C15-0E5A24E7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8199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이력서와 결과 파기하기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8776BF-FD23-46B7-9A4A-875FAF59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7722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2C80B9-D8CB-44EF-AD6D-D8859EDC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876550"/>
            <a:ext cx="3543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나만의 워크스페이스 만들기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72C603-4E52-4E81-82AF-2A2D05ED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324225"/>
            <a:ext cx="3286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D10D23-CC39-4697-B95F-6A8C811A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581400"/>
            <a:ext cx="3505200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이름 입력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E6A4A3-B9EF-4CF3-BCDE-DF0E706D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67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3077A5-1C18-4CA7-8761-B5D8C980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086225"/>
            <a:ext cx="3286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이메일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D77789-62DC-4BF2-94D9-1C4B1B67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343400"/>
            <a:ext cx="3505200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이메일 입력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BDDC87-A453-4DB6-8B61-4AC0E148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848225"/>
            <a:ext cx="3286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비밀번호 · 8~128자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F3CCDE-79FB-477E-8D1F-E526E6F5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105400"/>
            <a:ext cx="2647950" cy="371475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비밀번호 입력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AC6CA4-C29B-4D63-B992-3E3FC3C2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105400"/>
            <a:ext cx="771525" cy="371475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표시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86ECAC2-6A44-4C6C-900A-0D0FEC2D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676900"/>
            <a:ext cx="3505200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285DA8"/>
          </a:solidFill>
          <a:ln xmlns:a="http://schemas.openxmlformats.org/drawingml/2006/main" w="9525">
            <a:solidFill>
              <a:srgbClr val="285DA8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회원가입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7EF63EB-3397-4B88-A688-D8F287D2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6219825"/>
            <a:ext cx="3505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이미 계정이 있으신가요? 로그인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94B409F-64B0-4D61-AF63-9A328724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6581775"/>
            <a:ext cx="3486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인증 필요 시: 이메일 인증 후 이 창에서 로그인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FBA636B-7C84-4AD2-9811-1BF85B37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324725"/>
            <a:ext cx="8277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현재 팀 API: 이메일 인증 · 소셜 로그인/비밀번호 찾기 미지원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75D486-5919-4638-8AC7-869432DA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6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1EF14EAA-CEDC-47AE-AFA2-95DE46CF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14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잠금 안내로 복귀</a:t>
            </a:r>
          </a:p>
        </p:txBody>
      </p:sp>
      <p:sp>
        <p:nvSpPr>
          <p:cNvPr id="47" name="feature-1-body">
            <a:extLst xmlns:a="http://schemas.openxmlformats.org/drawingml/2006/main">
              <a:ext uri="{FF2B5EF4-FFF2-40B4-BE49-F238E27FC236}">
                <a16:creationId xmlns:a16="http://schemas.microsoft.com/office/drawing/2014/main" id="{3927B9F7-D80D-4A01-9B17-8CC5F2AC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90775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안내로 돌아가기 또는 Escape로 기본 안내에 복귀한다. 첨부 자료는 유지한다.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71F1D0B-8967-43DF-950A-704186F7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72468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4AC3EE4-7302-449C-8EF9-47F500CA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29618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50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249B0A61-F7DD-412C-B340-097614D7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20093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이메일 입력</a:t>
            </a:r>
          </a:p>
        </p:txBody>
      </p:sp>
      <p:sp>
        <p:nvSpPr>
          <p:cNvPr id="51" name="feature-2-body">
            <a:extLst xmlns:a="http://schemas.openxmlformats.org/drawingml/2006/main">
              <a:ext uri="{FF2B5EF4-FFF2-40B4-BE49-F238E27FC236}">
                <a16:creationId xmlns:a16="http://schemas.microsoft.com/office/drawing/2014/main" id="{5CEDCCB4-B464-42F2-A815-EBB650AB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196318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로그인·가입 공통 필수값이다. 이메일 형식과 최대 254자를 확인한다.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6934B28-934B-42CE-9428-186E1C3F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78011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BEC0E54-877F-4A3C-B9ED-6EC6007A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35161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54" name="feature-3-title">
            <a:extLst xmlns:a="http://schemas.openxmlformats.org/drawingml/2006/main">
              <a:ext uri="{FF2B5EF4-FFF2-40B4-BE49-F238E27FC236}">
                <a16:creationId xmlns:a16="http://schemas.microsoft.com/office/drawing/2014/main" id="{C547954E-2278-4B5C-A3A0-443CB2FF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725636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비밀번호·표시</a:t>
            </a:r>
          </a:p>
        </p:txBody>
      </p:sp>
      <p:sp>
        <p:nvSpPr>
          <p:cNvPr id="55" name="feature-3-body">
            <a:extLst xmlns:a="http://schemas.openxmlformats.org/drawingml/2006/main">
              <a:ext uri="{FF2B5EF4-FFF2-40B4-BE49-F238E27FC236}">
                <a16:creationId xmlns:a16="http://schemas.microsoft.com/office/drawing/2014/main" id="{D14B15D9-92FF-4269-BFCA-CA889420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001861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표시/숨김을 전환한다. 로그인은 최대 128자, 가입은 8~128자로 입력한다.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6AB886B-0A5F-487F-A283-A632A731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483554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173732D-87F2-46A4-88DD-A771BF38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40704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58" name="feature-4-title">
            <a:extLst xmlns:a="http://schemas.openxmlformats.org/drawingml/2006/main">
              <a:ext uri="{FF2B5EF4-FFF2-40B4-BE49-F238E27FC236}">
                <a16:creationId xmlns:a16="http://schemas.microsoft.com/office/drawing/2014/main" id="{8EAB2BF0-80E3-4FAB-870D-F8C109B0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531179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회원가입 정보</a:t>
            </a:r>
          </a:p>
        </p:txBody>
      </p:sp>
      <p:sp>
        <p:nvSpPr>
          <p:cNvPr id="59" name="feature-4-body">
            <a:extLst xmlns:a="http://schemas.openxmlformats.org/drawingml/2006/main">
              <a:ext uri="{FF2B5EF4-FFF2-40B4-BE49-F238E27FC236}">
                <a16:creationId xmlns:a16="http://schemas.microsoft.com/office/drawing/2014/main" id="{BBC4FEBF-290E-4F94-B7B2-EF0102A7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07404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이름은 필수·최대 80자이다. 이메일과 비밀번호를 입력해 가입한다.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8F533BB-27CC-4D52-A98E-AC1392D6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89096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0C65DF5-F6EA-4FD5-84B9-6D8861DF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346246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62" name="feature-5-title">
            <a:extLst xmlns:a="http://schemas.openxmlformats.org/drawingml/2006/main">
              <a:ext uri="{FF2B5EF4-FFF2-40B4-BE49-F238E27FC236}">
                <a16:creationId xmlns:a16="http://schemas.microsoft.com/office/drawing/2014/main" id="{C04EC4A0-58F5-4DAC-A10F-77455D06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336721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로그인·가입 실행</a:t>
            </a:r>
          </a:p>
        </p:txBody>
      </p:sp>
      <p:sp>
        <p:nvSpPr>
          <p:cNvPr id="63" name="feature-5-body">
            <a:extLst xmlns:a="http://schemas.openxmlformats.org/drawingml/2006/main">
              <a:ext uri="{FF2B5EF4-FFF2-40B4-BE49-F238E27FC236}">
                <a16:creationId xmlns:a16="http://schemas.microsoft.com/office/drawing/2014/main" id="{60AA1791-B411-4C49-B854-6F2E6272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612946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인증 후 기존 보고서를 계정에 연결해 바로 조회한다. 두 번째 분석과 분석 로딩은 실행하지 않는다.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EAD5A56-CD39-4C4B-8D2D-E6FE454D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094639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A9154B3-BDB5-41F5-B99B-5A86F8D5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151789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66" name="feature-6-title">
            <a:extLst xmlns:a="http://schemas.openxmlformats.org/drawingml/2006/main">
              <a:ext uri="{FF2B5EF4-FFF2-40B4-BE49-F238E27FC236}">
                <a16:creationId xmlns:a16="http://schemas.microsoft.com/office/drawing/2014/main" id="{EF0D2768-693F-4981-BC51-C884C880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142264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처리 결과·이메일 인증</a:t>
            </a:r>
          </a:p>
        </p:txBody>
      </p:sp>
      <p:sp>
        <p:nvSpPr>
          <p:cNvPr id="67" name="feature-6-body">
            <a:extLst xmlns:a="http://schemas.openxmlformats.org/drawingml/2006/main">
              <a:ext uri="{FF2B5EF4-FFF2-40B4-BE49-F238E27FC236}">
                <a16:creationId xmlns:a16="http://schemas.microsoft.com/office/drawing/2014/main" id="{652BA769-469F-41F0-8F65-8C41556E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418489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오류와 인증 대기를 안내한다. 인증이 필요하면 메일 확인 후 이 창에서 로그인한다.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FAFCBAE-60CF-485D-ABA8-FDDC1088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00182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9BF8FA1-256A-4A91-A4D1-09917B84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957332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70" name="feature-7-title">
            <a:extLst xmlns:a="http://schemas.openxmlformats.org/drawingml/2006/main">
              <a:ext uri="{FF2B5EF4-FFF2-40B4-BE49-F238E27FC236}">
                <a16:creationId xmlns:a16="http://schemas.microsoft.com/office/drawing/2014/main" id="{95447E3D-C8F6-44C5-9DA3-39226A8E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47807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자료 파기·현재 지원 범위</a:t>
            </a:r>
          </a:p>
        </p:txBody>
      </p:sp>
      <p:sp>
        <p:nvSpPr>
          <p:cNvPr id="71" name="feature-7-body">
            <a:extLst xmlns:a="http://schemas.openxmlformats.org/drawingml/2006/main">
              <a:ext uri="{FF2B5EF4-FFF2-40B4-BE49-F238E27FC236}">
                <a16:creationId xmlns:a16="http://schemas.microsoft.com/office/drawing/2014/main" id="{93800AA4-BCD9-4DED-8284-EF9AEC0D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224032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자료 삭제는 이력서 화면으로 이동한다. 소셜 로그인과 비밀번호 재설정은 미지원이다.</a:t>
            </a:r>
          </a:p>
        </p:txBody>
      </p:sp>
    </p:spTree>
    <p:extLst>
      <p:ext uri="{BB962C8B-B14F-4D97-AF65-F5344CB8AC3E}">
        <p14:creationId xmlns:p14="http://schemas.microsoft.com/office/powerpoint/2010/main" val="4882571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2E3121E7-981A-44F9-B7E1-D7DB670D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417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모의지원 결과 · 핵심 요약</a:t>
            </a:r>
          </a:p>
        </p:txBody>
      </p:sp>
      <p:sp>
        <p:nvSpPr>
          <p:cNvPr id="2" name="screen-route">
            <a:extLst xmlns:a="http://schemas.openxmlformats.org/drawingml/2006/main">
              <a:ext uri="{FF2B5EF4-FFF2-40B4-BE49-F238E27FC236}">
                <a16:creationId xmlns:a16="http://schemas.microsoft.com/office/drawing/2014/main" id="{F7F0E076-4B70-440B-A2A2-C13F57E2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975"/>
            <a:ext cx="1417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#/result 또는 #/reports/{평가 ID} · 주요 영역: 실제 결과의 정보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1C6EDA-7404-4D66-9DCC-B2945BC9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417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1FF89685-6022-4CF5-9153-743B9D92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92202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" name="features-heading">
            <a:extLst xmlns:a="http://schemas.openxmlformats.org/drawingml/2006/main">
              <a:ext uri="{FF2B5EF4-FFF2-40B4-BE49-F238E27FC236}">
                <a16:creationId xmlns:a16="http://schemas.microsoft.com/office/drawing/2014/main" id="{43DDFA37-BDDA-4636-9A49-A3A0CEBB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621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기능 설명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6BB2D9-BDDE-4F45-88D1-697691D1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71675"/>
            <a:ext cx="461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reen-id">
            <a:extLst xmlns:a="http://schemas.openxmlformats.org/drawingml/2006/main">
              <a:ext uri="{FF2B5EF4-FFF2-40B4-BE49-F238E27FC236}">
                <a16:creationId xmlns:a16="http://schemas.microsoft.com/office/drawing/2014/main" id="{98E48CDA-6ADC-4214-AEA7-E4FD9BC6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CareerLens 프로젝트 2 · 2026.10.13 개정 2 · 현재 구현 화면 구성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9D4D887-087B-4332-B679-12537106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581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14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9119F6-4080-4E83-A33F-85345B11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CareerLens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150964-0057-46DD-8727-A70BD347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3357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이력서    채용공고    모의 지원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BDA6A5-EFF7-4E76-A231-5D9305E5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933575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계정명  마이페이지  로그아웃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8DEE5B-9DD6-4C94-B088-8AFC1CA6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883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4792B0-E91C-4934-B836-306A409E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3867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분석 완료  ·  생성일시(KST)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9A182D-15B5-4486-A8E0-DEE681EB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914DA8-D19E-4723-9BA2-38346DF7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466975"/>
            <a:ext cx="1295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377A6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377A6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377A62"/>
                </a:solidFill>
                <a:latin typeface="Malgun Gothic"/>
                <a:ea typeface="Malgun Gothic"/>
                <a:cs typeface="Malgun Gothic"/>
              </a:rPr>
              <a:t>자동 저장됨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2F6FB1-0497-4ECE-86A7-B8F75E99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09825"/>
            <a:ext cx="1362075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저장한 보고서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7764ED-2C49-45DA-A192-40D26AC1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146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F3ED13-3B52-4673-B03F-02A32C15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09825"/>
            <a:ext cx="127635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0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다른 공고로 모의지원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DF3CB2-7538-4CD8-8E11-3D161E0A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146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BD4256-5FC0-4FA6-87DA-771177B9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38475"/>
            <a:ext cx="1838325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7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736F13-95EA-45FF-B4DA-E225BFE9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67075"/>
            <a:ext cx="1533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보고서 목차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5F80D1-C9B8-4ED5-B7DC-EF8DD86F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09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183BC6-86A8-4D98-A6D1-AA849158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00475"/>
            <a:ext cx="152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핵심 요약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84CAE9-FA4D-4F68-BFA5-9E4A6BFC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152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백엔드 평가 결과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8CE3C3-7195-450A-AF54-647FFF11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72025"/>
            <a:ext cx="152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세부 평가 항목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D063D3-2672-4CE8-A121-0E20531D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152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공고별 근거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A99BC7-AA04-49A5-87E2-1103BC7E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43575"/>
            <a:ext cx="152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우선 보완 사항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13A1D4-A975-4CEC-9843-902E47FE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477000"/>
            <a:ext cx="1504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4BB540-0B0F-47DC-8ECD-19BAF5DC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7702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희망 직무 수정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63BF44-5397-414E-80B8-119DDA2B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67550"/>
            <a:ext cx="1543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0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저장본: 보고서 목록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4F4430-E5BE-4785-8FD4-688090B3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38475"/>
            <a:ext cx="655320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89D9AE-3597-458D-994F-14E95482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28975"/>
            <a:ext cx="3371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4개 평가축 점수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35B91F-D338-4D15-91C3-7D100DA3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09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754B75-CF27-4DB6-BF8A-86FBB4E4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623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각 꼭짓점 100점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F40228-B85B-48B2-88E0-AB35B95F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971925"/>
            <a:ext cx="2705100" cy="1724025"/>
          </a:xfrm>
          <a:prstGeom xmlns:a="http://schemas.openxmlformats.org/drawingml/2006/main" prst="roundRect">
            <a:avLst>
              <a:gd name="adj" fmla="val 3867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9525">
            <a:solidFill>
              <a:srgbClr val="91B3D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E85BC7-DF7F-41B0-8056-8E0ECD11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533900"/>
            <a:ext cx="2447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5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4축 피라미드 그래픽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DF85E8-BD7C-4C02-B206-9A1E59FE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895850"/>
            <a:ext cx="245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실제 백엔드 값으로 표시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146421-AFF8-4AAC-92E9-1D2CD214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924550"/>
            <a:ext cx="31242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이력서 완성도  ·  평가값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직무 적합도  ·  평가값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지원 자격 충족도  ·  평가값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실무 경쟁력  ·  평가값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132121-7AF4-4C48-9DE3-08DCAC0C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286125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회사명 · 공고명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F4074D-72D2-4EA2-956F-887796C8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219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091AB05-1015-443B-A307-A111B74C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267200"/>
            <a:ext cx="25908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다음 기회로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이어지는 경험.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522D1DC-B309-4BED-89C0-4FB6EE36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400675"/>
            <a:ext cx="25622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핵심 요약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CD05E98-92EA-4B2D-99C1-9C82C3C3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800725"/>
            <a:ext cx="25622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저장된 이력서와 채용공고를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기준으로 한 실제 평가 요약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0C9A7F2-14AB-48C9-825B-C834AD04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667500"/>
            <a:ext cx="2762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미산정은 0점이 아닙니다.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확인된 점수만 표시합니다.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FF4ACF1-200F-4094-85DB-DD493899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6705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235007C-880A-4553-B6A7-A44A664E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7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22CE4DA9-0961-471C-8FEB-C5505029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14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완료 상태·자동 저장</a:t>
            </a:r>
          </a:p>
        </p:txBody>
      </p:sp>
      <p:sp>
        <p:nvSpPr>
          <p:cNvPr id="48" name="feature-1-body">
            <a:extLst xmlns:a="http://schemas.openxmlformats.org/drawingml/2006/main">
              <a:ext uri="{FF2B5EF4-FFF2-40B4-BE49-F238E27FC236}">
                <a16:creationId xmlns:a16="http://schemas.microsoft.com/office/drawing/2014/main" id="{5E57BA5B-8F00-4810-81E3-818F7715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90775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생성시각과 완료 상태를 표시한다. 일부 확인 필요도 종료된 결과이며 계정에 자동 저장된다.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2998FC2-D85D-44D5-8238-2DFA4AFB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72468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5A6545B-DBA5-4CD7-821D-F04DB877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29618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51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E002F15B-99C3-4CF4-9D82-56A8EAB8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20093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저장한 보고서 열기</a:t>
            </a:r>
          </a:p>
        </p:txBody>
      </p:sp>
      <p:sp>
        <p:nvSpPr>
          <p:cNvPr id="52" name="feature-2-body">
            <a:extLst xmlns:a="http://schemas.openxmlformats.org/drawingml/2006/main">
              <a:ext uri="{FF2B5EF4-FFF2-40B4-BE49-F238E27FC236}">
                <a16:creationId xmlns:a16="http://schemas.microsoft.com/office/drawing/2014/main" id="{8B6D88FC-CE07-4112-9C22-FA58F204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196318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왼쪽 사이드바를 펼쳐 계정에 저장한 다른 보고서를 선택한다.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7BE1535-5171-4555-AC50-D95DE574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78011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08B3AEB-28F6-491F-BA7A-3AC5AD14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35161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55" name="feature-3-title">
            <a:extLst xmlns:a="http://schemas.openxmlformats.org/drawingml/2006/main">
              <a:ext uri="{FF2B5EF4-FFF2-40B4-BE49-F238E27FC236}">
                <a16:creationId xmlns:a16="http://schemas.microsoft.com/office/drawing/2014/main" id="{7A7C8873-7C29-4D1F-8933-EA0238A2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725636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다른 공고로 모의지원</a:t>
            </a:r>
          </a:p>
        </p:txBody>
      </p:sp>
      <p:sp>
        <p:nvSpPr>
          <p:cNvPr id="56" name="feature-3-body">
            <a:extLst xmlns:a="http://schemas.openxmlformats.org/drawingml/2006/main">
              <a:ext uri="{FF2B5EF4-FFF2-40B4-BE49-F238E27FC236}">
                <a16:creationId xmlns:a16="http://schemas.microsoft.com/office/drawing/2014/main" id="{C78D2082-5E8D-45F2-86E3-FC680103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001861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현재 선택 공고가 있을 때 표시한다. 해당 희망 직무의 공고 목록으로 이동한다.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076BFB9-05A3-4C85-9869-2F39AC1E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483554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CD10652-1B3A-4702-BDD6-95480FCE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40704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59" name="feature-4-title">
            <a:extLst xmlns:a="http://schemas.openxmlformats.org/drawingml/2006/main">
              <a:ext uri="{FF2B5EF4-FFF2-40B4-BE49-F238E27FC236}">
                <a16:creationId xmlns:a16="http://schemas.microsoft.com/office/drawing/2014/main" id="{97499BD6-09BB-4279-AF71-51C6EEA6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531179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목차·문맥 이동</a:t>
            </a:r>
          </a:p>
        </p:txBody>
      </p:sp>
      <p:sp>
        <p:nvSpPr>
          <p:cNvPr id="60" name="feature-4-body">
            <a:extLst xmlns:a="http://schemas.openxmlformats.org/drawingml/2006/main">
              <a:ext uri="{FF2B5EF4-FFF2-40B4-BE49-F238E27FC236}">
                <a16:creationId xmlns:a16="http://schemas.microsoft.com/office/drawing/2014/main" id="{154D1ABE-730A-4E68-A5B0-CB4BE4F5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07404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각 본문으로 스크롤한다. 현재 결과는 희망 직무 수정, 저장본은 보고서 목록으로 이동한다.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5C2CCD5-408F-449E-8591-D614E3E1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89096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7A9595D-290D-4896-BB74-2E3F9272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346246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63" name="feature-5-title">
            <a:extLst xmlns:a="http://schemas.openxmlformats.org/drawingml/2006/main">
              <a:ext uri="{FF2B5EF4-FFF2-40B4-BE49-F238E27FC236}">
                <a16:creationId xmlns:a16="http://schemas.microsoft.com/office/drawing/2014/main" id="{D16A0ABA-9C90-43B1-8E16-8BE97666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336721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4축 점수·입체 그래픽</a:t>
            </a:r>
          </a:p>
        </p:txBody>
      </p:sp>
      <p:sp>
        <p:nvSpPr>
          <p:cNvPr id="64" name="feature-5-body">
            <a:extLst xmlns:a="http://schemas.openxmlformats.org/drawingml/2006/main">
              <a:ext uri="{FF2B5EF4-FFF2-40B4-BE49-F238E27FC236}">
                <a16:creationId xmlns:a16="http://schemas.microsoft.com/office/drawing/2014/main" id="{0A57D4A4-AA10-4D6D-8DBC-08B380E8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612946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실제 값을 시각화한다. 마우스·방향키로 관점 변경, 휠·+/−로 확대·축소한다.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868C2AE-A33B-478C-AFD4-3525A768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094639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A0FC801-441C-49E5-9AA6-19C2C3FA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151789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67" name="feature-6-title">
            <a:extLst xmlns:a="http://schemas.openxmlformats.org/drawingml/2006/main">
              <a:ext uri="{FF2B5EF4-FFF2-40B4-BE49-F238E27FC236}">
                <a16:creationId xmlns:a16="http://schemas.microsoft.com/office/drawing/2014/main" id="{14EB24EE-AC04-430C-87CD-1764D98A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142264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대상 공고·핵심 요약</a:t>
            </a:r>
          </a:p>
        </p:txBody>
      </p:sp>
      <p:sp>
        <p:nvSpPr>
          <p:cNvPr id="68" name="feature-6-body">
            <a:extLst xmlns:a="http://schemas.openxmlformats.org/drawingml/2006/main">
              <a:ext uri="{FF2B5EF4-FFF2-40B4-BE49-F238E27FC236}">
                <a16:creationId xmlns:a16="http://schemas.microsoft.com/office/drawing/2014/main" id="{27A9B0CA-88DA-4AB2-AFCA-A78F11E0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418489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해당 보고서의 회사·공고와 요약을 표시한다. 정보가 없으면 미제공 상태를 알린다.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25864CC-E4FD-44B9-AAEC-A1A2007E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00182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6404436-1BDB-4472-AEB9-8BECF89D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957332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71" name="feature-7-title">
            <a:extLst xmlns:a="http://schemas.openxmlformats.org/drawingml/2006/main">
              <a:ext uri="{FF2B5EF4-FFF2-40B4-BE49-F238E27FC236}">
                <a16:creationId xmlns:a16="http://schemas.microsoft.com/office/drawing/2014/main" id="{0545F492-95C5-45DC-A4A9-3FB09B6A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47807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점수 표시 규칙</a:t>
            </a:r>
          </a:p>
        </p:txBody>
      </p:sp>
      <p:sp>
        <p:nvSpPr>
          <p:cNvPr id="72" name="feature-7-body">
            <a:extLst xmlns:a="http://schemas.openxmlformats.org/drawingml/2006/main">
              <a:ext uri="{FF2B5EF4-FFF2-40B4-BE49-F238E27FC236}">
                <a16:creationId xmlns:a16="http://schemas.microsoft.com/office/drawing/2014/main" id="{714F71FA-E777-4A59-ADC9-EDDF0126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224032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숫자는 정수 반올림하고 원본·좌표는 유지한다. 미산정 축은 0점으로 바꾸지 않는다.</a:t>
            </a:r>
          </a:p>
        </p:txBody>
      </p:sp>
    </p:spTree>
    <p:extLst>
      <p:ext uri="{BB962C8B-B14F-4D97-AF65-F5344CB8AC3E}">
        <p14:creationId xmlns:p14="http://schemas.microsoft.com/office/powerpoint/2010/main" val="230599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0646382C-2C65-41FE-91DA-9C4EE96B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417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모의지원 결과 · 세부 평가와 근거</a:t>
            </a:r>
          </a:p>
        </p:txBody>
      </p:sp>
      <p:sp>
        <p:nvSpPr>
          <p:cNvPr id="2" name="screen-route">
            <a:extLst xmlns:a="http://schemas.openxmlformats.org/drawingml/2006/main">
              <a:ext uri="{FF2B5EF4-FFF2-40B4-BE49-F238E27FC236}">
                <a16:creationId xmlns:a16="http://schemas.microsoft.com/office/drawing/2014/main" id="{58B922B0-6AD1-4254-B9CC-DD284757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975"/>
            <a:ext cx="1417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보고서 내부 스크롤 · 아래 본문 구간을 요약 배치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C76324-B42F-4B1E-8E42-2FEA1720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417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D0DDEC62-91B2-4292-B0CD-024E1A86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92202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" name="features-heading">
            <a:extLst xmlns:a="http://schemas.openxmlformats.org/drawingml/2006/main">
              <a:ext uri="{FF2B5EF4-FFF2-40B4-BE49-F238E27FC236}">
                <a16:creationId xmlns:a16="http://schemas.microsoft.com/office/drawing/2014/main" id="{7978CD63-40E0-4DB3-B76B-E0E8DA6E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621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기능 설명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369C80-0D36-4B7D-B9BE-86F38DD0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71675"/>
            <a:ext cx="461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reen-id">
            <a:extLst xmlns:a="http://schemas.openxmlformats.org/drawingml/2006/main">
              <a:ext uri="{FF2B5EF4-FFF2-40B4-BE49-F238E27FC236}">
                <a16:creationId xmlns:a16="http://schemas.microsoft.com/office/drawing/2014/main" id="{B4880C96-0C0B-4937-8725-0F4CE94F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CareerLens 프로젝트 2 · 2026.10.13 개정 2 · 현재 구현 화면 구성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2297507-00D1-4D00-9690-1D12323E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581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15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ED4A6B-3B99-436A-8322-1BF616DC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800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분석 보고서  /  내부 스크롤 본문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8CE810-7B6A-47D1-B79D-E73447AE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352675"/>
            <a:ext cx="57150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FD8C37-2D7C-4172-9BA8-921ED28C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0957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C4D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B84C33-A203-4D01-A34A-CDDD0C22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2E3EAD-AF55-472B-9D1A-7687087D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324100"/>
            <a:ext cx="2828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백엔드 평가 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B091D6-FDD6-4296-94E0-C3BEB3E4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33625"/>
            <a:ext cx="4714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평가 상태  ·  검증 상태  ·  지원 자격 판정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41EDD5-9D85-493E-9EEC-36661FFC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14625"/>
            <a:ext cx="79438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CFDE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BD7E61-7E3A-45F5-84FE-F25A9752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38450"/>
            <a:ext cx="7620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종합점수 · 평가값     |     4개 평가축 · 평가값 / 제공되지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37C913-BC74-44D7-92FB-04C8FADF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432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251891-4CBF-40D4-B810-09B12DE3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343275"/>
            <a:ext cx="747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최종 보고서 본문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4E0204-4B5E-457C-910D-FF8A28A7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05225"/>
            <a:ext cx="7829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백엔드가 반환한 평가 보고서 원문 · 제목, 문단, 목록 등 Markdown 표시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979243-9135-468B-A670-61454F37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95750"/>
            <a:ext cx="792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01657E-F53A-4A48-94FB-AA3A9CDE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D0F594-8A5D-4184-99E7-2E508AD6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238625"/>
            <a:ext cx="7877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세부 평가 항목  ·  4개 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A27806-B1FD-4EB6-94EA-944CDE5F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00575"/>
            <a:ext cx="784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항목명 / 비중 / 점수 / 판정 / 추정 여부 / 근거 / 비교 기준 / 신뢰도 / 검증·이슈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ABCBEC-383C-455C-8A8B-CBD0CB98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5067300"/>
            <a:ext cx="792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F49F7A-7DD8-4E75-84A3-1A9286F6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01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E93040-D6BE-407A-83BB-D7316272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521017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공고 요건과 연결되는 근거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3BAC4A-405E-4D0B-B4D1-F9E8AD7A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219700"/>
            <a:ext cx="3667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항목 수 · 상태 배지 · 요건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E7D4B8-6EBF-4001-AD7B-CD6D39AF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43550"/>
            <a:ext cx="7858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인용 근거와 출처(이력서 / 채용공고) 또는 미제공·평가 제외 안내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8EFE08-659C-4623-8BFA-9445E332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5905500"/>
            <a:ext cx="7924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75816C-7F26-4761-B7AA-A76A4CB7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38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90F346-B5CA-4807-A465-4D1D051D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6038850"/>
            <a:ext cx="3676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잘 드러난 강점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0BEB7A-1710-4B5D-9434-D0857CEB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038850"/>
            <a:ext cx="3676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더 필요한 근거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F62D00-A73A-4805-9F2F-97C341B2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343650"/>
            <a:ext cx="3676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충족한 항목의 근거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70A141-B47B-46C0-B50D-D8F1C0BE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343650"/>
            <a:ext cx="3676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미충족·판정 보류 항목의 근거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9CC787-5D9B-48BE-A4D7-EA88C4B6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7532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69D92B-E9F5-42B5-9B38-FE8036B6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6753225"/>
            <a:ext cx="7915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우선 보완 사항  ·  순번 + 제목 + 개선 제안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944A55-0F5F-423E-AF18-775F223E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7181850"/>
            <a:ext cx="7924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E3E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A8DE83-E72C-49B7-9472-051D3A34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200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443D7A-E076-44EE-8E55-040A15B3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7239000"/>
            <a:ext cx="7705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▸ 점수와 미산정 항목 안내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F41616-4C24-4E23-B180-6A669D65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1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E4346FBB-DD8F-4D61-B29E-82CD4C6D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14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실제 상태·점수</a:t>
            </a:r>
          </a:p>
        </p:txBody>
      </p:sp>
      <p:sp>
        <p:nvSpPr>
          <p:cNvPr id="42" name="feature-1-body">
            <a:extLst xmlns:a="http://schemas.openxmlformats.org/drawingml/2006/main">
              <a:ext uri="{FF2B5EF4-FFF2-40B4-BE49-F238E27FC236}">
                <a16:creationId xmlns:a16="http://schemas.microsoft.com/office/drawing/2014/main" id="{F60EC010-979B-4D18-BE2A-252A2ADD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90775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평가·검증·지원 자격과 종합·4축 점수를 표시한다. 일부 확인 필요의 의미도 안내한다.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6A42E89-B0C5-410A-94B2-EBE37D7E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72468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A57CB9F-3B6C-49BB-86F8-A8A94431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29618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45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930A9286-9BD7-4ED6-AA8D-FBA9A9B6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20093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최종 보고서</a:t>
            </a:r>
          </a:p>
        </p:txBody>
      </p:sp>
      <p:sp>
        <p:nvSpPr>
          <p:cNvPr id="46" name="feature-2-body">
            <a:extLst xmlns:a="http://schemas.openxmlformats.org/drawingml/2006/main">
              <a:ext uri="{FF2B5EF4-FFF2-40B4-BE49-F238E27FC236}">
                <a16:creationId xmlns:a16="http://schemas.microsoft.com/office/drawing/2014/main" id="{6EAC7E60-618E-44AC-BE8A-0E91BC39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196318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백엔드가 제공한 보고서 원문을 표시한다. 본문이 없으면 상태·점수 확인을 안내한다.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AB0CAB4-F316-4345-A6C3-377EC8E7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78011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8F866F4-2270-45A1-9BAD-87CC7CA8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35161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9" name="feature-3-title">
            <a:extLst xmlns:a="http://schemas.openxmlformats.org/drawingml/2006/main">
              <a:ext uri="{FF2B5EF4-FFF2-40B4-BE49-F238E27FC236}">
                <a16:creationId xmlns:a16="http://schemas.microsoft.com/office/drawing/2014/main" id="{88DFDC58-3391-418B-BC20-6CDECC1F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725636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축별 세부 평가</a:t>
            </a:r>
          </a:p>
        </p:txBody>
      </p:sp>
      <p:sp>
        <p:nvSpPr>
          <p:cNvPr id="50" name="feature-3-body">
            <a:extLst xmlns:a="http://schemas.openxmlformats.org/drawingml/2006/main">
              <a:ext uri="{FF2B5EF4-FFF2-40B4-BE49-F238E27FC236}">
                <a16:creationId xmlns:a16="http://schemas.microsoft.com/office/drawing/2014/main" id="{FC7F5DF5-EB63-45E9-B094-7272075C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001861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항목명·비중·점수·판정·근거·신뢰도·검증 등을 제공된 범위에서 표시한다.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CE6A6EC-1206-4165-A452-0B90A4BB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483554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36DAFC2-7359-4A98-827B-597C6ED2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40704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53" name="feature-4-title">
            <a:extLst xmlns:a="http://schemas.openxmlformats.org/drawingml/2006/main">
              <a:ext uri="{FF2B5EF4-FFF2-40B4-BE49-F238E27FC236}">
                <a16:creationId xmlns:a16="http://schemas.microsoft.com/office/drawing/2014/main" id="{52A2E73C-3961-4D8F-AEFF-917897D3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531179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공고별 근거</a:t>
            </a:r>
          </a:p>
        </p:txBody>
      </p:sp>
      <p:sp>
        <p:nvSpPr>
          <p:cNvPr id="54" name="feature-4-body">
            <a:extLst xmlns:a="http://schemas.openxmlformats.org/drawingml/2006/main">
              <a:ext uri="{FF2B5EF4-FFF2-40B4-BE49-F238E27FC236}">
                <a16:creationId xmlns:a16="http://schemas.microsoft.com/office/drawing/2014/main" id="{6374A31A-BC7F-4E5E-9648-EA8E4B64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07404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요건과 인용문·출처를 연결한다. 근거 확인·추가 확인·부족·평가 제외를 구분한다.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6957F98-E700-4D53-9255-CB544E93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89096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D7FECD6-48E3-47B1-8E21-24D04F9A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346246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57" name="feature-5-title">
            <a:extLst xmlns:a="http://schemas.openxmlformats.org/drawingml/2006/main">
              <a:ext uri="{FF2B5EF4-FFF2-40B4-BE49-F238E27FC236}">
                <a16:creationId xmlns:a16="http://schemas.microsoft.com/office/drawing/2014/main" id="{5C2F3721-8F4F-4222-B40F-9AFE1A76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336721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강점·부족한 근거</a:t>
            </a:r>
          </a:p>
        </p:txBody>
      </p:sp>
      <p:sp>
        <p:nvSpPr>
          <p:cNvPr id="58" name="feature-5-body">
            <a:extLst xmlns:a="http://schemas.openxmlformats.org/drawingml/2006/main">
              <a:ext uri="{FF2B5EF4-FFF2-40B4-BE49-F238E27FC236}">
                <a16:creationId xmlns:a16="http://schemas.microsoft.com/office/drawing/2014/main" id="{6441C8FA-B290-430B-B27B-76F253E1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612946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충족한 항목의 근거와 미충족·판정 보류 항목의 추가 확인 내용을 나누어 보여준다.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FE1B3E0-24A3-45EF-B006-6B7AD556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094639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3F8CE40-4FAA-45A6-802A-F06C08EE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151789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61" name="feature-6-title">
            <a:extLst xmlns:a="http://schemas.openxmlformats.org/drawingml/2006/main">
              <a:ext uri="{FF2B5EF4-FFF2-40B4-BE49-F238E27FC236}">
                <a16:creationId xmlns:a16="http://schemas.microsoft.com/office/drawing/2014/main" id="{5DDC6D82-5AEC-4E6C-B04B-A6AD60DB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142264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우선 보완 사항</a:t>
            </a:r>
          </a:p>
        </p:txBody>
      </p:sp>
      <p:sp>
        <p:nvSpPr>
          <p:cNvPr id="62" name="feature-6-body">
            <a:extLst xmlns:a="http://schemas.openxmlformats.org/drawingml/2006/main">
              <a:ext uri="{FF2B5EF4-FFF2-40B4-BE49-F238E27FC236}">
                <a16:creationId xmlns:a16="http://schemas.microsoft.com/office/drawing/2014/main" id="{51EF7962-4F0C-4BF0-BF5A-84D78459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418489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개선 제안을 번호·제목·내용으로 표시한다. 제안이 없으면 미제공 안내를 표시한다.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2E1829C-EDB4-473D-ADC8-6C3BF668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00182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10011BD-969B-4B0D-8979-0195486F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957332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65" name="feature-7-title">
            <a:extLst xmlns:a="http://schemas.openxmlformats.org/drawingml/2006/main">
              <a:ext uri="{FF2B5EF4-FFF2-40B4-BE49-F238E27FC236}">
                <a16:creationId xmlns:a16="http://schemas.microsoft.com/office/drawing/2014/main" id="{7F25B96C-5D32-41A9-A7B9-14F96172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47807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산정 안내·본문 읽기</a:t>
            </a:r>
          </a:p>
        </p:txBody>
      </p:sp>
      <p:sp>
        <p:nvSpPr>
          <p:cNvPr id="66" name="feature-7-body">
            <a:extLst xmlns:a="http://schemas.openxmlformats.org/drawingml/2006/main">
              <a:ext uri="{FF2B5EF4-FFF2-40B4-BE49-F238E27FC236}">
                <a16:creationId xmlns:a16="http://schemas.microsoft.com/office/drawing/2014/main" id="{5DF8F8A1-9DEB-4C72-8E0A-79387037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224032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점수·반올림·미산정 규칙을 펼쳐 확인한다. 본문은 내부 스크롤하며 출력 버튼은 없다.</a:t>
            </a:r>
          </a:p>
        </p:txBody>
      </p:sp>
    </p:spTree>
    <p:extLst>
      <p:ext uri="{BB962C8B-B14F-4D97-AF65-F5344CB8AC3E}">
        <p14:creationId xmlns:p14="http://schemas.microsoft.com/office/powerpoint/2010/main" val="72470948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DBDBAA73-E130-454D-BBA7-366E14B8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417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저장한 보고서 · 좌측 사이드바</a:t>
            </a:r>
          </a:p>
        </p:txBody>
      </p:sp>
      <p:sp>
        <p:nvSpPr>
          <p:cNvPr id="2" name="screen-route">
            <a:extLst xmlns:a="http://schemas.openxmlformats.org/drawingml/2006/main">
              <a:ext uri="{FF2B5EF4-FFF2-40B4-BE49-F238E27FC236}">
                <a16:creationId xmlns:a16="http://schemas.microsoft.com/office/drawing/2014/main" id="{14FC0C9E-832C-44C3-8341-21544EC1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975"/>
            <a:ext cx="1417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결과 화면의 주요 영역 · 넓은 화면: 고정 좌측 / 좁은 화면: 서랍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515FA-FA55-4EB9-BCD5-C69D9247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417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804B8264-84C0-4A57-894E-B30B06D4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92202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" name="features-heading">
            <a:extLst xmlns:a="http://schemas.openxmlformats.org/drawingml/2006/main">
              <a:ext uri="{FF2B5EF4-FFF2-40B4-BE49-F238E27FC236}">
                <a16:creationId xmlns:a16="http://schemas.microsoft.com/office/drawing/2014/main" id="{0296FEEC-FCA9-416D-9648-587F9A44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621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기능 설명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AB06D8-03F3-4F5E-92A1-68533AF8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71675"/>
            <a:ext cx="461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reen-id">
            <a:extLst xmlns:a="http://schemas.openxmlformats.org/drawingml/2006/main">
              <a:ext uri="{FF2B5EF4-FFF2-40B4-BE49-F238E27FC236}">
                <a16:creationId xmlns:a16="http://schemas.microsoft.com/office/drawing/2014/main" id="{D8A763BA-5D11-4569-921E-BAFD594F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CareerLens 프로젝트 2 · 2026.10.13 개정 2 · 현재 구현 화면 구성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BDB854E-E500-44A2-8D6D-95875039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581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16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E34B75-F630-412D-BAE4-80E34240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CareerLens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AAD276-CF0A-442B-A122-FAB9C6C5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3357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이력서    채용공고    모의 지원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89D50D-9F7D-4DD8-B79C-CDED9961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933575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계정명  마이페이지  로그아웃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270A91-6E6A-47C8-95D8-DF46986C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883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427482-FC3E-4E8D-90E4-2262599C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050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분석 완료  ·  자동 저장됨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6DFFDC-5F0F-4389-A66E-F2138858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438400"/>
            <a:ext cx="1609725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저장한 보고서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A182D0-C448-4A19-8C23-EAE091CC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505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0ACC38-7FB5-4D1F-9950-604E92B7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47925"/>
            <a:ext cx="28194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B8C7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999C17-A11E-465B-96E2-871E0FAD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619375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저장한 보고서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FB49C9-0518-4857-B4D3-2BF9A584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581275"/>
            <a:ext cx="466725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0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접기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86C6CE-A5DA-4E5B-8817-0FA3BA2C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09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DB9BE0-D862-4290-B65F-6E645BFB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0375"/>
            <a:ext cx="2228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보고서를 선택해 다시 확인하세요.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E8DA9E-4E75-4575-98AE-BEE81253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0"/>
            <a:ext cx="2362200" cy="9334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024B37-1860-46DC-BA4B-1EE8872F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52825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회사명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4ABCCA-8ED0-4F80-94C0-3C6CB616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38575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공고명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A350E6-79EC-4556-9FD5-B60F82E8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33850"/>
            <a:ext cx="2038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0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생성일시 KST · 완료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B56DA3-9FEA-49D7-B984-C45FDB9C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9CD35B-05B4-4563-AD3F-674BE0C8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14850"/>
            <a:ext cx="2362200" cy="942975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5FBF7"/>
          </a:solidFill>
          <a:ln xmlns:a="http://schemas.openxmlformats.org/drawingml/2006/main" w="19050">
            <a:solidFill>
              <a:srgbClr val="377A6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D1D222-B9D4-4F2F-BE04-DF0439F5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38675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회사명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34FC39-9871-4026-BCC6-83895D9A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24425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공고명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451985-7E6F-4620-AD6E-8ECECEA7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9700"/>
            <a:ext cx="2038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377A6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050" b="0">
                <a:solidFill>
                  <a:srgbClr val="377A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377A62"/>
                </a:solidFill>
                <a:latin typeface="Malgun Gothic"/>
                <a:ea typeface="Malgun Gothic"/>
                <a:cs typeface="Malgun Gothic"/>
              </a:rPr>
              <a:t>생성일시 KST · 현재 보고서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9B4E07-30AE-4562-BAC0-24B4B5FD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76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51B295-7007-4732-97F1-1B3A48CD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29275"/>
            <a:ext cx="2362200" cy="58102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268B77-2701-4A8C-AFE2-35CDEEF2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2038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회사 · 공고명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5E8B45-219B-416F-97F9-0BF8D6A0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91225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0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생성일시 · 일부 확인 필요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49C00F-5D6F-424F-89D8-F2F33E74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48050"/>
            <a:ext cx="47625" cy="2771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9F1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7405E1-C930-4B0C-82E1-427E542A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9575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FD3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A58675-41C2-4474-A7A7-FC221137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6324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F719F6-9EF5-431F-84D6-60840072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6619875"/>
            <a:ext cx="2257425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더 불러오기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B35214-3199-4564-ACBC-74086AA6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543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5DED3D-9636-4454-81EC-EDED6014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718185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마이페이지에서 전체 보기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D5D753F-1B32-48EA-BDED-E00EBC22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143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A89418-366C-437B-BBC1-2B0E2D78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95625"/>
            <a:ext cx="5543550" cy="439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F01CD5-5B1E-4C19-BBEA-FBD9D219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343275"/>
            <a:ext cx="501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회사 · 공고명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F797371-192C-442F-95F6-D3DC0FDC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000500"/>
            <a:ext cx="49434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BDD2E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9C586C5-1232-4074-B807-382CEE4B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562475"/>
            <a:ext cx="4600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65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선택한 보고서의 4축 그래픽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A6CACA9-C44A-4AB8-B279-8A211D97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895975"/>
            <a:ext cx="4905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핵심 요약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ED3B9AF-E898-400E-8B3D-AEBFC753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6372225"/>
            <a:ext cx="4905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선택한 저장 보고서의 평가 결과를 표시합니다.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2909300-5794-4D73-810C-39889631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8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8099289E-3994-4CC1-848F-7CC30408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14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사이드바 열기·접기</a:t>
            </a:r>
          </a:p>
        </p:txBody>
      </p:sp>
      <p:sp>
        <p:nvSpPr>
          <p:cNvPr id="49" name="feature-1-body">
            <a:extLst xmlns:a="http://schemas.openxmlformats.org/drawingml/2006/main">
              <a:ext uri="{FF2B5EF4-FFF2-40B4-BE49-F238E27FC236}">
                <a16:creationId xmlns:a16="http://schemas.microsoft.com/office/drawing/2014/main" id="{C55C5AB9-7913-40F7-87DF-DC3EED0E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90775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보고서 상단 버튼으로 저장 목록을 펼친다. 다시 누르면 접는다.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42AF7B0-92B0-4EB3-A43A-EAC8725F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72468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DA27F88-8F33-4269-A2B9-5B3F1389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29618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52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354DA465-AB31-47C3-BD84-BB63724F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20093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저장 보고서 선택</a:t>
            </a:r>
          </a:p>
        </p:txBody>
      </p:sp>
      <p:sp>
        <p:nvSpPr>
          <p:cNvPr id="53" name="feature-2-body">
            <a:extLst xmlns:a="http://schemas.openxmlformats.org/drawingml/2006/main">
              <a:ext uri="{FF2B5EF4-FFF2-40B4-BE49-F238E27FC236}">
                <a16:creationId xmlns:a16="http://schemas.microsoft.com/office/drawing/2014/main" id="{4F5D62AC-3FBA-4361-A244-671F8146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196318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회사·공고·생성일시·상태를 표시한다. 누르면 해당 보고서를 열며 서버 순서를 유지한다.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2F94F14-60D6-40CF-891C-E9657423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78011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FD5091A-EFBC-4DF8-960B-E3CA1EB8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35161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56" name="feature-3-title">
            <a:extLst xmlns:a="http://schemas.openxmlformats.org/drawingml/2006/main">
              <a:ext uri="{FF2B5EF4-FFF2-40B4-BE49-F238E27FC236}">
                <a16:creationId xmlns:a16="http://schemas.microsoft.com/office/drawing/2014/main" id="{2DEBA138-0985-4A7D-9B5E-B4F9EEE3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725636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현재 보고서</a:t>
            </a:r>
          </a:p>
        </p:txBody>
      </p:sp>
      <p:sp>
        <p:nvSpPr>
          <p:cNvPr id="57" name="feature-3-body">
            <a:extLst xmlns:a="http://schemas.openxmlformats.org/drawingml/2006/main">
              <a:ext uri="{FF2B5EF4-FFF2-40B4-BE49-F238E27FC236}">
                <a16:creationId xmlns:a16="http://schemas.microsoft.com/office/drawing/2014/main" id="{C31CEB6C-44A9-40D2-B143-1170C183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001861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초록 테두리와 텍스트로 표시한다. 현재 항목을 맨 위로 옮기거나 재클릭해 이동하지 않는다.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46D2B5D-54DD-41A3-A141-5FEB2E77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483554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EBE5D4B-6DA3-44CC-B991-DD6BFFD2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40704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60" name="feature-4-title">
            <a:extLst xmlns:a="http://schemas.openxmlformats.org/drawingml/2006/main">
              <a:ext uri="{FF2B5EF4-FFF2-40B4-BE49-F238E27FC236}">
                <a16:creationId xmlns:a16="http://schemas.microsoft.com/office/drawing/2014/main" id="{672A9FC4-9E6B-47C2-9C09-F6595761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531179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추가 조회·재시도</a:t>
            </a:r>
          </a:p>
        </p:txBody>
      </p:sp>
      <p:sp>
        <p:nvSpPr>
          <p:cNvPr id="61" name="feature-4-body">
            <a:extLst xmlns:a="http://schemas.openxmlformats.org/drawingml/2006/main">
              <a:ext uri="{FF2B5EF4-FFF2-40B4-BE49-F238E27FC236}">
                <a16:creationId xmlns:a16="http://schemas.microsoft.com/office/drawing/2014/main" id="{7F7E0F0C-C106-465E-95F5-5ABA2C36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07404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다음 기록을 더 불러온다. 실패하면 다시 불러오기를 제공하고, 빈 목록도 안내한다.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E4F2946-B537-45E6-8A09-5D7976AA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89096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9703488-833E-4D16-9A04-6028C5CA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346246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64" name="feature-5-title">
            <a:extLst xmlns:a="http://schemas.openxmlformats.org/drawingml/2006/main">
              <a:ext uri="{FF2B5EF4-FFF2-40B4-BE49-F238E27FC236}">
                <a16:creationId xmlns:a16="http://schemas.microsoft.com/office/drawing/2014/main" id="{65AA063A-7BFF-466E-BED6-F1718019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336721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목록 위치 유지</a:t>
            </a:r>
          </a:p>
        </p:txBody>
      </p:sp>
      <p:sp>
        <p:nvSpPr>
          <p:cNvPr id="65" name="feature-5-body">
            <a:extLst xmlns:a="http://schemas.openxmlformats.org/drawingml/2006/main">
              <a:ext uri="{FF2B5EF4-FFF2-40B4-BE49-F238E27FC236}">
                <a16:creationId xmlns:a16="http://schemas.microsoft.com/office/drawing/2014/main" id="{9A52625A-5A50-468E-9FF1-CC3E27A3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612946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현재 보고서 위치를 찾고 스크롤을 복원한다. 방향키·Home·End로 항목을 이동한다.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9AAB1CC-C991-42D4-97E6-BF9AB86C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094639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5B34335-3DBE-40CB-A86F-DA51B316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151789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68" name="feature-6-title">
            <a:extLst xmlns:a="http://schemas.openxmlformats.org/drawingml/2006/main">
              <a:ext uri="{FF2B5EF4-FFF2-40B4-BE49-F238E27FC236}">
                <a16:creationId xmlns:a16="http://schemas.microsoft.com/office/drawing/2014/main" id="{62269F54-1CF8-4767-A078-3AA393BF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142264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닫기·좁은 화면</a:t>
            </a:r>
          </a:p>
        </p:txBody>
      </p:sp>
      <p:sp>
        <p:nvSpPr>
          <p:cNvPr id="69" name="feature-6-body">
            <a:extLst xmlns:a="http://schemas.openxmlformats.org/drawingml/2006/main">
              <a:ext uri="{FF2B5EF4-FFF2-40B4-BE49-F238E27FC236}">
                <a16:creationId xmlns:a16="http://schemas.microsoft.com/office/drawing/2014/main" id="{9777DC40-1923-44DC-AE24-183945D0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418489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접기·Escape로 닫는다. 1200px 이하에서는 서랍이며 바깥 영역 클릭으로도 닫는다.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0F42BD8-B9D8-4C9E-8020-6DA93579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00182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3F38DB1-C61A-4F18-B564-2B210DB5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957332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72" name="feature-7-title">
            <a:extLst xmlns:a="http://schemas.openxmlformats.org/drawingml/2006/main">
              <a:ext uri="{FF2B5EF4-FFF2-40B4-BE49-F238E27FC236}">
                <a16:creationId xmlns:a16="http://schemas.microsoft.com/office/drawing/2014/main" id="{41B3BDF7-9859-4E58-9C92-B04921B8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47807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전체 목록 보기</a:t>
            </a:r>
          </a:p>
        </p:txBody>
      </p:sp>
      <p:sp>
        <p:nvSpPr>
          <p:cNvPr id="73" name="feature-7-body">
            <a:extLst xmlns:a="http://schemas.openxmlformats.org/drawingml/2006/main">
              <a:ext uri="{FF2B5EF4-FFF2-40B4-BE49-F238E27FC236}">
                <a16:creationId xmlns:a16="http://schemas.microsoft.com/office/drawing/2014/main" id="{6A0EAA81-43CD-4CE5-B583-37EE3A7A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224032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마이페이지의 저장 보고서 목록으로 이동해 검색·상태 필터를 이용한다.</a:t>
            </a:r>
          </a:p>
        </p:txBody>
      </p:sp>
    </p:spTree>
    <p:extLst>
      <p:ext uri="{BB962C8B-B14F-4D97-AF65-F5344CB8AC3E}">
        <p14:creationId xmlns:p14="http://schemas.microsoft.com/office/powerpoint/2010/main" val="40682789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300264C2-DAE3-4223-9D5C-5F999158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417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마이페이지 · 계정과 저장 보고서</a:t>
            </a:r>
          </a:p>
        </p:txBody>
      </p:sp>
      <p:sp>
        <p:nvSpPr>
          <p:cNvPr id="2" name="screen-route">
            <a:extLst xmlns:a="http://schemas.openxmlformats.org/drawingml/2006/main">
              <a:ext uri="{FF2B5EF4-FFF2-40B4-BE49-F238E27FC236}">
                <a16:creationId xmlns:a16="http://schemas.microsoft.com/office/drawing/2014/main" id="{3BA8CB5A-7BBD-4232-B6E0-B5FA17D3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975"/>
            <a:ext cx="1417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#/mypage · 로그인 필요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8B92E8-5A5F-4DF0-9CCA-1D0CD1CD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417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AF65661D-8C42-4B1C-A4C4-7FC69D2D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92202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" name="features-heading">
            <a:extLst xmlns:a="http://schemas.openxmlformats.org/drawingml/2006/main">
              <a:ext uri="{FF2B5EF4-FFF2-40B4-BE49-F238E27FC236}">
                <a16:creationId xmlns:a16="http://schemas.microsoft.com/office/drawing/2014/main" id="{C2851960-5AEF-400E-BF5E-B34FEDCE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621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기능 설명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3EE7DD-BE44-43B5-970A-40B48C50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71675"/>
            <a:ext cx="461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reen-id">
            <a:extLst xmlns:a="http://schemas.openxmlformats.org/drawingml/2006/main">
              <a:ext uri="{FF2B5EF4-FFF2-40B4-BE49-F238E27FC236}">
                <a16:creationId xmlns:a16="http://schemas.microsoft.com/office/drawing/2014/main" id="{12F80CD5-35C0-4DA5-A3F0-51192C6B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CareerLens 프로젝트 2 · 2026.10.13 개정 2 · 현재 구현 화면 구성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239BD69-B24E-4F89-BC13-110876FE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581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17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9C885C-B3C8-467B-B189-8F837380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CareerLens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96A0EF-3277-4F6B-BF1E-41A5974D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3357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이력서    채용공고    모의 지원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A7536D-814F-4A18-93B4-240FFD79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933575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계정명  마이페이지  로그아웃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864623-2614-47B6-8235-9ADC981C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883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8EC79D-26A1-473F-B73B-CA74E04C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476500"/>
            <a:ext cx="35528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마이페이지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B6C5F7-1B97-4238-A10D-E5B36EBF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466975"/>
            <a:ext cx="14859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이력서로 가기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AC6582-23BC-4473-B1D4-7425F4ED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66975"/>
            <a:ext cx="116205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대시보드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FEFFB3-AB31-43B0-AB19-CA41CC1B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514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2DED56-DEFB-4A94-85AF-05A11346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57525"/>
            <a:ext cx="20383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0E6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01724C-BD83-4DDC-B537-AB85F7AA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17049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로그인 계정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5E2D25-B6C4-47AD-8620-B8872B11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209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77DA67-1D25-4E29-951B-0D1C107A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24300"/>
            <a:ext cx="1647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C67223-5108-4148-8895-4162D83B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229100"/>
            <a:ext cx="1647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계정명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031A29-86ED-49C3-896A-69350888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867275"/>
            <a:ext cx="1647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이메일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AC525F-81BA-48BA-9472-4CE5B8BB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172075"/>
            <a:ext cx="1647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계정 이메일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4B148A-BAD1-44C3-87E3-957B6873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372225"/>
            <a:ext cx="16478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로그인한 계정의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저장 보고서를 확인합니다.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CF4CF0-7E92-4755-AE54-AFA2D2D5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1051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저장한 분석 보고서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7C58C4-AB0E-4CDA-B2FC-7285070F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133725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현재 분석 결과로 돌아가기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32CE16-1007-41B4-8BFA-30F45A51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514725"/>
            <a:ext cx="6172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자동 저장 · 삭제를 지원하는 보고서만 선택·삭제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0BFD1F-CB18-4CE9-81AF-42454B28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952875"/>
            <a:ext cx="3876675" cy="390525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회사, 직무 또는 평가 ID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7278E7-761E-4935-960E-DAE7125F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52875"/>
            <a:ext cx="2200275" cy="390525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전체 상태 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DB9947-9F78-48BD-9216-5D64489E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8195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FED689-2553-4EA9-9D66-C077D692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44817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불러온 기록 중 표시 · 미조회 기록은 검색에서 제외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E5C5D0-6883-4C83-A180-FFD19331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82917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□ 현재 목록 전체 선택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7A90CF-56B7-4A10-BA14-E79424AB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781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3A55A4-152D-485A-9C71-A23CE240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772025"/>
            <a:ext cx="1419225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9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선택 삭제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048CE5-05E7-4FB9-815C-49677AC7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724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1FB7E5-87EC-4EEE-B964-EAC1AD45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5210175"/>
            <a:ext cx="61817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8F017F-E2AA-461D-BB53-8D155C0F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5054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□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AD32FC-D4C7-4AEA-88ED-D3525F84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372100"/>
            <a:ext cx="3810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회사명  ·  공고명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4C1AF4-BC34-4AB4-B6B7-3E081AD4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7245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생성일시(KST)  ·  완료 / 일부 확인 필요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A9B094-3498-4D63-A6CC-5DD4825A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6038850"/>
            <a:ext cx="381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평가 ID  ·  식별자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E1B7FC-E43C-4061-8A7D-63242EEC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419725"/>
            <a:ext cx="1504950" cy="35242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보고서 보기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A047218-8991-4E17-BDB7-E0D4DAEF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2482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D6A5941-2EC3-40F8-A4FA-BFD53595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915025"/>
            <a:ext cx="76200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2E9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삭제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0F2592B-2462-484B-91B0-F52C5563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438900"/>
            <a:ext cx="61817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0FD4D8-655D-4246-A02F-BC3D18E4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6562725"/>
            <a:ext cx="6134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공고 정보 조회 실패 시: 공고 정보 다시 불러오기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B6EFEEB-AB96-4C7E-A8C3-C7CC5897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7019925"/>
            <a:ext cx="2257425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더 불러오기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CE0607-D88B-4B38-B9EF-694D980A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7067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BEDFDC8-20FB-4217-97FF-9CBE1C0D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9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1E22FFD9-C72C-4394-9996-6DA362D0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14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로그인 계정</a:t>
            </a:r>
          </a:p>
        </p:txBody>
      </p:sp>
      <p:sp>
        <p:nvSpPr>
          <p:cNvPr id="50" name="feature-1-body">
            <a:extLst xmlns:a="http://schemas.openxmlformats.org/drawingml/2006/main">
              <a:ext uri="{FF2B5EF4-FFF2-40B4-BE49-F238E27FC236}">
                <a16:creationId xmlns:a16="http://schemas.microsoft.com/office/drawing/2014/main" id="{331E7C25-E114-47CD-B868-43B53DBC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90775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이름과 이메일을 있는 범위에서 표시한다. 비회원은 로그인 후 이용한다.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DD00B1A-9A0F-488F-8F61-286D316B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72468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69726FC-73D1-4B24-A5B6-6FC434B2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29618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53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70E41596-D62F-44C7-A984-C6D4E197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20093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화면 바로가기</a:t>
            </a:r>
          </a:p>
        </p:txBody>
      </p:sp>
      <p:sp>
        <p:nvSpPr>
          <p:cNvPr id="54" name="feature-2-body">
            <a:extLst xmlns:a="http://schemas.openxmlformats.org/drawingml/2006/main">
              <a:ext uri="{FF2B5EF4-FFF2-40B4-BE49-F238E27FC236}">
                <a16:creationId xmlns:a16="http://schemas.microsoft.com/office/drawing/2014/main" id="{95DA13F2-21C1-4E88-A1E6-C1C1FCC5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196318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대시보드·이용 흐름은 모든 로그인 회원이 같은 탭에서 연다. 관리자 지정은 필요 없다.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65FCE04-69BB-4F72-B593-32199964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78011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4895A16-BCE1-4BB0-808E-0A1BE327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35161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57" name="feature-3-title">
            <a:extLst xmlns:a="http://schemas.openxmlformats.org/drawingml/2006/main">
              <a:ext uri="{FF2B5EF4-FFF2-40B4-BE49-F238E27FC236}">
                <a16:creationId xmlns:a16="http://schemas.microsoft.com/office/drawing/2014/main" id="{72A3F345-6071-4695-AAAB-F7629002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725636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검색·상태 필터</a:t>
            </a:r>
          </a:p>
        </p:txBody>
      </p:sp>
      <p:sp>
        <p:nvSpPr>
          <p:cNvPr id="58" name="feature-3-body">
            <a:extLst xmlns:a="http://schemas.openxmlformats.org/drawingml/2006/main">
              <a:ext uri="{FF2B5EF4-FFF2-40B4-BE49-F238E27FC236}">
                <a16:creationId xmlns:a16="http://schemas.microsoft.com/office/drawing/2014/main" id="{7255C6C6-DD6B-45D1-A12E-AB8091DF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001861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불러온 기록의 회사·직무·평가 ID를 검색하고 완료/일부 확인 필요로 필터한다.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328F90A-252C-4108-9065-5C93D1A3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483554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6E93F62-C9D2-41AF-99A2-DA3ACF57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40704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61" name="feature-4-title">
            <a:extLst xmlns:a="http://schemas.openxmlformats.org/drawingml/2006/main">
              <a:ext uri="{FF2B5EF4-FFF2-40B4-BE49-F238E27FC236}">
                <a16:creationId xmlns:a16="http://schemas.microsoft.com/office/drawing/2014/main" id="{262D53BE-B48A-47E9-9311-F21282DC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531179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개별·전체 선택</a:t>
            </a:r>
          </a:p>
        </p:txBody>
      </p:sp>
      <p:sp>
        <p:nvSpPr>
          <p:cNvPr id="62" name="feature-4-body">
            <a:extLst xmlns:a="http://schemas.openxmlformats.org/drawingml/2006/main">
              <a:ext uri="{FF2B5EF4-FFF2-40B4-BE49-F238E27FC236}">
                <a16:creationId xmlns:a16="http://schemas.microsoft.com/office/drawing/2014/main" id="{618B7FB4-C55F-4823-BB7E-F6298E37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07404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삭제를 지원하는 보고서만 선택한다. 현재 목록 밖의 선택 수와 총 선택 수를 함께 표시한다.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DD18C1D-8E4F-477A-8A1B-AD39A366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89096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0357AF0-F0FD-4224-95D1-4F5FBE2B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346246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65" name="feature-5-title">
            <a:extLst xmlns:a="http://schemas.openxmlformats.org/drawingml/2006/main">
              <a:ext uri="{FF2B5EF4-FFF2-40B4-BE49-F238E27FC236}">
                <a16:creationId xmlns:a16="http://schemas.microsoft.com/office/drawing/2014/main" id="{F47A5FDA-0C5D-49CF-810D-31B3F0F9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336721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저장 보고서 열기</a:t>
            </a:r>
          </a:p>
        </p:txBody>
      </p:sp>
      <p:sp>
        <p:nvSpPr>
          <p:cNvPr id="66" name="feature-5-body">
            <a:extLst xmlns:a="http://schemas.openxmlformats.org/drawingml/2006/main">
              <a:ext uri="{FF2B5EF4-FFF2-40B4-BE49-F238E27FC236}">
                <a16:creationId xmlns:a16="http://schemas.microsoft.com/office/drawing/2014/main" id="{BDD0D4D9-04BB-4634-BB9B-DB6FC0C5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612946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회사·공고·시각·상태·평가 ID를 확인하고 연다. 일부 확인 필요는 종료된 결과이다.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0FC6DDC-33A5-4568-9919-2001ECFA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094639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7E790BE-CCBB-4708-B6CC-8201B2EB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151789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69" name="feature-6-title">
            <a:extLst xmlns:a="http://schemas.openxmlformats.org/drawingml/2006/main">
              <a:ext uri="{FF2B5EF4-FFF2-40B4-BE49-F238E27FC236}">
                <a16:creationId xmlns:a16="http://schemas.microsoft.com/office/drawing/2014/main" id="{E7D906F7-EDC1-4831-97A4-05140665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142264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지원되는 보고서 삭제</a:t>
            </a:r>
          </a:p>
        </p:txBody>
      </p:sp>
      <p:sp>
        <p:nvSpPr>
          <p:cNvPr id="70" name="feature-6-body">
            <a:extLst xmlns:a="http://schemas.openxmlformats.org/drawingml/2006/main">
              <a:ext uri="{FF2B5EF4-FFF2-40B4-BE49-F238E27FC236}">
                <a16:creationId xmlns:a16="http://schemas.microsoft.com/office/drawing/2014/main" id="{79C51EA6-928C-4A84-9DCF-AB1972C0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418489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프론트 저장 보고서만 삭제를 지원한다. 성공한 항목만 제거하며 실패한 항목은 남긴다.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E702023-DBD4-4CC0-8C6E-E65E76B3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00182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1B32D6F-9A24-463A-A3EF-0B807CA4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957332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73" name="feature-7-title">
            <a:extLst xmlns:a="http://schemas.openxmlformats.org/drawingml/2006/main">
              <a:ext uri="{FF2B5EF4-FFF2-40B4-BE49-F238E27FC236}">
                <a16:creationId xmlns:a16="http://schemas.microsoft.com/office/drawing/2014/main" id="{50518D2F-0DCB-43F8-8E7D-C48465CA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47807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추가 조회·오류 안내</a:t>
            </a:r>
          </a:p>
        </p:txBody>
      </p:sp>
      <p:sp>
        <p:nvSpPr>
          <p:cNvPr id="74" name="feature-7-body">
            <a:extLst xmlns:a="http://schemas.openxmlformats.org/drawingml/2006/main">
              <a:ext uri="{FF2B5EF4-FFF2-40B4-BE49-F238E27FC236}">
                <a16:creationId xmlns:a16="http://schemas.microsoft.com/office/drawing/2014/main" id="{84487082-57BC-4554-98F3-B067268C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224032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더 불러오기와 실패 시 재시도를 제공한다. 빈 목록·검색 불일치·공고 정보 오류도 안내한다.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67C6742-BD60-49B8-A417-88CE4430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66975"/>
            <a:ext cx="11620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이용 흐름</a:t>
            </a:r>
          </a:p>
        </p:txBody>
      </p:sp>
    </p:spTree>
    <p:extLst>
      <p:ext uri="{BB962C8B-B14F-4D97-AF65-F5344CB8AC3E}">
        <p14:creationId xmlns:p14="http://schemas.microsoft.com/office/powerpoint/2010/main" val="183773164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5F4A88E4-4E93-4C03-A81E-4FB65C19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417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대시보드 · 실행 현황</a:t>
            </a:r>
          </a:p>
        </p:txBody>
      </p:sp>
      <p:sp>
        <p:nvSpPr>
          <p:cNvPr id="2" name="screen-route">
            <a:extLst xmlns:a="http://schemas.openxmlformats.org/drawingml/2006/main">
              <a:ext uri="{FF2B5EF4-FFF2-40B4-BE49-F238E27FC236}">
                <a16:creationId xmlns:a16="http://schemas.microsoft.com/office/drawing/2014/main" id="{00017037-35B4-456A-8C47-67DA84F5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975"/>
            <a:ext cx="1417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#/admin · 로그인 회원 전용, 관리자 권한 불필요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8959F5-8110-4A70-A2C3-BB78FA34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417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45F8136D-3B7C-4ADE-84ED-AC6C0F2A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92202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" name="features-heading">
            <a:extLst xmlns:a="http://schemas.openxmlformats.org/drawingml/2006/main">
              <a:ext uri="{FF2B5EF4-FFF2-40B4-BE49-F238E27FC236}">
                <a16:creationId xmlns:a16="http://schemas.microsoft.com/office/drawing/2014/main" id="{91F8CCC6-4B7D-4C79-B512-F5520FE2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621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기능 설명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EF5389-CCE8-4269-A895-AFC2633F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71675"/>
            <a:ext cx="461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reen-id">
            <a:extLst xmlns:a="http://schemas.openxmlformats.org/drawingml/2006/main">
              <a:ext uri="{FF2B5EF4-FFF2-40B4-BE49-F238E27FC236}">
                <a16:creationId xmlns:a16="http://schemas.microsoft.com/office/drawing/2014/main" id="{45512BBC-A2E3-430B-BA59-6A01EA3C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CareerLens 프로젝트 2 · 2026.10.13 개정 2 · 현재 구현 화면 구성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EB286D7-7789-4C4F-B971-06D8528D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581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18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3072DD-C82A-4102-8B93-20B08460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대시보드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7CB418-FC70-44E3-BD39-A8B6DA5E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90700"/>
            <a:ext cx="236220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마이페이지로 돌아가기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024105-3FC4-4E61-B3F4-2F35F7D9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47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ADFBAA-5882-4D35-8A89-DC00A51C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336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실시간 이용 흐름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708DF1-DEE2-43AE-A533-14734CA7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공용 서버가 수집한 여러 사용자의 흐름 관찰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260F6B-2E49-4D09-B237-9F1EF478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00300"/>
            <a:ext cx="2733675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실시간 이용 흐름 보기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7BCA17-0B93-4224-8F66-B3AEE358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86106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A5F42F-CE7C-49A4-8B36-4D6F0E41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575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조회 기간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6A9659-79B3-4242-BF6E-B48CB59A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575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실행 상태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EA7640-88C6-49ED-84E1-336B466E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43275"/>
            <a:ext cx="1809750" cy="352425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최근 30일  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AFB348-F5AF-4103-BF9D-567B16D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24B34A-EDE8-4E2D-8F0F-34AB944A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43275"/>
            <a:ext cx="2286000" cy="352425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전체 상태  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3E0165-D6F0-42E8-BD05-C0889556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24225"/>
            <a:ext cx="1447800" cy="371475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새로고침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E327E2-4749-4BBC-8D2E-C63F51D7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352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1A8DD2-8B29-419E-BBD7-309C1E59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771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실행       소요 시간       선택한 실행 상세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ABA48F-818A-420E-AC5F-3BDC3EF9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814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9FB1D9-A4B3-4A49-8DAA-F6833AEF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13239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E6C555-5DD2-46CC-AA76-CBD04E35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54342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대기 분석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B26C7D-3D07-40E3-9225-7600C674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876800"/>
            <a:ext cx="1152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조회 건수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1A3A1A-1D01-4888-99D6-8D3D5295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438650"/>
            <a:ext cx="13239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86471D-44D1-4FD5-A0C4-E73AF450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4342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실행 중 분석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E09643-1DC9-47AD-9C61-0439B4FF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76800"/>
            <a:ext cx="1152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조회 건수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110CAD-22B1-4FE9-8B00-84546012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38650"/>
            <a:ext cx="13239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433286-CB68-4E29-B6A2-0E9ECCF5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54342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정상 완료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10C60D-16FC-46EB-BB25-7AE6E965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876800"/>
            <a:ext cx="1152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조회 건수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8CFEAC-2700-459D-B413-3B2E675A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438650"/>
            <a:ext cx="13239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3C13FA-A5FB-459E-8654-92B805C1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54342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완료·확인 필요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F25BB8-8032-4D6E-A4C2-C4A3756C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876800"/>
            <a:ext cx="1152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조회 건수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641E66-F1B5-4848-9427-D604B27E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38650"/>
            <a:ext cx="13239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FE5D00-32B1-498B-B8B8-E18FA999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54342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실패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FEA31B-2249-4085-966A-8DCCF789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876800"/>
            <a:ext cx="1152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조회 건수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097BB5-0A44-4FED-936F-38ED5AFA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438650"/>
            <a:ext cx="13239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C6E95E7-1151-45AC-AFA1-E9009A3C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4342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1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취소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081EBF9-BDAB-493B-9C01-F551FAE3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76800"/>
            <a:ext cx="1152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85DA8"/>
                </a:solidFill>
                <a:latin typeface="Malgun Gothic"/>
                <a:ea typeface="Malgun Gothic"/>
                <a:cs typeface="Malgun Gothic"/>
              </a:rPr>
              <a:t>조회 건수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BB2EC93-8C55-4FAB-97A2-8D7E5555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767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F516C5E-E20E-4ADB-8210-9D4CE6AF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67350"/>
            <a:ext cx="8610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전체 계정의 조회 표본 · 최근 최대 100건 · 필터 결과 · 마지막 조회 시각(KST)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FEF5F3F-C749-4CBA-AAA4-EC4ED4FA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4387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graphicFrame>
        <p:nvGraphicFrame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C7D163D-C825-4A04-A8A8-B4AF391E3A05}"/>
              </a:ext>
            </a:extLst>
          </p:cNvPr>
          <p:cNvGraphicFramePr/>
          <p:nvPr/>
        </p:nvGraphicFramePr>
        <p:xfrm>
          <a:off xmlns:a="http://schemas.openxmlformats.org/drawingml/2006/main" x="838200" y="5953125"/>
          <a:ext xmlns:a="http://schemas.openxmlformats.org/drawingml/2006/main" cx="8610600" cy="1247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1828800"/>
                <a:gridCol w="1666875"/>
                <a:gridCol w="1381125"/>
                <a:gridCol w="1114425"/>
              </a:tblGrid>
              <a:tr h="415925"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1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ID / 상세 보기</a:t>
                      </a:r>
                    </a:p>
                  </a:txBody>
                  <a:tcPr marL="91440" marR="91440" marT="45720" marB="45720" anchor="ctr">
                    <a:solidFill>
                      <a:srgbClr val="EAF1FA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1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</a:t>
                      </a:r>
                    </a:p>
                  </a:txBody>
                  <a:tcPr marL="91440" marR="91440" marT="45720" marB="45720" anchor="ctr">
                    <a:solidFill>
                      <a:srgbClr val="EAF1FA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1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 시각</a:t>
                      </a:r>
                    </a:p>
                  </a:txBody>
                  <a:tcPr marL="91440" marR="91440" marT="45720" marB="45720" anchor="ctr">
                    <a:solidFill>
                      <a:srgbClr val="EAF1FA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1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소요</a:t>
                      </a:r>
                    </a:p>
                  </a:txBody>
                  <a:tcPr marL="91440" marR="91440" marT="45720" marB="45720" anchor="ctr">
                    <a:solidFill>
                      <a:srgbClr val="EAF1FA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1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단계</a:t>
                      </a:r>
                    </a:p>
                  </a:txBody>
                  <a:tcPr marL="91440" marR="91440" marT="45720" marB="45720" anchor="ctr">
                    <a:solidFill>
                      <a:srgbClr val="EAF1FA"/>
                    </a:solidFill>
                  </a:tcPr>
                </a:tc>
              </a:tr>
              <a:tr h="415925"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식별자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완료·확인 필요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KST 일시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건수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5925"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식별자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KST 일시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건수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28A94A9-4EED-4A51-8220-E6F98DDC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695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C956B19-439D-4392-BDA5-C8019AA0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372350"/>
            <a:ext cx="8429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조회 중 / 표본 없음 / 해당 상태 없음 / 오류 및 다시 시도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D25C41A-803C-4452-82E4-0DF79890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50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5AE83065-3723-4F44-9CEC-26A3D5A4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14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페이지 이동</a:t>
            </a:r>
          </a:p>
        </p:txBody>
      </p:sp>
      <p:sp>
        <p:nvSpPr>
          <p:cNvPr id="51" name="feature-1-body">
            <a:extLst xmlns:a="http://schemas.openxmlformats.org/drawingml/2006/main">
              <a:ext uri="{FF2B5EF4-FFF2-40B4-BE49-F238E27FC236}">
                <a16:creationId xmlns:a16="http://schemas.microsoft.com/office/drawing/2014/main" id="{224B26DD-FAF4-4BA1-B611-00C3F6A6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90775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모든 로그인 회원이 연다. 이용 흐름은 같은 탭으로 이동하며 비회원 직접 접근은 차단한다.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677D71D-ECBF-4827-A329-2825D82B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72468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95DC5E0-8627-447F-BC1F-1331F03E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29618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54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18428B70-94FD-4F92-887B-37993310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20093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조회 조건</a:t>
            </a:r>
          </a:p>
        </p:txBody>
      </p:sp>
      <p:sp>
        <p:nvSpPr>
          <p:cNvPr id="55" name="feature-2-body">
            <a:extLst xmlns:a="http://schemas.openxmlformats.org/drawingml/2006/main">
              <a:ext uri="{FF2B5EF4-FFF2-40B4-BE49-F238E27FC236}">
                <a16:creationId xmlns:a16="http://schemas.microsoft.com/office/drawing/2014/main" id="{B8AAD237-2F36-4528-A674-12DC4961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196318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최근 7·30·90일과 전체·대기·진행·완료·확인 필요·실패·취소·기타 상태를 선택합니다.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86CD44F-CF99-4C27-8255-796D9995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78011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EF2F0C0-B84F-42FF-A308-E2553693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35161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58" name="feature-3-title">
            <a:extLst xmlns:a="http://schemas.openxmlformats.org/drawingml/2006/main">
              <a:ext uri="{FF2B5EF4-FFF2-40B4-BE49-F238E27FC236}">
                <a16:creationId xmlns:a16="http://schemas.microsoft.com/office/drawing/2014/main" id="{AC107FB1-0BD7-4161-B1D9-D70B37EA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725636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새로고침</a:t>
            </a:r>
          </a:p>
        </p:txBody>
      </p:sp>
      <p:sp>
        <p:nvSpPr>
          <p:cNvPr id="59" name="feature-3-body">
            <a:extLst xmlns:a="http://schemas.openxmlformats.org/drawingml/2006/main">
              <a:ext uri="{FF2B5EF4-FFF2-40B4-BE49-F238E27FC236}">
                <a16:creationId xmlns:a16="http://schemas.microsoft.com/office/drawing/2014/main" id="{F60F5CD5-ABD8-4994-BD1B-811BFFC9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001861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수동 재조회. 60초마다 및 화면 복귀 시 갱신하며 실패하면 마지막 조회값을 유지합니다.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45016E7-D836-4143-B034-FC7C9967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483554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C1BA04A-E81D-4DD1-AD93-9AA30F6A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40704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62" name="feature-4-title">
            <a:extLst xmlns:a="http://schemas.openxmlformats.org/drawingml/2006/main">
              <a:ext uri="{FF2B5EF4-FFF2-40B4-BE49-F238E27FC236}">
                <a16:creationId xmlns:a16="http://schemas.microsoft.com/office/drawing/2014/main" id="{D734CCFA-82A2-44A1-979A-461A0BD0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531179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영역 이동</a:t>
            </a:r>
          </a:p>
        </p:txBody>
      </p:sp>
      <p:sp>
        <p:nvSpPr>
          <p:cNvPr id="63" name="feature-4-body">
            <a:extLst xmlns:a="http://schemas.openxmlformats.org/drawingml/2006/main">
              <a:ext uri="{FF2B5EF4-FFF2-40B4-BE49-F238E27FC236}">
                <a16:creationId xmlns:a16="http://schemas.microsoft.com/office/drawing/2014/main" id="{4917F703-C6D7-42B3-982F-3F75BAF1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07404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실행 목록·소요 시간·선택 실행 상세로 이동합니다. 상세 선택 전에는 실행 선택을 안내합니다.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5362C15-97FB-45FE-963D-E8B41EF1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89096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3583C9F-42C2-4FC0-BDA0-A311192B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346246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66" name="feature-5-title">
            <a:extLst xmlns:a="http://schemas.openxmlformats.org/drawingml/2006/main">
              <a:ext uri="{FF2B5EF4-FFF2-40B4-BE49-F238E27FC236}">
                <a16:creationId xmlns:a16="http://schemas.microsoft.com/office/drawing/2014/main" id="{180F0660-3B51-4A09-A246-0E2D2995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336721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6개 상태 집계</a:t>
            </a:r>
          </a:p>
        </p:txBody>
      </p:sp>
      <p:sp>
        <p:nvSpPr>
          <p:cNvPr id="67" name="feature-5-body">
            <a:extLst xmlns:a="http://schemas.openxmlformats.org/drawingml/2006/main">
              <a:ext uri="{FF2B5EF4-FFF2-40B4-BE49-F238E27FC236}">
                <a16:creationId xmlns:a16="http://schemas.microsoft.com/office/drawing/2014/main" id="{4FCE160B-A583-46E3-B8E0-E804AF73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612946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전체 계정의 조회 표본을 집계합니다. 개인 보고서 개수와 다르며 목록 필터의 영향을 받지 않습니다.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697020B-816A-43F1-BF19-E03DA567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094639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7668FA6-AB0D-4B31-8431-5E0BEE95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151789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70" name="feature-6-title">
            <a:extLst xmlns:a="http://schemas.openxmlformats.org/drawingml/2006/main">
              <a:ext uri="{FF2B5EF4-FFF2-40B4-BE49-F238E27FC236}">
                <a16:creationId xmlns:a16="http://schemas.microsoft.com/office/drawing/2014/main" id="{ECC6D8CE-2C4C-4826-9017-7DC15FD4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142264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조회 범위·상태</a:t>
            </a:r>
          </a:p>
        </p:txBody>
      </p:sp>
      <p:sp>
        <p:nvSpPr>
          <p:cNvPr id="71" name="feature-6-body">
            <a:extLst xmlns:a="http://schemas.openxmlformats.org/drawingml/2006/main">
              <a:ext uri="{FF2B5EF4-FFF2-40B4-BE49-F238E27FC236}">
                <a16:creationId xmlns:a16="http://schemas.microsoft.com/office/drawing/2014/main" id="{901F1048-C518-405F-97DB-0A24EA3B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418489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표본·필터·서버 집계 수와 마지막 조회 시각을 표시합니다. 로딩·빈 결과·실패를 구분합니다.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754905D-9729-442F-BCEB-5DE857A6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00182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5231E70-940B-4C86-95F9-625238CE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957332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74" name="feature-7-title">
            <a:extLst xmlns:a="http://schemas.openxmlformats.org/drawingml/2006/main">
              <a:ext uri="{FF2B5EF4-FFF2-40B4-BE49-F238E27FC236}">
                <a16:creationId xmlns:a16="http://schemas.microsoft.com/office/drawing/2014/main" id="{BC6B8561-0DE9-41AC-BA81-4FF00924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47807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실행 목록과 상세</a:t>
            </a:r>
          </a:p>
        </p:txBody>
      </p:sp>
      <p:sp>
        <p:nvSpPr>
          <p:cNvPr id="75" name="feature-7-body">
            <a:extLst xmlns:a="http://schemas.openxmlformats.org/drawingml/2006/main">
              <a:ext uri="{FF2B5EF4-FFF2-40B4-BE49-F238E27FC236}">
                <a16:creationId xmlns:a16="http://schemas.microsoft.com/office/drawing/2014/main" id="{6E4819B8-74B7-4D11-884A-FF65B92F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224032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최신순 실행 ID·상태·생성 시각·소요 시간·측정 단계 수. 선택하면 목록 아래 상세를 펼칩니다.</a:t>
            </a:r>
          </a:p>
        </p:txBody>
      </p:sp>
    </p:spTree>
    <p:extLst>
      <p:ext uri="{BB962C8B-B14F-4D97-AF65-F5344CB8AC3E}">
        <p14:creationId xmlns:p14="http://schemas.microsoft.com/office/powerpoint/2010/main" val="55349009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F2E81C56-DE46-4E6A-A068-5E67BB76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417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대시보드 · 단계별 소요 시간</a:t>
            </a:r>
          </a:p>
        </p:txBody>
      </p:sp>
      <p:sp>
        <p:nvSpPr>
          <p:cNvPr id="2" name="screen-route">
            <a:extLst xmlns:a="http://schemas.openxmlformats.org/drawingml/2006/main">
              <a:ext uri="{FF2B5EF4-FFF2-40B4-BE49-F238E27FC236}">
                <a16:creationId xmlns:a16="http://schemas.microsoft.com/office/drawing/2014/main" id="{AC03061B-C4EA-41CA-AD95-72D7218E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975"/>
            <a:ext cx="1417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#/admin · 소요 시간 영역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C1646-19C7-4512-BAF9-897C1CB6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417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963E506F-01AA-4BF7-BDA0-32CABB08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92202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" name="features-heading">
            <a:extLst xmlns:a="http://schemas.openxmlformats.org/drawingml/2006/main">
              <a:ext uri="{FF2B5EF4-FFF2-40B4-BE49-F238E27FC236}">
                <a16:creationId xmlns:a16="http://schemas.microsoft.com/office/drawing/2014/main" id="{EFCD3A0B-80B9-45B9-8FA5-5A7E039C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621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기능 설명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A2896D-E65D-432E-ADE1-9790C81B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71675"/>
            <a:ext cx="461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reen-id">
            <a:extLst xmlns:a="http://schemas.openxmlformats.org/drawingml/2006/main">
              <a:ext uri="{FF2B5EF4-FFF2-40B4-BE49-F238E27FC236}">
                <a16:creationId xmlns:a16="http://schemas.microsoft.com/office/drawing/2014/main" id="{C0C2B5C7-F782-47C1-9D17-20E24296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CareerLens 프로젝트 2 · 2026.10.13 개정 2 · 현재 구현 화면 구성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6E28D34-76C0-4924-8260-ACBB288B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581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19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240FE8-D87F-4B1A-9802-D2D6ACA5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76425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단계별 소요 시간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5C985C-0F5A-4674-B809-0980EB1B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95525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입력 파싱부터 보고서 저장까지의 서버 집계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A2F147-6902-4DB5-8C69-5E51EA73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2724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1A5DFC-29C1-4934-B62F-599F742E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05125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서버 성능 집계 실행 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49A573-D699-4A99-A839-C4AE1908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480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집계 건수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8CF1E1-701C-4C1B-9935-7AC58DD5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00350"/>
            <a:ext cx="2724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D7663B-6BC6-4C61-A9E2-E63DB0C1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05125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평균 전체 소요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BF2E89-21A7-45D0-B87B-0AB49B40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480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측정 시간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D3B822-5B93-432E-97B8-213992F1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0350"/>
            <a:ext cx="2724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5397D1-BC50-4F74-9CC2-94578FD4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05125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P95 전체 소요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B17A22-1480-4F5F-8425-D6E6E9FE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480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측정 시간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E003E2-72A3-4FCB-ABC9-6A798E6F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479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graphicFrame>
        <p:nvGraphicFrame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1A4A7C-492F-4B81-B247-BA80F490602F}"/>
              </a:ext>
            </a:extLst>
          </p:cNvPr>
          <p:cNvGraphicFramePr/>
          <p:nvPr/>
        </p:nvGraphicFramePr>
        <p:xfrm>
          <a:off xmlns:a="http://schemas.openxmlformats.org/drawingml/2006/main" x="838200" y="4048125"/>
          <a:ext xmlns:a="http://schemas.openxmlformats.org/drawingml/2006/main" cx="8610600" cy="2562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90850"/>
                <a:gridCol w="1314450"/>
                <a:gridCol w="1076325"/>
                <a:gridCol w="1076325"/>
                <a:gridCol w="1076325"/>
                <a:gridCol w="1076325"/>
              </a:tblGrid>
              <a:tr h="366032"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1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91440" marR="91440" marT="45720" marB="45720" anchor="ctr">
                    <a:solidFill>
                      <a:srgbClr val="EAF1FA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1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표본</a:t>
                      </a:r>
                    </a:p>
                  </a:txBody>
                  <a:tcPr marL="91440" marR="91440" marT="45720" marB="45720" anchor="ctr">
                    <a:solidFill>
                      <a:srgbClr val="EAF1FA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1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평균</a:t>
                      </a:r>
                    </a:p>
                  </a:txBody>
                  <a:tcPr marL="91440" marR="91440" marT="45720" marB="45720" anchor="ctr">
                    <a:solidFill>
                      <a:srgbClr val="EAF1FA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1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P50</a:t>
                      </a:r>
                    </a:p>
                  </a:txBody>
                  <a:tcPr marL="91440" marR="91440" marT="45720" marB="45720" anchor="ctr">
                    <a:solidFill>
                      <a:srgbClr val="EAF1FA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1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P95</a:t>
                      </a:r>
                    </a:p>
                  </a:txBody>
                  <a:tcPr marL="91440" marR="91440" marT="45720" marB="45720" anchor="ctr">
                    <a:solidFill>
                      <a:srgbClr val="EAF1FA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1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최대</a:t>
                      </a:r>
                    </a:p>
                  </a:txBody>
                  <a:tcPr marL="91440" marR="91440" marT="45720" marB="45720" anchor="ctr">
                    <a:solidFill>
                      <a:srgbClr val="EAF1FA"/>
                    </a:solidFill>
                  </a:tcPr>
                </a:tc>
              </a:tr>
              <a:tr h="366032"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이력서 구조화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 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6032"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채용공고 구조화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 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6032"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이력서 벡터·색인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 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6032"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기준별 평가·평가 흐름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 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6032"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점수·보고서 저장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 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66032"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평가·실행 기록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 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47625" rIns="76200" bIns="47625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8C4B99-EE04-4DF3-9F85-E8F4A7C2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781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2C3D29-09E1-4A5B-8325-C2235C05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862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05149E-63C8-4235-A161-F708D23F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8862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86859F-2BC1-4134-B9B4-A1689946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00850"/>
            <a:ext cx="861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D477BE-124A-46F9-A588-C91EED83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77050"/>
            <a:ext cx="8153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평균 시간의 상대 막대 · 병렬 단계 합계 ≠ 전체 실행 시간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측정 기록이 없으면 미측정 또는 기록 없음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5804C2-A587-4D56-AAC6-7D62341E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7532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96F556-1E95-4B32-AABA-4298E948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9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539BD04D-459F-48BD-AF74-08AB1F61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14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전체 소요 요약</a:t>
            </a:r>
          </a:p>
        </p:txBody>
      </p:sp>
      <p:sp>
        <p:nvSpPr>
          <p:cNvPr id="30" name="feature-1-body">
            <a:extLst xmlns:a="http://schemas.openxmlformats.org/drawingml/2006/main">
              <a:ext uri="{FF2B5EF4-FFF2-40B4-BE49-F238E27FC236}">
                <a16:creationId xmlns:a16="http://schemas.microsoft.com/office/drawing/2014/main" id="{A5F6A0B0-5292-445F-BBD5-75E51C90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90775"/>
            <a:ext cx="4210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집계 실행 수, 평균 전체 시간, P95 전체 시간을 확인합니다. 선택 기간의 최근 표본 기준입니다.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947F15-7C81-4F87-B74D-D2C208A3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8440F8-03AD-4FA2-B399-32117516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38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3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6149E54C-1ED8-4A96-B0CE-6D06DE12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289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단계별 기록</a:t>
            </a:r>
          </a:p>
        </p:txBody>
      </p:sp>
      <p:sp>
        <p:nvSpPr>
          <p:cNvPr id="34" name="feature-2-body">
            <a:extLst xmlns:a="http://schemas.openxmlformats.org/drawingml/2006/main">
              <a:ext uri="{FF2B5EF4-FFF2-40B4-BE49-F238E27FC236}">
                <a16:creationId xmlns:a16="http://schemas.microsoft.com/office/drawing/2014/main" id="{43CA4A38-6DCA-48DE-82CF-EFEA85B6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305175"/>
            <a:ext cx="4210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구조화·벡터·색인·기준 평가·흐름 실행·점수 및 보고서 저장·전체 평가의 기록을 표시합니다.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7BD08F-F188-4BBD-AE3E-B6B2E504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8957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2B873C-E83A-4871-8CCB-F7B261A7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952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7" name="feature-3-title">
            <a:extLst xmlns:a="http://schemas.openxmlformats.org/drawingml/2006/main">
              <a:ext uri="{FF2B5EF4-FFF2-40B4-BE49-F238E27FC236}">
                <a16:creationId xmlns:a16="http://schemas.microsoft.com/office/drawing/2014/main" id="{3CA99BE1-A4D9-44AF-AA1A-C83CF329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9433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표본·평균·P50</a:t>
            </a:r>
          </a:p>
        </p:txBody>
      </p:sp>
      <p:sp>
        <p:nvSpPr>
          <p:cNvPr id="38" name="feature-3-body">
            <a:extLst xmlns:a="http://schemas.openxmlformats.org/drawingml/2006/main">
              <a:ext uri="{FF2B5EF4-FFF2-40B4-BE49-F238E27FC236}">
                <a16:creationId xmlns:a16="http://schemas.microsoft.com/office/drawing/2014/main" id="{8B3F940A-4CBA-48B6-B015-DFC1D856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19575"/>
            <a:ext cx="4210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측정 표본에는 재시도 기록도 포함됩니다. P50은 중앙값이며 각 단계의 대표 시간을 비교합니다.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36831B-D8E4-4F09-9F23-3F959CB3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101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1CC3B0E-767F-493D-AE18-EAAE6C1F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672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1" name="feature-4-title">
            <a:extLst xmlns:a="http://schemas.openxmlformats.org/drawingml/2006/main">
              <a:ext uri="{FF2B5EF4-FFF2-40B4-BE49-F238E27FC236}">
                <a16:creationId xmlns:a16="http://schemas.microsoft.com/office/drawing/2014/main" id="{3784330E-6FFB-492F-89E8-5A3D2E84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577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P95·최대</a:t>
            </a:r>
          </a:p>
        </p:txBody>
      </p:sp>
      <p:sp>
        <p:nvSpPr>
          <p:cNvPr id="42" name="feature-4-body">
            <a:extLst xmlns:a="http://schemas.openxmlformats.org/drawingml/2006/main">
              <a:ext uri="{FF2B5EF4-FFF2-40B4-BE49-F238E27FC236}">
                <a16:creationId xmlns:a16="http://schemas.microsoft.com/office/drawing/2014/main" id="{AB8A41DA-9DE0-4AF1-87E5-01D0A5D0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133975"/>
            <a:ext cx="4210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P95는 측정값의 95%가 해당 시간 이하라는 뜻입니다. 최대값과 함께 오래 걸린 구간을 봅니다.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D36B9A5-0396-4369-A97E-E3BA3055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7245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33C3EDB-B3D2-4B3A-B30C-4D67FB34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781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45" name="feature-5-title">
            <a:extLst xmlns:a="http://schemas.openxmlformats.org/drawingml/2006/main">
              <a:ext uri="{FF2B5EF4-FFF2-40B4-BE49-F238E27FC236}">
                <a16:creationId xmlns:a16="http://schemas.microsoft.com/office/drawing/2014/main" id="{E6E627F3-34CB-4A21-B10C-3DEA6D34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7721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막대와 시간의 의미</a:t>
            </a:r>
          </a:p>
        </p:txBody>
      </p:sp>
      <p:sp>
        <p:nvSpPr>
          <p:cNvPr id="46" name="feature-5-body">
            <a:extLst xmlns:a="http://schemas.openxmlformats.org/drawingml/2006/main">
              <a:ext uri="{FF2B5EF4-FFF2-40B4-BE49-F238E27FC236}">
                <a16:creationId xmlns:a16="http://schemas.microsoft.com/office/drawing/2014/main" id="{7F48F020-197C-4334-99C3-ADB05CDB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048375"/>
            <a:ext cx="4210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막대는 평균 시간의 상대 길이입니다. 병렬 처리 때문에 단계 시간의 합이 전체 시간과 다를 수 있습니다.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D149E96-8CBF-440B-8511-3BF995FD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6389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1EF2E1B-02B4-4165-957E-F6362BAA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696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49" name="feature-6-title">
            <a:extLst xmlns:a="http://schemas.openxmlformats.org/drawingml/2006/main">
              <a:ext uri="{FF2B5EF4-FFF2-40B4-BE49-F238E27FC236}">
                <a16:creationId xmlns:a16="http://schemas.microsoft.com/office/drawing/2014/main" id="{774244AD-72DA-43DB-950A-C5727028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686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미측정·기록 없음</a:t>
            </a:r>
          </a:p>
        </p:txBody>
      </p:sp>
      <p:sp>
        <p:nvSpPr>
          <p:cNvPr id="50" name="feature-6-body">
            <a:extLst xmlns:a="http://schemas.openxmlformats.org/drawingml/2006/main">
              <a:ext uri="{FF2B5EF4-FFF2-40B4-BE49-F238E27FC236}">
                <a16:creationId xmlns:a16="http://schemas.microsoft.com/office/drawing/2014/main" id="{D9C968B1-2FF3-4A39-A6FA-FA84B440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62775"/>
            <a:ext cx="4210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미기록 값을 0초로 바꾸지 않습니다. 측정 기록이 없는 경우 안내문을 표시합니다.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EF5D96B-0A40-4B9F-9811-4359FCF9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7305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3067788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9551B8A8-8F4E-4DA6-BE1E-B0A9C939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417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대시보드 · 실행 상세 1/2</a:t>
            </a:r>
          </a:p>
        </p:txBody>
      </p:sp>
      <p:sp>
        <p:nvSpPr>
          <p:cNvPr id="2" name="screen-route">
            <a:extLst xmlns:a="http://schemas.openxmlformats.org/drawingml/2006/main">
              <a:ext uri="{FF2B5EF4-FFF2-40B4-BE49-F238E27FC236}">
                <a16:creationId xmlns:a16="http://schemas.microsoft.com/office/drawing/2014/main" id="{E0CD38F7-5C0E-48C6-B618-357384E9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975"/>
            <a:ext cx="1417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#/admin · 목록 아래 인라인 상세 · 입력·재현 및 실행 기록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DB9271-E1F6-41DE-A99A-80D2F049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417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9F444556-9B9D-4567-A26F-781E85B0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92202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" name="features-heading">
            <a:extLst xmlns:a="http://schemas.openxmlformats.org/drawingml/2006/main">
              <a:ext uri="{FF2B5EF4-FFF2-40B4-BE49-F238E27FC236}">
                <a16:creationId xmlns:a16="http://schemas.microsoft.com/office/drawing/2014/main" id="{8EA3A4FF-E3F6-42FF-B3FC-0A0E1B3F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621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기능 설명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2C03B9-04D3-4819-BECE-811862AA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71675"/>
            <a:ext cx="461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reen-id">
            <a:extLst xmlns:a="http://schemas.openxmlformats.org/drawingml/2006/main">
              <a:ext uri="{FF2B5EF4-FFF2-40B4-BE49-F238E27FC236}">
                <a16:creationId xmlns:a16="http://schemas.microsoft.com/office/drawing/2014/main" id="{CA45A4C8-E224-4816-B316-3C1C83F0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CareerLens 프로젝트 2 · 2026.10.13 개정 2 · 현재 구현 화면 구성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C049574-9F98-4D6D-9636-B42AC43F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581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20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5D80B7-7E54-4196-A7D7-967D625A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선택한 실행 상세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9FE539-D91D-403A-AED5-21F9BF6E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800225"/>
            <a:ext cx="1571625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상세 닫기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2D61A3-48A5-42F5-8F94-0E31731A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8573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6E48F8-639C-40A6-A51E-0A1FA9E6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28850"/>
            <a:ext cx="781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실행 식별자 · 실행 상태 · 생성 시각(KST)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7FE379-0BCA-4E20-BA7B-6E81B422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05100"/>
            <a:ext cx="86106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6741C6-1EC0-4F73-9113-7D547D02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572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▾ 입력·재현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DC68C3-1AF8-4692-97DC-8F4EC8EC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813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08CB67-9880-4D95-8F87-3187C8A7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이력서·공고 ID / 서버 입력 형식 / 모델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C0FC2A-2148-416F-9C11-9194D270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프롬프트 / 스키마·평가 / 점수 산정 / 워크플로 버전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89B6E5-09F3-4BC9-80B7-D32B9807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76675"/>
            <a:ext cx="795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▸ 버전 값은 어디서 정해지나요?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48E060-18AF-41E6-A745-3751DCA9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576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6C675D-B5BF-4445-9E80-7C849E00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9577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입력 구성 해시 / 이력서 내용 해시 / 공고 내용 해시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84A1FA-F85F-4EDD-8476-4DE5613A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767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6E028D-C8C2-48A0-8E4A-5F3128B5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29200"/>
            <a:ext cx="86106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DE14E1-EF9F-4583-AE48-F81F8BFB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3397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▾ 단계·노드·도구·기억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69566B-883D-4CE4-BCC4-0597D616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9117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단계·노드  /  평가 기준  /  시도 번호  /  상태  /  시간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325971-29C2-4D64-A466-8BD383C1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53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0999AA-92D0-4CBF-A14E-66EDA91D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198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도구  /  평가 기준  /  상태  /  결과 수  /  시간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278833-F6E5-4F79-915B-56666191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9912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CD8185-BD8F-46F0-B651-9791A43E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467475"/>
            <a:ext cx="8048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기억 저장소 · 검색 항목 수 · 실행 스레드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체크포인트 수 · 최근 체크포인트 ID · 기록 시각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13412C-9FBF-4F2C-AC87-558B6730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5627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1BBFD3-0B26-4F09-A623-EE1B376B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439025"/>
            <a:ext cx="8467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각 제목을 눌러 접기/펼치기 · 나머지 상세 영역은 다음 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D04148-6C30-4BB1-9CA3-5A16E397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2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598A976D-B3B9-4C65-BEC0-909C21FB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14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상세 열기·닫기</a:t>
            </a:r>
          </a:p>
        </p:txBody>
      </p:sp>
      <p:sp>
        <p:nvSpPr>
          <p:cNvPr id="33" name="feature-1-body">
            <a:extLst xmlns:a="http://schemas.openxmlformats.org/drawingml/2006/main">
              <a:ext uri="{FF2B5EF4-FFF2-40B4-BE49-F238E27FC236}">
                <a16:creationId xmlns:a16="http://schemas.microsoft.com/office/drawing/2014/main" id="{79BDEDCC-08F7-472A-9724-7D9DFE96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90775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목록 아래 상태·시각을 펼칩니다. 닫으면 선택 버튼으로 복귀하며 조회 실패 시 재시도합니다.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2DAFC1-72C9-4B15-9CFF-0B37F862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72468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D6D994-7806-4AFF-A0D1-B87BD620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29618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6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8ED8D84D-F5F9-49B1-BFEF-92628551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20093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입력·재현</a:t>
            </a:r>
          </a:p>
        </p:txBody>
      </p:sp>
      <p:sp>
        <p:nvSpPr>
          <p:cNvPr id="37" name="feature-2-body">
            <a:extLst xmlns:a="http://schemas.openxmlformats.org/drawingml/2006/main">
              <a:ext uri="{FF2B5EF4-FFF2-40B4-BE49-F238E27FC236}">
                <a16:creationId xmlns:a16="http://schemas.microsoft.com/office/drawing/2014/main" id="{39438C62-3C2B-4DEA-BA10-78441C26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196318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입력 식별자·형식·모델과 실행 당시 프롬프트·평가·점수 산정·워크플로 버전을 표시합니다.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D04766-6B03-4E2C-B69D-0A5C9304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78011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B8D7F9-051D-4693-AA5F-1B79DB63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35161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0" name="feature-3-title">
            <a:extLst xmlns:a="http://schemas.openxmlformats.org/drawingml/2006/main">
              <a:ext uri="{FF2B5EF4-FFF2-40B4-BE49-F238E27FC236}">
                <a16:creationId xmlns:a16="http://schemas.microsoft.com/office/drawing/2014/main" id="{86C658A5-93B7-45F3-AA9B-7363BF45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725636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버전 출처 도움말</a:t>
            </a:r>
          </a:p>
        </p:txBody>
      </p:sp>
      <p:sp>
        <p:nvSpPr>
          <p:cNvPr id="41" name="feature-3-body">
            <a:extLst xmlns:a="http://schemas.openxmlformats.org/drawingml/2006/main">
              <a:ext uri="{FF2B5EF4-FFF2-40B4-BE49-F238E27FC236}">
                <a16:creationId xmlns:a16="http://schemas.microsoft.com/office/drawing/2014/main" id="{745AB52F-9C14-44A6-A315-C9AA740D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001861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버전 값의 출처를 펼쳐 봅니다. 과거 기록이 없으면 현재 설정으로 대신하지 않습니다.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65A9A0B-7120-4B48-9EED-EA832A0B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483554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B0F9BCA-4182-4A6E-9D47-186B6B94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40704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4" name="feature-4-title">
            <a:extLst xmlns:a="http://schemas.openxmlformats.org/drawingml/2006/main">
              <a:ext uri="{FF2B5EF4-FFF2-40B4-BE49-F238E27FC236}">
                <a16:creationId xmlns:a16="http://schemas.microsoft.com/office/drawing/2014/main" id="{90716506-372D-4675-8577-886A99A6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531179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입력 해시</a:t>
            </a:r>
          </a:p>
        </p:txBody>
      </p:sp>
      <p:sp>
        <p:nvSpPr>
          <p:cNvPr id="45" name="feature-4-body">
            <a:extLst xmlns:a="http://schemas.openxmlformats.org/drawingml/2006/main">
              <a:ext uri="{FF2B5EF4-FFF2-40B4-BE49-F238E27FC236}">
                <a16:creationId xmlns:a16="http://schemas.microsoft.com/office/drawing/2014/main" id="{240D6689-BC22-40EC-8747-D9E001C4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07404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입력 구성·이력서·공고 내용의 동일 여부를 구분합니다. 원문 이력서와 공고 내용은 공개하지 않습니다.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F3C597B-5959-4439-BF51-087CE13C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89096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A332AC6-44C6-4D7D-BA94-8F20BD94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346246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48" name="feature-5-title">
            <a:extLst xmlns:a="http://schemas.openxmlformats.org/drawingml/2006/main">
              <a:ext uri="{FF2B5EF4-FFF2-40B4-BE49-F238E27FC236}">
                <a16:creationId xmlns:a16="http://schemas.microsoft.com/office/drawing/2014/main" id="{6E3CE91F-C1CD-4350-A401-637A82CF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336721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단계·노드 실행</a:t>
            </a:r>
          </a:p>
        </p:txBody>
      </p:sp>
      <p:sp>
        <p:nvSpPr>
          <p:cNvPr id="49" name="feature-5-body">
            <a:extLst xmlns:a="http://schemas.openxmlformats.org/drawingml/2006/main">
              <a:ext uri="{FF2B5EF4-FFF2-40B4-BE49-F238E27FC236}">
                <a16:creationId xmlns:a16="http://schemas.microsoft.com/office/drawing/2014/main" id="{8D574541-C354-4FE7-8EEE-FA37E96A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612946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평가 기준별 실제 시도 번호·상태·소요 시간을 봅니다. 공통 단계의 평가 기준은 해당 없음입니다.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8A57FA7-D97D-4880-9C39-899FDF1A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094639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2395237-74D9-4FF5-801B-94EAE7C4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151789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52" name="feature-6-title">
            <a:extLst xmlns:a="http://schemas.openxmlformats.org/drawingml/2006/main">
              <a:ext uri="{FF2B5EF4-FFF2-40B4-BE49-F238E27FC236}">
                <a16:creationId xmlns:a16="http://schemas.microsoft.com/office/drawing/2014/main" id="{38330863-490D-4AED-A23C-9B74DEE8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142264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도구 사용</a:t>
            </a:r>
          </a:p>
        </p:txBody>
      </p:sp>
      <p:sp>
        <p:nvSpPr>
          <p:cNvPr id="53" name="feature-6-body">
            <a:extLst xmlns:a="http://schemas.openxmlformats.org/drawingml/2006/main">
              <a:ext uri="{FF2B5EF4-FFF2-40B4-BE49-F238E27FC236}">
                <a16:creationId xmlns:a16="http://schemas.microsoft.com/office/drawing/2014/main" id="{C12A7979-9D6E-499C-8766-AAA54CA5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418489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도구명·관련 기준·상태·결과 수·시간을 표시합니다. 기록이 없다는 이유로 미사용을 단정하지 않습니다.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BC86E3B-3E4B-423B-A096-1EA76EC0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00182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F36D59F-1126-4D4B-99FE-36A25D33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957332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56" name="feature-7-title">
            <a:extLst xmlns:a="http://schemas.openxmlformats.org/drawingml/2006/main">
              <a:ext uri="{FF2B5EF4-FFF2-40B4-BE49-F238E27FC236}">
                <a16:creationId xmlns:a16="http://schemas.microsoft.com/office/drawing/2014/main" id="{E19F2CCA-E83C-4221-8BC0-4BC6A4AE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47807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검색·체크포인트</a:t>
            </a:r>
          </a:p>
        </p:txBody>
      </p:sp>
      <p:sp>
        <p:nvSpPr>
          <p:cNvPr id="57" name="feature-7-body">
            <a:extLst xmlns:a="http://schemas.openxmlformats.org/drawingml/2006/main">
              <a:ext uri="{FF2B5EF4-FFF2-40B4-BE49-F238E27FC236}">
                <a16:creationId xmlns:a16="http://schemas.microsoft.com/office/drawing/2014/main" id="{574CDB81-CBEE-40E6-845E-9554E2C0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224032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저장소·검색 수·스레드·체크포인트 ID와 시각을 봅니다. 검색·체크포인트 원문은 숨깁니다.</a:t>
            </a:r>
          </a:p>
        </p:txBody>
      </p:sp>
    </p:spTree>
    <p:extLst>
      <p:ext uri="{BB962C8B-B14F-4D97-AF65-F5344CB8AC3E}">
        <p14:creationId xmlns:p14="http://schemas.microsoft.com/office/powerpoint/2010/main" val="155035824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F979798A-282E-4B6B-AF5B-CCAC0EBC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417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대시보드 · 실행 상세 2/2</a:t>
            </a:r>
          </a:p>
        </p:txBody>
      </p:sp>
      <p:sp>
        <p:nvSpPr>
          <p:cNvPr id="2" name="screen-route">
            <a:extLst xmlns:a="http://schemas.openxmlformats.org/drawingml/2006/main">
              <a:ext uri="{FF2B5EF4-FFF2-40B4-BE49-F238E27FC236}">
                <a16:creationId xmlns:a16="http://schemas.microsoft.com/office/drawing/2014/main" id="{0D3B896E-0F9E-4772-BBC8-2B70A8B8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975"/>
            <a:ext cx="1417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#/admin · 검증·점수·저장·LLM 사용량·시험 증거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F5164-4E75-4163-B23E-63417604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417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71792B06-F783-42AD-8D4C-BCC17C6E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92202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" name="features-heading">
            <a:extLst xmlns:a="http://schemas.openxmlformats.org/drawingml/2006/main">
              <a:ext uri="{FF2B5EF4-FFF2-40B4-BE49-F238E27FC236}">
                <a16:creationId xmlns:a16="http://schemas.microsoft.com/office/drawing/2014/main" id="{BBC23945-1CAD-4312-AE08-20AE7C8C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621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기능 설명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523839-3961-42B8-B77E-B988F058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71675"/>
            <a:ext cx="461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reen-id">
            <a:extLst xmlns:a="http://schemas.openxmlformats.org/drawingml/2006/main">
              <a:ext uri="{FF2B5EF4-FFF2-40B4-BE49-F238E27FC236}">
                <a16:creationId xmlns:a16="http://schemas.microsoft.com/office/drawing/2014/main" id="{19171BFC-55D3-47A8-A3C6-D1DE8542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CareerLens 프로젝트 2 · 2026.10.13 개정 2 · 현재 구현 화면 구성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82E0CB3-984B-4F3B-8123-7584D56C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581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buNone/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21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6D3EC5-A8B6-400F-ABB0-DB06A547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실행 상세 · 나머지 영역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B857CF-6619-4F83-A813-2E71EB93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86106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B996CA-D672-49B4-A171-50027126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2887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▾ 검증·재시도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ADCF2A-A282-478D-98AF-8E9EF423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28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751920-9EFE-4F60-99A8-CF42D163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800350"/>
            <a:ext cx="8153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검증 상태 / 재평가 횟수 / 재검증 결과 / 기준·전역 이슈 수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이슈 목록: 평가 기준 · 검사 유형 · 심각도 · 처리 상태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DB22BA-2143-4313-A428-34931936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52825"/>
            <a:ext cx="86106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E4421E-2ACD-49E6-BA9B-EB20F957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576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▾ 점수·보고서 저장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64E3F1-5EFC-4A93-A8C1-43C08B3D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00500"/>
            <a:ext cx="8096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4축·종합 점수 / 지원 자격 판정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기준별 DB 원점수 · 화면 반올림 · 판정 · 근거 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579103-51D6-4E43-B3E0-F3545208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19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B6360C-CB17-4191-8D4F-E54C8B60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5815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보고서 ID / 본문·시각·수량 / 계정 열람 / 형식 호환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3E94E6-A387-4FCE-836D-74F7B223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52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52D3CC-8A56-4015-89B6-17FECD7C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86106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FA68C0-1187-4DC5-9BD3-D9928F6C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▾ LLM 사용량·요청 해시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2C657F-82A9-46CC-B1F5-593D0067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5816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모델 / 호출 수 / 입·출력 토큰 / 실측 비용·출처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99B12E-4E72-43A4-AB9A-4318BCA3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53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75D3ED-FF67-4EA8-8543-0E7E3882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8864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호출별 단계·기준·모델·자료형·성공·시간·토큰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E526A3-A72B-4E4A-942B-6348F44B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857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441005-53CD-4E85-9B59-F52CCB17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1912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▸ 해시 보기: 요청 / 프롬프트 본문 / JSON 스키마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12ED8F-F1D9-4E2E-874D-6DF38447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162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3BF358-2B0E-4B9D-B2D3-3EB9009F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724650"/>
            <a:ext cx="861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465315-B8BE-4BBB-9A2F-8A89D2F5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8580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▸ 시험 증거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9CC9A5-76D3-4520-8D98-2B2EAD9F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838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49F7E2-1DE8-4EC4-8F49-68946AE5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448550"/>
            <a:ext cx="8524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미측정 / 기록 없음 / 점수 없음 / 영역 조회 실패를 구분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CCB3C1-C827-4CAD-8881-488FB2A5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3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915B7A59-4BF6-43EC-93AF-BEAAFA60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14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검증·재시도</a:t>
            </a:r>
          </a:p>
        </p:txBody>
      </p:sp>
      <p:sp>
        <p:nvSpPr>
          <p:cNvPr id="34" name="feature-1-body">
            <a:extLst xmlns:a="http://schemas.openxmlformats.org/drawingml/2006/main">
              <a:ext uri="{FF2B5EF4-FFF2-40B4-BE49-F238E27FC236}">
                <a16:creationId xmlns:a16="http://schemas.microsoft.com/office/drawing/2014/main" id="{9A85DCA6-A53E-465E-8D03-10B35981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90775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재평가·재검증·이슈를 봅니다. 확인 필요는 종료 상태이며 평가 재시도는 통신 재시도와 다릅니다.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39CC63-606E-4DBC-BA40-E31871DB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72468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CD4A37-E574-4B66-8722-716D6F41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29618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7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4F35B59C-8E91-4256-8F7C-FFD75537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20093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점수·판정</a:t>
            </a:r>
          </a:p>
        </p:txBody>
      </p:sp>
      <p:sp>
        <p:nvSpPr>
          <p:cNvPr id="38" name="feature-2-body">
            <a:extLst xmlns:a="http://schemas.openxmlformats.org/drawingml/2006/main">
              <a:ext uri="{FF2B5EF4-FFF2-40B4-BE49-F238E27FC236}">
                <a16:creationId xmlns:a16="http://schemas.microsoft.com/office/drawing/2014/main" id="{93DF69A8-E2F4-4344-B6ED-3E23045D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196318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4축·종합 점수와 기준별 원점수·반올림값·판정·근거 수를 표시합니다. 점수 없음은 0점이 아닙니다.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5F5CA2-0EDD-41B4-91E3-DB004CB6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78011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26093C-1DFD-41C5-99DF-0B9BB4B8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35161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1" name="feature-3-title">
            <a:extLst xmlns:a="http://schemas.openxmlformats.org/drawingml/2006/main">
              <a:ext uri="{FF2B5EF4-FFF2-40B4-BE49-F238E27FC236}">
                <a16:creationId xmlns:a16="http://schemas.microsoft.com/office/drawing/2014/main" id="{657DDD24-896B-41FC-A8C2-9F36825C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725636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보고서 저장·열람</a:t>
            </a:r>
          </a:p>
        </p:txBody>
      </p:sp>
      <p:sp>
        <p:nvSpPr>
          <p:cNvPr id="42" name="feature-3-body">
            <a:extLst xmlns:a="http://schemas.openxmlformats.org/drawingml/2006/main">
              <a:ext uri="{FF2B5EF4-FFF2-40B4-BE49-F238E27FC236}">
                <a16:creationId xmlns:a16="http://schemas.microsoft.com/office/drawing/2014/main" id="{80D61746-5DAF-487A-99DB-D23B5BB8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001861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본문 저장·시각·수량·형식 호환·계정 열람을 구분합니다. 저장 성공이 열람 성공을 뜻하지 않습니다.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1C9AE4-CE48-4229-BA69-744B20B6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483554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1D201AF-3CA7-42BD-96C5-C5B5095B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40704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5" name="feature-4-title">
            <a:extLst xmlns:a="http://schemas.openxmlformats.org/drawingml/2006/main">
              <a:ext uri="{FF2B5EF4-FFF2-40B4-BE49-F238E27FC236}">
                <a16:creationId xmlns:a16="http://schemas.microsoft.com/office/drawing/2014/main" id="{E60E3910-8834-4968-ACBC-974ADC7F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531179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모델 사용량·비용</a:t>
            </a:r>
          </a:p>
        </p:txBody>
      </p:sp>
      <p:sp>
        <p:nvSpPr>
          <p:cNvPr id="46" name="feature-4-body">
            <a:extLst xmlns:a="http://schemas.openxmlformats.org/drawingml/2006/main">
              <a:ext uri="{FF2B5EF4-FFF2-40B4-BE49-F238E27FC236}">
                <a16:creationId xmlns:a16="http://schemas.microsoft.com/office/drawing/2014/main" id="{545EAF50-C0A0-4304-BE8A-A90C949E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07404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기록된 호출·토큰·실측 비용과 출처를 표시합니다. 비용 기록이 없으면 토큰 수로 추정하지 않습니다.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6D17A8F-9B22-48C2-9A12-2C12A1FB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89096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F80B5DA-E0E5-4134-96E8-420F9250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346246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49" name="feature-5-title">
            <a:extLst xmlns:a="http://schemas.openxmlformats.org/drawingml/2006/main">
              <a:ext uri="{FF2B5EF4-FFF2-40B4-BE49-F238E27FC236}">
                <a16:creationId xmlns:a16="http://schemas.microsoft.com/office/drawing/2014/main" id="{54BC87E4-417B-465A-BE6B-25A8ED9D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336721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호출별 기록</a:t>
            </a:r>
          </a:p>
        </p:txBody>
      </p:sp>
      <p:sp>
        <p:nvSpPr>
          <p:cNvPr id="50" name="feature-5-body">
            <a:extLst xmlns:a="http://schemas.openxmlformats.org/drawingml/2006/main">
              <a:ext uri="{FF2B5EF4-FFF2-40B4-BE49-F238E27FC236}">
                <a16:creationId xmlns:a16="http://schemas.microsoft.com/office/drawing/2014/main" id="{7E136F94-850E-4EF7-BCAD-2BF9801C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612946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단계·기준·모델·출력 형식·성공·시간·토큰을 표시합니다. 미기록은 미호출을 뜻하지 않습니다.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F83D53C-F07C-4409-BCCC-C9CA5411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094639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AC846BC-F93A-4B9A-8EFF-91BA967E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151789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53" name="feature-6-title">
            <a:extLst xmlns:a="http://schemas.openxmlformats.org/drawingml/2006/main">
              <a:ext uri="{FF2B5EF4-FFF2-40B4-BE49-F238E27FC236}">
                <a16:creationId xmlns:a16="http://schemas.microsoft.com/office/drawing/2014/main" id="{CFF093FD-4E0A-4BA1-BE3D-D59C2E3B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142264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해시 보기</a:t>
            </a:r>
          </a:p>
        </p:txBody>
      </p:sp>
      <p:sp>
        <p:nvSpPr>
          <p:cNvPr id="54" name="feature-6-body">
            <a:extLst xmlns:a="http://schemas.openxmlformats.org/drawingml/2006/main">
              <a:ext uri="{FF2B5EF4-FFF2-40B4-BE49-F238E27FC236}">
                <a16:creationId xmlns:a16="http://schemas.microsoft.com/office/drawing/2014/main" id="{1F3EBBD7-01C9-4455-85ED-EB3F72FF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418489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요청 전체·프롬프트 본문·JSON 스키마 해시를 펼쳐 비교합니다. 프롬프트와 응답 원문은 공개하지 않습니다.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DE27F6E-EB83-4CA4-8818-5188D765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00182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12366C6-D606-47A7-B27A-1870A75C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957332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57" name="feature-7-title">
            <a:extLst xmlns:a="http://schemas.openxmlformats.org/drawingml/2006/main">
              <a:ext uri="{FF2B5EF4-FFF2-40B4-BE49-F238E27FC236}">
                <a16:creationId xmlns:a16="http://schemas.microsoft.com/office/drawing/2014/main" id="{322795C7-8C85-4120-A60E-1D9F8E80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47807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시험 증거·누락 상태</a:t>
            </a:r>
          </a:p>
        </p:txBody>
      </p:sp>
      <p:sp>
        <p:nvSpPr>
          <p:cNvPr id="58" name="feature-7-body">
            <a:extLst xmlns:a="http://schemas.openxmlformats.org/drawingml/2006/main">
              <a:ext uri="{FF2B5EF4-FFF2-40B4-BE49-F238E27FC236}">
                <a16:creationId xmlns:a16="http://schemas.microsoft.com/office/drawing/2014/main" id="{699F123C-E377-434A-9BBF-90115B80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7224032"/>
            <a:ext cx="4210050" cy="491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연결된 시험 증거만 표시합니다. 실행 완료와 시험 통과는 별개이며 미측정·미기록·조회 실패를 구분합니다.</a:t>
            </a:r>
          </a:p>
        </p:txBody>
      </p:sp>
    </p:spTree>
    <p:extLst>
      <p:ext uri="{BB962C8B-B14F-4D97-AF65-F5344CB8AC3E}">
        <p14:creationId xmlns:p14="http://schemas.microsoft.com/office/powerpoint/2010/main" val="115210628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C4693B7B-55FE-4D95-85CB-E9421D4F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417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이용 흐름 · 전체 이용 기록</a:t>
            </a:r>
          </a:p>
        </p:txBody>
      </p:sp>
      <p:sp>
        <p:nvSpPr>
          <p:cNvPr id="2" name="screen-route">
            <a:extLst xmlns:a="http://schemas.openxmlformats.org/drawingml/2006/main">
              <a:ext uri="{FF2B5EF4-FFF2-40B4-BE49-F238E27FC236}">
                <a16:creationId xmlns:a16="http://schemas.microsoft.com/office/drawing/2014/main" id="{05756A98-B7E4-47D0-82FB-AF2195B7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975"/>
            <a:ext cx="1417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/?view=flow · 회원 전용 · 공용 서버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F7820-3390-4217-8731-7DEE13AC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417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6B3BA354-95AE-40B9-9F55-C15AFB81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92202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" name="features-heading">
            <a:extLst xmlns:a="http://schemas.openxmlformats.org/drawingml/2006/main">
              <a:ext uri="{FF2B5EF4-FFF2-40B4-BE49-F238E27FC236}">
                <a16:creationId xmlns:a16="http://schemas.microsoft.com/office/drawing/2014/main" id="{E0D17C9B-DFCE-448B-9209-2E959247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621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기능 설명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D92697-DF8F-4782-A522-E88C1419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71675"/>
            <a:ext cx="461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reen-id">
            <a:extLst xmlns:a="http://schemas.openxmlformats.org/drawingml/2006/main">
              <a:ext uri="{FF2B5EF4-FFF2-40B4-BE49-F238E27FC236}">
                <a16:creationId xmlns:a16="http://schemas.microsoft.com/office/drawing/2014/main" id="{436443E1-6369-4E64-AB34-65DB8865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CareerLens 프로젝트 2 · 2026.10.13 개정 2 · 현재 구현 화면 구성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B98909D-765A-4C69-9FCF-6AA82E34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581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22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98235B-B89D-4FDE-AB0F-4F148265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CareerLens  이용 흐름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CD0DFA-79B2-4689-A161-12D85FBD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09750"/>
            <a:ext cx="15621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마이페이지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188AD4-C43B-4A66-9809-AFA70020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관찰 모드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F359ED-5092-42E5-94A2-AEFA3046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95575"/>
            <a:ext cx="4048125" cy="400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실시간 · 전체 이용  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FDA368-C0C9-445B-A436-04FAA45A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336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80963C-EE2D-479E-A729-4EF3C651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8125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상세 지도 대상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F35E87-AA59-4213-BCBA-C84C4C63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95575"/>
            <a:ext cx="4210050" cy="400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114300" tIns="47625" rIns="114300" bIns="47625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최근 이용 자동 추적  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021F01-4273-46D9-AC7C-A1D2F1A1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336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FE04F9-51A6-4F6C-AD38-EB2FF360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24225"/>
            <a:ext cx="8610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E680A8-C4B5-417A-9248-1FD7F578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09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서버 연결됨 · 공용 저장소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3DDC42-9E34-4D7C-BB5F-64841CAF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05225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연결 상태 · 보관 한도 · 누락/재동기화 안내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C13E00-7562-4AAF-9481-D9A80202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371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BA1C0F-6238-4A01-ABE9-2CCA71D9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19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전체 이용 기록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1A56D6-6BDF-4002-9132-AD71376D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2195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graphicFrame>
        <p:nvGraphicFrame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BBAAE2-0DF6-422D-83D4-A7B537D8DB3E}"/>
              </a:ext>
            </a:extLst>
          </p:cNvPr>
          <p:cNvGraphicFramePr/>
          <p:nvPr/>
        </p:nvGraphicFramePr>
        <p:xfrm>
          <a:off xmlns:a="http://schemas.openxmlformats.org/drawingml/2006/main" x="838200" y="4667250"/>
          <a:ext xmlns:a="http://schemas.openxmlformats.org/drawingml/2006/main" cx="8610600" cy="2038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190750"/>
                <a:gridCol w="1238250"/>
                <a:gridCol w="2324100"/>
              </a:tblGrid>
              <a:tr h="407670">
                <a:tc>
                  <a:txBody>
                    <a:bodyPr lIns="85725" tIns="47625" rIns="66675" bIns="47625"/>
                    <a:lstStyle/>
                    <a:p>
                      <a:r>
                        <a:rPr sz="1275" b="1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/ 출처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BD3DF"/>
                      </a:solidFill>
                      <a:prstDash val="solid"/>
                    </a:lnL>
                    <a:lnR w="9525">
                      <a:solidFill>
                        <a:srgbClr val="CBD3DF"/>
                      </a:solidFill>
                      <a:prstDash val="solid"/>
                    </a:lnR>
                    <a:lnT w="9525">
                      <a:solidFill>
                        <a:srgbClr val="CBD3DF"/>
                      </a:solidFill>
                      <a:prstDash val="solid"/>
                    </a:lnT>
                    <a:lnB w="9525">
                      <a:solidFill>
                        <a:srgbClr val="CBD3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85725" tIns="47625" rIns="66675" bIns="47625"/>
                    <a:lstStyle/>
                    <a:p>
                      <a:r>
                        <a:rPr sz="1275" b="1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3DF"/>
                      </a:solidFill>
                      <a:prstDash val="solid"/>
                    </a:lnR>
                    <a:lnT w="9525">
                      <a:solidFill>
                        <a:srgbClr val="CBD3DF"/>
                      </a:solidFill>
                      <a:prstDash val="solid"/>
                    </a:lnT>
                    <a:lnB w="9525">
                      <a:solidFill>
                        <a:srgbClr val="CBD3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85725" tIns="47625" rIns="66675" bIns="47625"/>
                    <a:lstStyle/>
                    <a:p>
                      <a:r>
                        <a:rPr sz="1275" b="1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3DF"/>
                      </a:solidFill>
                      <a:prstDash val="solid"/>
                    </a:lnR>
                    <a:lnT w="9525">
                      <a:solidFill>
                        <a:srgbClr val="CBD3DF"/>
                      </a:solidFill>
                      <a:prstDash val="solid"/>
                    </a:lnT>
                    <a:lnB w="9525">
                      <a:solidFill>
                        <a:srgbClr val="CBD3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85725" tIns="47625" rIns="66675" bIns="47625"/>
                    <a:lstStyle/>
                    <a:p>
                      <a:r>
                        <a:rPr sz="1275" b="1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 수신 시각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3DF"/>
                      </a:solidFill>
                      <a:prstDash val="solid"/>
                    </a:lnR>
                    <a:lnT w="9525">
                      <a:solidFill>
                        <a:srgbClr val="CBD3DF"/>
                      </a:solidFill>
                      <a:prstDash val="solid"/>
                    </a:lnT>
                    <a:lnB w="9525">
                      <a:solidFill>
                        <a:srgbClr val="CBD3D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07670">
                <a:tc>
                  <a:txBody>
                    <a:bodyPr lIns="85725" tIns="47625" rIns="66675" bIns="47625"/>
                    <a:lstStyle/>
                    <a:p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브라우저 1 / 비회원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BD3DF"/>
                      </a:solidFill>
                      <a:prstDash val="solid"/>
                    </a:lnL>
                    <a:lnR w="9525">
                      <a:solidFill>
                        <a:srgbClr val="CBD3DF"/>
                      </a:solidFill>
                      <a:prstDash val="solid"/>
                    </a:lnR>
                    <a:lnB w="9525">
                      <a:solidFill>
                        <a:srgbClr val="CB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66675" bIns="47625"/>
                    <a:lstStyle/>
                    <a:p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공고 요청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3DF"/>
                      </a:solidFill>
                      <a:prstDash val="solid"/>
                    </a:lnR>
                    <a:lnB w="9525">
                      <a:solidFill>
                        <a:srgbClr val="CB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66675" bIns="47625"/>
                    <a:lstStyle/>
                    <a:p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3DF"/>
                      </a:solidFill>
                      <a:prstDash val="solid"/>
                    </a:lnR>
                    <a:lnB w="9525">
                      <a:solidFill>
                        <a:srgbClr val="CB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66675" bIns="47625"/>
                    <a:lstStyle/>
                    <a:p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수신 시각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3DF"/>
                      </a:solidFill>
                      <a:prstDash val="solid"/>
                    </a:lnR>
                    <a:lnB w="9525">
                      <a:solidFill>
                        <a:srgbClr val="CB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 lIns="85725" tIns="47625" rIns="66675" bIns="47625"/>
                    <a:lstStyle/>
                    <a:p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브라우저 2 / 회원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BD3DF"/>
                      </a:solidFill>
                      <a:prstDash val="solid"/>
                    </a:lnL>
                    <a:lnR w="9525">
                      <a:solidFill>
                        <a:srgbClr val="CBD3DF"/>
                      </a:solidFill>
                      <a:prstDash val="solid"/>
                    </a:lnR>
                    <a:lnB w="9525">
                      <a:solidFill>
                        <a:srgbClr val="CB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66675" bIns="47625"/>
                    <a:lstStyle/>
                    <a:p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이력서 요청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3DF"/>
                      </a:solidFill>
                      <a:prstDash val="solid"/>
                    </a:lnR>
                    <a:lnB w="9525">
                      <a:solidFill>
                        <a:srgbClr val="CB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66675" bIns="47625"/>
                    <a:lstStyle/>
                    <a:p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3DF"/>
                      </a:solidFill>
                      <a:prstDash val="solid"/>
                    </a:lnR>
                    <a:lnB w="9525">
                      <a:solidFill>
                        <a:srgbClr val="CB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66675" bIns="47625"/>
                    <a:lstStyle/>
                    <a:p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수신 시각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3DF"/>
                      </a:solidFill>
                      <a:prstDash val="solid"/>
                    </a:lnR>
                    <a:lnB w="9525">
                      <a:solidFill>
                        <a:srgbClr val="CB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 lIns="85725" tIns="47625" rIns="66675" bIns="47625"/>
                    <a:lstStyle/>
                    <a:p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1 / 워커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BD3DF"/>
                      </a:solidFill>
                      <a:prstDash val="solid"/>
                    </a:lnL>
                    <a:lnR w="9525">
                      <a:solidFill>
                        <a:srgbClr val="CBD3DF"/>
                      </a:solidFill>
                      <a:prstDash val="solid"/>
                    </a:lnR>
                    <a:lnB w="9525">
                      <a:solidFill>
                        <a:srgbClr val="CB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66675" bIns="47625"/>
                    <a:lstStyle/>
                    <a:p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이력서 해석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3DF"/>
                      </a:solidFill>
                      <a:prstDash val="solid"/>
                    </a:lnR>
                    <a:lnB w="9525">
                      <a:solidFill>
                        <a:srgbClr val="CB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66675" bIns="47625"/>
                    <a:lstStyle/>
                    <a:p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3DF"/>
                      </a:solidFill>
                      <a:prstDash val="solid"/>
                    </a:lnR>
                    <a:lnB w="9525">
                      <a:solidFill>
                        <a:srgbClr val="CB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66675" bIns="47625"/>
                    <a:lstStyle/>
                    <a:p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수신 시각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3DF"/>
                      </a:solidFill>
                      <a:prstDash val="solid"/>
                    </a:lnR>
                    <a:lnB w="9525">
                      <a:solidFill>
                        <a:srgbClr val="CB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7670">
                <a:tc>
                  <a:txBody>
                    <a:bodyPr lIns="85725" tIns="47625" rIns="66675" bIns="47625"/>
                    <a:lstStyle/>
                    <a:p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2 / 비회원 서버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BD3DF"/>
                      </a:solidFill>
                      <a:prstDash val="solid"/>
                    </a:lnL>
                    <a:lnR w="9525">
                      <a:solidFill>
                        <a:srgbClr val="CBD3DF"/>
                      </a:solidFill>
                      <a:prstDash val="solid"/>
                    </a:lnR>
                    <a:lnB w="9525">
                      <a:solidFill>
                        <a:srgbClr val="CB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66675" bIns="47625"/>
                    <a:lstStyle/>
                    <a:p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 저장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3DF"/>
                      </a:solidFill>
                      <a:prstDash val="solid"/>
                    </a:lnR>
                    <a:lnB w="9525">
                      <a:solidFill>
                        <a:srgbClr val="CB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66675" bIns="47625"/>
                    <a:lstStyle/>
                    <a:p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3DF"/>
                      </a:solidFill>
                      <a:prstDash val="solid"/>
                    </a:lnR>
                    <a:lnB w="9525">
                      <a:solidFill>
                        <a:srgbClr val="CB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5725" tIns="47625" rIns="66675" bIns="47625"/>
                    <a:lstStyle/>
                    <a:p>
                      <a:r>
                        <a:rPr sz="1275" b="0">
                          <a:solidFill>
                            <a:srgbClr val="172B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수신 시각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3DF"/>
                      </a:solidFill>
                      <a:prstDash val="solid"/>
                    </a:lnR>
                    <a:lnB w="9525">
                      <a:solidFill>
                        <a:srgbClr val="CBD3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3423C5-3B65-446E-8DE5-9F030D1B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0"/>
            <a:ext cx="861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최근 200개 · 지도를 고정해도 다른 대상의 기록은 계속 수신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4FDCEE-5BCD-4184-8F1E-0D4664E0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67575"/>
            <a:ext cx="1285875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이전 대상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D7C622-64C3-49A6-B5A0-1AED969E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72961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대상 목록 · 페이지당 100개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463994-E463-42DC-B58A-C8B24A37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7267575"/>
            <a:ext cx="137160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  <p:txBody>
          <a:bodyPr xmlns:a="http://schemas.openxmlformats.org/drawingml/2006/main" wrap="square" lIns="57150" tIns="57150" rIns="57150" bIns="5715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다음 대상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20C5DE-E8A2-42CC-AB71-C1E3A867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9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A4271884-8630-467A-B9B6-3FF01F79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14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관찰 모드</a:t>
            </a:r>
          </a:p>
        </p:txBody>
      </p:sp>
      <p:sp>
        <p:nvSpPr>
          <p:cNvPr id="30" name="feature-1-body">
            <a:extLst xmlns:a="http://schemas.openxmlformats.org/drawingml/2006/main">
              <a:ext uri="{FF2B5EF4-FFF2-40B4-BE49-F238E27FC236}">
                <a16:creationId xmlns:a16="http://schemas.microsoft.com/office/drawing/2014/main" id="{E41484D8-4D50-4DA3-B528-D4917FDD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90775"/>
            <a:ext cx="4210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공용 서버, 같은 브라우저, 가상 시연을 구분한다. 기본값은 실시간 전체 이용이다.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2FAEEF-C31B-4BB1-9738-08482F08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ABD5E4-34EA-4ECE-9D92-30C02D54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38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3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2AF511D6-4AE6-43EA-BCC7-4CECAA46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289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지도 대상</a:t>
            </a:r>
          </a:p>
        </p:txBody>
      </p:sp>
      <p:sp>
        <p:nvSpPr>
          <p:cNvPr id="34" name="feature-2-body">
            <a:extLst xmlns:a="http://schemas.openxmlformats.org/drawingml/2006/main">
              <a:ext uri="{FF2B5EF4-FFF2-40B4-BE49-F238E27FC236}">
                <a16:creationId xmlns:a16="http://schemas.microsoft.com/office/drawing/2014/main" id="{16A64807-CD54-4FB1-BD3E-8C665453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305175"/>
            <a:ext cx="4210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최근 활동을 자동 추적하거나 대상을 고정한다. 탭과 서버 실행을 구분하고 관련 실행을 연결한다.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CFF3A4-E07B-494E-9BFC-DE6B0957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8957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7D5CBC-AF48-4CFD-A40E-ED87A754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952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7" name="feature-3-title">
            <a:extLst xmlns:a="http://schemas.openxmlformats.org/drawingml/2006/main">
              <a:ext uri="{FF2B5EF4-FFF2-40B4-BE49-F238E27FC236}">
                <a16:creationId xmlns:a16="http://schemas.microsoft.com/office/drawing/2014/main" id="{28BEC978-E060-41E1-8B43-89E009DA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9433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연결과 복구</a:t>
            </a:r>
          </a:p>
        </p:txBody>
      </p:sp>
      <p:sp>
        <p:nvSpPr>
          <p:cNvPr id="38" name="feature-3-body">
            <a:extLst xmlns:a="http://schemas.openxmlformats.org/drawingml/2006/main">
              <a:ext uri="{FF2B5EF4-FFF2-40B4-BE49-F238E27FC236}">
                <a16:creationId xmlns:a16="http://schemas.microsoft.com/office/drawing/2014/main" id="{06D99A8E-B886-4C78-86E3-89E0A3E8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19575"/>
            <a:ext cx="4210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약 1초 간격으로 커서를 조회한다. 끊김·누락을 안내하고 재접속 기록에는 빛을 재생하지 않는다.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4535AC-357D-4DD0-8F96-02B3220B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101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4F5AB1-1049-40B6-AF12-59912B0C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672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1" name="feature-4-title">
            <a:extLst xmlns:a="http://schemas.openxmlformats.org/drawingml/2006/main">
              <a:ext uri="{FF2B5EF4-FFF2-40B4-BE49-F238E27FC236}">
                <a16:creationId xmlns:a16="http://schemas.microsoft.com/office/drawing/2014/main" id="{25804FC4-E4E3-4509-9FEA-5619915B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577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전체 수신 기록</a:t>
            </a:r>
          </a:p>
        </p:txBody>
      </p:sp>
      <p:sp>
        <p:nvSpPr>
          <p:cNvPr id="42" name="feature-4-body">
            <a:extLst xmlns:a="http://schemas.openxmlformats.org/drawingml/2006/main">
              <a:ext uri="{FF2B5EF4-FFF2-40B4-BE49-F238E27FC236}">
                <a16:creationId xmlns:a16="http://schemas.microsoft.com/office/drawing/2014/main" id="{3B1F85E0-890A-46F1-8C41-7764B40F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133975"/>
            <a:ext cx="4210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다른 사용자·기기의 이벤트도 최근 200개에 반영한다. 서버 수신 시각으로 순서를 정한다.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7AF1290-7F95-4818-A8F7-29BE4C2C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7245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7772D7A-0A0D-4F37-85DA-3B777BE3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781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45" name="feature-5-title">
            <a:extLst xmlns:a="http://schemas.openxmlformats.org/drawingml/2006/main">
              <a:ext uri="{FF2B5EF4-FFF2-40B4-BE49-F238E27FC236}">
                <a16:creationId xmlns:a16="http://schemas.microsoft.com/office/drawing/2014/main" id="{D5D9886C-080D-4A7F-A4E6-809BE4A5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7721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접근과 개인정보</a:t>
            </a:r>
          </a:p>
        </p:txBody>
      </p:sp>
      <p:sp>
        <p:nvSpPr>
          <p:cNvPr id="46" name="feature-5-body">
            <a:extLst xmlns:a="http://schemas.openxmlformats.org/drawingml/2006/main">
              <a:ext uri="{FF2B5EF4-FFF2-40B4-BE49-F238E27FC236}">
                <a16:creationId xmlns:a16="http://schemas.microsoft.com/office/drawing/2014/main" id="{767E0750-62CC-4C27-8F9E-6592C4FB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048375"/>
            <a:ext cx="4210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조회는 실제 회원만 가능하다. 이메일·토큰·문서·보고서 본문은 공유 기록에서 제외한다.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95F7B05-94B1-4ECE-BBFD-7FDC77CA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6389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16F1025-040D-4584-A095-9030676B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696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49" name="feature-6-title">
            <a:extLst xmlns:a="http://schemas.openxmlformats.org/drawingml/2006/main">
              <a:ext uri="{FF2B5EF4-FFF2-40B4-BE49-F238E27FC236}">
                <a16:creationId xmlns:a16="http://schemas.microsoft.com/office/drawing/2014/main" id="{1E18D6F3-5EEC-4A24-B176-E3EE2635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686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규모와 한계</a:t>
            </a:r>
          </a:p>
        </p:txBody>
      </p:sp>
      <p:sp>
        <p:nvSpPr>
          <p:cNvPr id="50" name="feature-6-body">
            <a:extLst xmlns:a="http://schemas.openxmlformats.org/drawingml/2006/main">
              <a:ext uri="{FF2B5EF4-FFF2-40B4-BE49-F238E27FC236}">
                <a16:creationId xmlns:a16="http://schemas.microsoft.com/office/drawing/2014/main" id="{279204C6-AA09-42E1-9C51-45FDB894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62775"/>
            <a:ext cx="4210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대상은 최대 5,000개다. Redis 장애 중 이벤트는 유실될 수 있어 완전한 감사 원장은 아니다.</a:t>
            </a:r>
          </a:p>
        </p:txBody>
      </p:sp>
    </p:spTree>
    <p:extLst>
      <p:ext uri="{BB962C8B-B14F-4D97-AF65-F5344CB8AC3E}">
        <p14:creationId xmlns:p14="http://schemas.microsoft.com/office/powerpoint/2010/main" val="87841080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1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E6124B55-08B7-4D36-A8B0-B0890534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417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이용 흐름 · 41개 카드와 상태</a:t>
            </a:r>
          </a:p>
        </p:txBody>
      </p:sp>
      <p:sp>
        <p:nvSpPr>
          <p:cNvPr id="2" name="screen-route">
            <a:extLst xmlns:a="http://schemas.openxmlformats.org/drawingml/2006/main">
              <a:ext uri="{FF2B5EF4-FFF2-40B4-BE49-F238E27FC236}">
                <a16:creationId xmlns:a16="http://schemas.microsoft.com/office/drawing/2014/main" id="{ED428B77-8EDC-4F05-A5CF-D6388F6A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975"/>
            <a:ext cx="1417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/?view=flow · 선택한 대상의 상세 지도 · 배치 간략화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1F346-E4A5-4352-8E65-C5D4FBFB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417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5AC33ACD-0129-4E5C-8926-1AFE4CC6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92202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" name="features-heading">
            <a:extLst xmlns:a="http://schemas.openxmlformats.org/drawingml/2006/main">
              <a:ext uri="{FF2B5EF4-FFF2-40B4-BE49-F238E27FC236}">
                <a16:creationId xmlns:a16="http://schemas.microsoft.com/office/drawing/2014/main" id="{80629E8B-D7B2-4114-A9C6-BEBCF594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621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기능 설명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92B49-D27E-4C64-8254-125D016F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71675"/>
            <a:ext cx="461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reen-id">
            <a:extLst xmlns:a="http://schemas.openxmlformats.org/drawingml/2006/main">
              <a:ext uri="{FF2B5EF4-FFF2-40B4-BE49-F238E27FC236}">
                <a16:creationId xmlns:a16="http://schemas.microsoft.com/office/drawing/2014/main" id="{56B339E4-457D-4C35-9361-E8206F0E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CareerLens 프로젝트 2 · 2026.10.13 개정 2 · 현재 구현 화면 구성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8B0E1B4-2FB9-4E59-A94C-4670C733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581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23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980087-CFFC-4B47-AFED-D194AEB4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716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선택 대상의 현재 상태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4812FC-76B2-4436-B247-F5CF4284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28800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밝게 / 어둡게    동작 줄이기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8DAB87-9A6B-4CF7-BEEF-C4F2C4A7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2669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사용자 행동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EA67A3-52A8-40FA-B71A-20A18829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0510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3" name="flow-card-visit">
            <a:extLst xmlns:a="http://schemas.openxmlformats.org/drawingml/2006/main">
              <a:ext uri="{FF2B5EF4-FFF2-40B4-BE49-F238E27FC236}">
                <a16:creationId xmlns:a16="http://schemas.microsoft.com/office/drawing/2014/main" id="{F23F98DE-3131-46D9-860B-C2F01DA5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7177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화면 진입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687EB6-1401-41F7-A387-67172EE8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6705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5" name="flow-card-auth">
            <a:extLst xmlns:a="http://schemas.openxmlformats.org/drawingml/2006/main">
              <a:ext uri="{FF2B5EF4-FFF2-40B4-BE49-F238E27FC236}">
                <a16:creationId xmlns:a16="http://schemas.microsoft.com/office/drawing/2014/main" id="{556634DE-46E8-4438-BBEF-97F72345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3372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로그인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CF47BD-1E1F-430E-BD0F-D1AE5A9B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42900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7" name="flow-card-resume">
            <a:extLst xmlns:a="http://schemas.openxmlformats.org/drawingml/2006/main">
              <a:ext uri="{FF2B5EF4-FFF2-40B4-BE49-F238E27FC236}">
                <a16:creationId xmlns:a16="http://schemas.microsoft.com/office/drawing/2014/main" id="{1945B7CB-8C17-436B-B26B-05DB0958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이력서 준비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44C001-099A-4A6F-BC9C-5DB56B62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79095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9" name="flow-card-role">
            <a:extLst xmlns:a="http://schemas.openxmlformats.org/drawingml/2006/main">
              <a:ext uri="{FF2B5EF4-FFF2-40B4-BE49-F238E27FC236}">
                <a16:creationId xmlns:a16="http://schemas.microsoft.com/office/drawing/2014/main" id="{919CD9FA-0995-4BB8-8E46-F7299A4E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희망 직무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ECF3B7-5F05-4D69-A8C3-58B8AF39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5290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1" name="flow-card-posting">
            <a:extLst xmlns:a="http://schemas.openxmlformats.org/drawingml/2006/main">
              <a:ext uri="{FF2B5EF4-FFF2-40B4-BE49-F238E27FC236}">
                <a16:creationId xmlns:a16="http://schemas.microsoft.com/office/drawing/2014/main" id="{D4DCB902-D6E0-4A14-89A5-E31D9123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957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채용공고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ACC7FA-7E41-45FF-9ED4-E68DA996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51485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3" name="flow-card-signup">
            <a:extLst xmlns:a="http://schemas.openxmlformats.org/drawingml/2006/main">
              <a:ext uri="{FF2B5EF4-FFF2-40B4-BE49-F238E27FC236}">
                <a16:creationId xmlns:a16="http://schemas.microsoft.com/office/drawing/2014/main" id="{3003BB03-51B2-4B4A-9292-34E0359A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8152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회원가입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91F9BB-5694-47EE-BE90-EA2D962A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87680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5" name="flow-card-logout">
            <a:extLst xmlns:a="http://schemas.openxmlformats.org/drawingml/2006/main">
              <a:ext uri="{FF2B5EF4-FFF2-40B4-BE49-F238E27FC236}">
                <a16:creationId xmlns:a16="http://schemas.microsoft.com/office/drawing/2014/main" id="{AC85EFF5-348A-497A-BC91-F6B8470B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4347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로그아웃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A083CA-C249-41C6-8DFA-2B2AFCBE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23875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7" name="flow-card-session">
            <a:extLst xmlns:a="http://schemas.openxmlformats.org/drawingml/2006/main">
              <a:ext uri="{FF2B5EF4-FFF2-40B4-BE49-F238E27FC236}">
                <a16:creationId xmlns:a16="http://schemas.microsoft.com/office/drawing/2014/main" id="{E300942A-B4DB-4A7D-BA71-CB9D70BE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0542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세션 확인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92F950-92D4-4363-B56E-057C1974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60070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9" name="flow-card-cancel">
            <a:extLst xmlns:a="http://schemas.openxmlformats.org/drawingml/2006/main">
              <a:ext uri="{FF2B5EF4-FFF2-40B4-BE49-F238E27FC236}">
                <a16:creationId xmlns:a16="http://schemas.microsoft.com/office/drawing/2014/main" id="{B1CDF6B1-7BE7-4A12-B97F-90958E2B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6737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분석 취소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5D7B3C-F3E2-4C35-AE4E-A75F1AE5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96265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31" name="flow-card-history">
            <a:extLst xmlns:a="http://schemas.openxmlformats.org/drawingml/2006/main">
              <a:ext uri="{FF2B5EF4-FFF2-40B4-BE49-F238E27FC236}">
                <a16:creationId xmlns:a16="http://schemas.microsoft.com/office/drawing/2014/main" id="{EE5ADD7E-183D-46F9-9C4A-C4D0FEEE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2932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저장 보고서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FDB9E6-BBC8-4AD4-BD35-F98AEC35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32460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33" name="flow-card-dashboard">
            <a:extLst xmlns:a="http://schemas.openxmlformats.org/drawingml/2006/main">
              <a:ext uri="{FF2B5EF4-FFF2-40B4-BE49-F238E27FC236}">
                <a16:creationId xmlns:a16="http://schemas.microsoft.com/office/drawing/2014/main" id="{06E4A3EA-2DB5-419E-8C24-A42CC067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9127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운영 대시보드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B0D50C-B350-48D9-8FFB-884BF859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68655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35" name="flow-card-evaluate">
            <a:extLst xmlns:a="http://schemas.openxmlformats.org/drawingml/2006/main">
              <a:ext uri="{FF2B5EF4-FFF2-40B4-BE49-F238E27FC236}">
                <a16:creationId xmlns:a16="http://schemas.microsoft.com/office/drawing/2014/main" id="{556B00AA-48D4-4948-9EC8-2D9A6641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5322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모의지원 실행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BF82DC-5933-4AC8-9AE7-ABBACCAD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669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API 요청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0EBD7D-0719-4BB5-8998-B19BD4CA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0510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38" name="flow-card-api_auth">
            <a:extLst xmlns:a="http://schemas.openxmlformats.org/drawingml/2006/main">
              <a:ext uri="{FF2B5EF4-FFF2-40B4-BE49-F238E27FC236}">
                <a16:creationId xmlns:a16="http://schemas.microsoft.com/office/drawing/2014/main" id="{E72AEFB9-FEC4-4848-B0EE-7B9113ED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77177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인증 요청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F880A7-B91A-4478-ABDC-883D85A9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6705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40" name="flow-card-api_resume">
            <a:extLst xmlns:a="http://schemas.openxmlformats.org/drawingml/2006/main">
              <a:ext uri="{FF2B5EF4-FFF2-40B4-BE49-F238E27FC236}">
                <a16:creationId xmlns:a16="http://schemas.microsoft.com/office/drawing/2014/main" id="{9D9478AB-509D-46F1-B821-7570D4F6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13372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이력서 요청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6241D73-D6D7-48A7-95B6-2B5382D3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2900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42" name="flow-card-api_jobs">
            <a:extLst xmlns:a="http://schemas.openxmlformats.org/drawingml/2006/main">
              <a:ext uri="{FF2B5EF4-FFF2-40B4-BE49-F238E27FC236}">
                <a16:creationId xmlns:a16="http://schemas.microsoft.com/office/drawing/2014/main" id="{60F1A6C5-CBA5-4BD9-B62A-9C102D8A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49567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공고 요청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1579FB-6211-4042-BD82-E6AD864D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9095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44" name="flow-card-api_evaluation">
            <a:extLst xmlns:a="http://schemas.openxmlformats.org/drawingml/2006/main">
              <a:ext uri="{FF2B5EF4-FFF2-40B4-BE49-F238E27FC236}">
                <a16:creationId xmlns:a16="http://schemas.microsoft.com/office/drawing/2014/main" id="{37F3902E-B4E0-4EF5-9DE9-1E6CA243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5762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분석 요청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5C1DA7C-E1D4-4E0A-AB6D-6247892F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15290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46" name="flow-card-api_report">
            <a:extLst xmlns:a="http://schemas.openxmlformats.org/drawingml/2006/main">
              <a:ext uri="{FF2B5EF4-FFF2-40B4-BE49-F238E27FC236}">
                <a16:creationId xmlns:a16="http://schemas.microsoft.com/office/drawing/2014/main" id="{6966CDAC-A33F-4FBF-AB0D-B85F9163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21957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보고서 요청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65B0F0C-CC9C-4499-8487-3A4F4848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51485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48" name="flow-card-api_signup">
            <a:extLst xmlns:a="http://schemas.openxmlformats.org/drawingml/2006/main">
              <a:ext uri="{FF2B5EF4-FFF2-40B4-BE49-F238E27FC236}">
                <a16:creationId xmlns:a16="http://schemas.microsoft.com/office/drawing/2014/main" id="{6DC5F6AB-1250-4276-896A-A5AC4FCC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58152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회원가입 요청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302D6C5-740D-4626-A736-82639C2E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87680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0" name="flow-card-api_session">
            <a:extLst xmlns:a="http://schemas.openxmlformats.org/drawingml/2006/main">
              <a:ext uri="{FF2B5EF4-FFF2-40B4-BE49-F238E27FC236}">
                <a16:creationId xmlns:a16="http://schemas.microsoft.com/office/drawing/2014/main" id="{4E485924-DF05-4C56-A8BE-D30E01C8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94347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세션 요청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D7C1641-8FEB-4E45-88DA-192BEC1E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23875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2" name="flow-card-api_cancel">
            <a:extLst xmlns:a="http://schemas.openxmlformats.org/drawingml/2006/main">
              <a:ext uri="{FF2B5EF4-FFF2-40B4-BE49-F238E27FC236}">
                <a16:creationId xmlns:a16="http://schemas.microsoft.com/office/drawing/2014/main" id="{316CCC5D-C3D1-45A3-A4B5-B20CD307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30542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취소 요청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BBEDE9E-02A9-4939-8DB8-EC37E24A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60070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4" name="flow-card-api_dashboard">
            <a:extLst xmlns:a="http://schemas.openxmlformats.org/drawingml/2006/main">
              <a:ext uri="{FF2B5EF4-FFF2-40B4-BE49-F238E27FC236}">
                <a16:creationId xmlns:a16="http://schemas.microsoft.com/office/drawing/2014/main" id="{4369FBB3-0325-4386-92E2-E1347A25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66737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운영 기록 요청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0D83F00-7C00-47B4-B793-2A91B167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96265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6" name="flow-card-api_convert">
            <a:extLst xmlns:a="http://schemas.openxmlformats.org/drawingml/2006/main">
              <a:ext uri="{FF2B5EF4-FFF2-40B4-BE49-F238E27FC236}">
                <a16:creationId xmlns:a16="http://schemas.microsoft.com/office/drawing/2014/main" id="{0ACF2358-3D97-4F65-908E-A0A81368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602932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파일 변환 요청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3D36F59-1B71-42AF-B23C-3D3FC5A1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2669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분석 처리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5558F67-7B7A-4C3D-8363-E76C3A6D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70510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9" name="flow-card-queue">
            <a:extLst xmlns:a="http://schemas.openxmlformats.org/drawingml/2006/main">
              <a:ext uri="{FF2B5EF4-FFF2-40B4-BE49-F238E27FC236}">
                <a16:creationId xmlns:a16="http://schemas.microsoft.com/office/drawing/2014/main" id="{A182DF63-583B-46C6-B53F-4EAFF36B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7177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분석 대기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340D3A8-1997-4013-BCC1-ACF776A3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06705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61" name="flow-card-parse_resume">
            <a:extLst xmlns:a="http://schemas.openxmlformats.org/drawingml/2006/main">
              <a:ext uri="{FF2B5EF4-FFF2-40B4-BE49-F238E27FC236}">
                <a16:creationId xmlns:a16="http://schemas.microsoft.com/office/drawing/2014/main" id="{88E9CB07-71CE-45A3-A1C4-B0C0172B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13372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이력서 해석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14AE448-E89A-48AB-B9D3-596985DE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2900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63" name="flow-card-parse_job">
            <a:extLst xmlns:a="http://schemas.openxmlformats.org/drawingml/2006/main">
              <a:ext uri="{FF2B5EF4-FFF2-40B4-BE49-F238E27FC236}">
                <a16:creationId xmlns:a16="http://schemas.microsoft.com/office/drawing/2014/main" id="{AFC09570-58F0-40FA-BA0F-C3697708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49567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공고 해석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E719FEE-EF1B-4284-9647-D029DD29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79095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65" name="flow-card-indexing">
            <a:extLst xmlns:a="http://schemas.openxmlformats.org/drawingml/2006/main">
              <a:ext uri="{FF2B5EF4-FFF2-40B4-BE49-F238E27FC236}">
                <a16:creationId xmlns:a16="http://schemas.microsoft.com/office/drawing/2014/main" id="{22CC978C-FE1A-44C1-BB47-3754980C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85762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근거 검색 준비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EC7DB29-765F-4D0A-9561-5119DBCA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15290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67" name="flow-card-domain_a">
            <a:extLst xmlns:a="http://schemas.openxmlformats.org/drawingml/2006/main">
              <a:ext uri="{FF2B5EF4-FFF2-40B4-BE49-F238E27FC236}">
                <a16:creationId xmlns:a16="http://schemas.microsoft.com/office/drawing/2014/main" id="{7AC495D5-392D-47EA-8B68-05E78B25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21957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이력서 완성도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21ECACE-F05E-47EC-BE28-14F430CE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51485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69" name="flow-card-domain_b">
            <a:extLst xmlns:a="http://schemas.openxmlformats.org/drawingml/2006/main">
              <a:ext uri="{FF2B5EF4-FFF2-40B4-BE49-F238E27FC236}">
                <a16:creationId xmlns:a16="http://schemas.microsoft.com/office/drawing/2014/main" id="{5B6B502C-BFFE-465E-A8B8-1492819D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58152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직무 적합도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046AEDA-C53C-47DB-BEC8-CDAF8800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7680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71" name="flow-card-domain_c">
            <a:extLst xmlns:a="http://schemas.openxmlformats.org/drawingml/2006/main">
              <a:ext uri="{FF2B5EF4-FFF2-40B4-BE49-F238E27FC236}">
                <a16:creationId xmlns:a16="http://schemas.microsoft.com/office/drawing/2014/main" id="{A3EC7C33-7EBD-4C70-9685-C507215E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94347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지원 자격 충족도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4628482-CF5C-402C-9E27-46EDC8CE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23875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73" name="flow-card-domain_d">
            <a:extLst xmlns:a="http://schemas.openxmlformats.org/drawingml/2006/main">
              <a:ext uri="{FF2B5EF4-FFF2-40B4-BE49-F238E27FC236}">
                <a16:creationId xmlns:a16="http://schemas.microsoft.com/office/drawing/2014/main" id="{89B8C343-5F3C-475D-B3F8-7D571270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30542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실무 경쟁력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4B229A6-041D-41CB-965D-C0BE1611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60070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75" name="flow-card-analysis">
            <a:extLst xmlns:a="http://schemas.openxmlformats.org/drawingml/2006/main">
              <a:ext uri="{FF2B5EF4-FFF2-40B4-BE49-F238E27FC236}">
                <a16:creationId xmlns:a16="http://schemas.microsoft.com/office/drawing/2014/main" id="{74C5E77C-7C38-47C0-B770-BD41CBC6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66737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적합도 분석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5361531-36F9-44D6-876F-09A044A3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96265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77" name="flow-card-validation">
            <a:extLst xmlns:a="http://schemas.openxmlformats.org/drawingml/2006/main">
              <a:ext uri="{FF2B5EF4-FFF2-40B4-BE49-F238E27FC236}">
                <a16:creationId xmlns:a16="http://schemas.microsoft.com/office/drawing/2014/main" id="{F1E976C3-81E9-45BF-83CF-ECE89D8B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02932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결과 검증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190644B-02BE-428F-AA17-912764B2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32460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79" name="flow-card-scoring">
            <a:extLst xmlns:a="http://schemas.openxmlformats.org/drawingml/2006/main">
              <a:ext uri="{FF2B5EF4-FFF2-40B4-BE49-F238E27FC236}">
                <a16:creationId xmlns:a16="http://schemas.microsoft.com/office/drawing/2014/main" id="{041862AE-D1CF-4738-AD7F-BB2871B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39127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최종 점수 계산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E9BB7B9-9603-45D1-9984-C66F2CFE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68655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81" name="flow-card-input_check">
            <a:extLst xmlns:a="http://schemas.openxmlformats.org/drawingml/2006/main">
              <a:ext uri="{FF2B5EF4-FFF2-40B4-BE49-F238E27FC236}">
                <a16:creationId xmlns:a16="http://schemas.microsoft.com/office/drawing/2014/main" id="{4316583B-8555-416D-B663-2F71FC24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75322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입력 확인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81C438E-EC8E-4CF8-8584-C3B3CE9C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669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데이터·결과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B91A86B-52E5-4BB9-A9BB-52E4EB0E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0510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84" name="flow-card-database">
            <a:extLst xmlns:a="http://schemas.openxmlformats.org/drawingml/2006/main">
              <a:ext uri="{FF2B5EF4-FFF2-40B4-BE49-F238E27FC236}">
                <a16:creationId xmlns:a16="http://schemas.microsoft.com/office/drawing/2014/main" id="{D97243AF-6929-4511-B429-F31F0CD0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77177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결과·자료 저장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7670723-7C15-4BAB-AC94-318B39E7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6705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86" name="flow-card-report_lock">
            <a:extLst xmlns:a="http://schemas.openxmlformats.org/drawingml/2006/main">
              <a:ext uri="{FF2B5EF4-FFF2-40B4-BE49-F238E27FC236}">
                <a16:creationId xmlns:a16="http://schemas.microsoft.com/office/drawing/2014/main" id="{34A9C5B5-9CA2-4AA7-90D2-3AD7BE0D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13372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결과 잠금·계정 연결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A8CC9DE-177C-491C-8978-8400F478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42900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88" name="flow-card-report">
            <a:extLst xmlns:a="http://schemas.openxmlformats.org/drawingml/2006/main">
              <a:ext uri="{FF2B5EF4-FFF2-40B4-BE49-F238E27FC236}">
                <a16:creationId xmlns:a16="http://schemas.microsoft.com/office/drawing/2014/main" id="{15B85A23-8996-49C2-9CF4-869F7893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49567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보고서 표시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37EC68C-A4F5-4D2B-9DEA-4410BB3B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79095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90" name="flow-card-archive">
            <a:extLst xmlns:a="http://schemas.openxmlformats.org/drawingml/2006/main">
              <a:ext uri="{FF2B5EF4-FFF2-40B4-BE49-F238E27FC236}">
                <a16:creationId xmlns:a16="http://schemas.microsoft.com/office/drawing/2014/main" id="{EE9881AF-EF88-4332-B444-C229E70F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85762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기록 보관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A6D887F-7E27-4E5D-B942-79F53169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15290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92" name="flow-card-local_data">
            <a:extLst xmlns:a="http://schemas.openxmlformats.org/drawingml/2006/main">
              <a:ext uri="{FF2B5EF4-FFF2-40B4-BE49-F238E27FC236}">
                <a16:creationId xmlns:a16="http://schemas.microsoft.com/office/drawing/2014/main" id="{240B3412-DE8C-4491-A913-2D282CA2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21957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브라우저 보관·정리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6829023-CBDA-46D2-9728-4EE1EE90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51485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94" name="flow-card-notice">
            <a:extLst xmlns:a="http://schemas.openxmlformats.org/drawingml/2006/main">
              <a:ext uri="{FF2B5EF4-FFF2-40B4-BE49-F238E27FC236}">
                <a16:creationId xmlns:a16="http://schemas.microsoft.com/office/drawing/2014/main" id="{3F30F46B-9A22-44BF-8BE4-E7495093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58152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결과 안내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2116079-5BC3-4D10-A6C1-FB44D247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876800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96" name="flow-card-storage_ack">
            <a:extLst xmlns:a="http://schemas.openxmlformats.org/drawingml/2006/main">
              <a:ext uri="{FF2B5EF4-FFF2-40B4-BE49-F238E27FC236}">
                <a16:creationId xmlns:a16="http://schemas.microsoft.com/office/drawing/2014/main" id="{95DAECF8-C2AB-411F-A7F1-3D3AE719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943475"/>
            <a:ext cx="1876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서버 저장 응답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7EE18F3-FB45-4A2E-BA7B-937043D9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7239000"/>
            <a:ext cx="8591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이벤트 로그 / API 응답 시간 / 단계 상세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4DB1E69-8E89-4386-B82F-D7609241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9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BCE9680C-3168-4508-8E2C-8566E71D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14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4열과 41개 카드</a:t>
            </a:r>
          </a:p>
        </p:txBody>
      </p:sp>
      <p:sp>
        <p:nvSpPr>
          <p:cNvPr id="100" name="feature-1-body">
            <a:extLst xmlns:a="http://schemas.openxmlformats.org/drawingml/2006/main">
              <a:ext uri="{FF2B5EF4-FFF2-40B4-BE49-F238E27FC236}">
                <a16:creationId xmlns:a16="http://schemas.microsoft.com/office/drawing/2014/main" id="{ACD3FF27-29E1-414E-AACA-BC655E9C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90775"/>
            <a:ext cx="4210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사용자 행동 12개, API 10개, 분석 12개, 데이터·결과 7개다. 통합 카드에서 세부 기록을 확인한다.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6E0309D-39D7-487E-9F54-76D1A22E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037BAFD-4713-4998-AC35-333C7AF8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38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03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98B76037-B4EA-43A7-A7C2-2E6861E7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289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유휴 상태</a:t>
            </a:r>
          </a:p>
        </p:txBody>
      </p:sp>
      <p:sp>
        <p:nvSpPr>
          <p:cNvPr id="104" name="feature-2-body">
            <a:extLst xmlns:a="http://schemas.openxmlformats.org/drawingml/2006/main">
              <a:ext uri="{FF2B5EF4-FFF2-40B4-BE49-F238E27FC236}">
                <a16:creationId xmlns:a16="http://schemas.microsoft.com/office/drawing/2014/main" id="{FB78A54F-02F0-41A3-BEF4-86C3CA37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305175"/>
            <a:ext cx="4210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요청과 진행 중 작업이 없으면 중립 색상이다. 완료 이력은 남겨도 초록색을 계속 켜 두지 않는다.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CEBFEEC-FFF6-44D4-B6EF-AC10D4B0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8957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9BC4574-9196-4E43-9E1B-9472288F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952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07" name="feature-3-title">
            <a:extLst xmlns:a="http://schemas.openxmlformats.org/drawingml/2006/main">
              <a:ext uri="{FF2B5EF4-FFF2-40B4-BE49-F238E27FC236}">
                <a16:creationId xmlns:a16="http://schemas.microsoft.com/office/drawing/2014/main" id="{6A52BFDB-05D1-444F-8E57-FA82F747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9433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새 요청의 이펙트</a:t>
            </a:r>
          </a:p>
        </p:txBody>
      </p:sp>
      <p:sp>
        <p:nvSpPr>
          <p:cNvPr id="108" name="feature-3-body">
            <a:extLst xmlns:a="http://schemas.openxmlformats.org/drawingml/2006/main">
              <a:ext uri="{FF2B5EF4-FFF2-40B4-BE49-F238E27FC236}">
                <a16:creationId xmlns:a16="http://schemas.microsoft.com/office/drawing/2014/main" id="{0E039957-5C81-41FF-84E1-84C53290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19575"/>
            <a:ext cx="4210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새 요청·응답·진행 이벤트만 짧게 빛난다. 과거 상태 복원이나 주기적 상태 동기화는 빛나지 않는다.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B976070-B63F-4960-A945-283A9C22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101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835BE6D-35A4-499C-B091-470B3175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672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11" name="feature-4-title">
            <a:extLst xmlns:a="http://schemas.openxmlformats.org/drawingml/2006/main">
              <a:ext uri="{FF2B5EF4-FFF2-40B4-BE49-F238E27FC236}">
                <a16:creationId xmlns:a16="http://schemas.microsoft.com/office/drawing/2014/main" id="{8E1C2CD8-18E0-47A1-B0F5-F13860FE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577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동시 요청</a:t>
            </a:r>
          </a:p>
        </p:txBody>
      </p:sp>
      <p:sp>
        <p:nvSpPr>
          <p:cNvPr id="112" name="feature-4-body">
            <a:extLst xmlns:a="http://schemas.openxmlformats.org/drawingml/2006/main">
              <a:ext uri="{FF2B5EF4-FFF2-40B4-BE49-F238E27FC236}">
                <a16:creationId xmlns:a16="http://schemas.microsoft.com/office/drawing/2014/main" id="{7C28B16D-4116-4D31-B393-BE13C126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133975"/>
            <a:ext cx="4210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같은 종류의 요청이 겹치면 아직 진행 중인 요청을 유지한다. 다른 대상의 상태를 섞지 않는다.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3C22D9F-6342-41BD-B659-B93E6008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7245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24B6A34-0D3D-4E8E-AC95-BE49CB77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781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15" name="feature-5-title">
            <a:extLst xmlns:a="http://schemas.openxmlformats.org/drawingml/2006/main">
              <a:ext uri="{FF2B5EF4-FFF2-40B4-BE49-F238E27FC236}">
                <a16:creationId xmlns:a16="http://schemas.microsoft.com/office/drawing/2014/main" id="{D65DCDB3-B9D8-4635-8821-A8BA1C03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7721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기록과 측정</a:t>
            </a:r>
          </a:p>
        </p:txBody>
      </p:sp>
      <p:sp>
        <p:nvSpPr>
          <p:cNvPr id="116" name="feature-5-body">
            <a:extLst xmlns:a="http://schemas.openxmlformats.org/drawingml/2006/main">
              <a:ext uri="{FF2B5EF4-FFF2-40B4-BE49-F238E27FC236}">
                <a16:creationId xmlns:a16="http://schemas.microsoft.com/office/drawing/2014/main" id="{066891BB-1A44-4B61-A575-296FE4E1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048375"/>
            <a:ext cx="4210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실제 받은 단계·시간만 표시한다. 서버 진행률과 평가 점수는 다르며 미수집은 0이 아니다.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D9B1FB1-8BF4-4935-8272-2A8EC014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6389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81AB569E-3A92-4AA6-80A9-82A3159A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696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19" name="feature-6-title">
            <a:extLst xmlns:a="http://schemas.openxmlformats.org/drawingml/2006/main">
              <a:ext uri="{FF2B5EF4-FFF2-40B4-BE49-F238E27FC236}">
                <a16:creationId xmlns:a16="http://schemas.microsoft.com/office/drawing/2014/main" id="{3FC9F617-DFC8-4A37-83DA-F607D86B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686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인증과 접근성</a:t>
            </a:r>
          </a:p>
        </p:txBody>
      </p:sp>
      <p:sp>
        <p:nvSpPr>
          <p:cNvPr id="120" name="feature-6-body">
            <a:extLst xmlns:a="http://schemas.openxmlformats.org/drawingml/2006/main">
              <a:ext uri="{FF2B5EF4-FFF2-40B4-BE49-F238E27FC236}">
                <a16:creationId xmlns:a16="http://schemas.microsoft.com/office/drawing/2014/main" id="{0DD22004-1A4F-4716-8AFB-3260C2AD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62775"/>
            <a:ext cx="42100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인증 만료를 확인하면 기록을 지운다. 키보드 선택·동작 줄이기·지도 내부 스크롤을 제공한다.</a:t>
            </a:r>
          </a:p>
        </p:txBody>
      </p:sp>
    </p:spTree>
    <p:extLst>
      <p:ext uri="{BB962C8B-B14F-4D97-AF65-F5344CB8AC3E}">
        <p14:creationId xmlns:p14="http://schemas.microsoft.com/office/powerpoint/2010/main" val="80220102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screen-title">
            <a:extLst xmlns:a="http://schemas.openxmlformats.org/drawingml/2006/main">
              <a:ext uri="{FF2B5EF4-FFF2-40B4-BE49-F238E27FC236}">
                <a16:creationId xmlns:a16="http://schemas.microsoft.com/office/drawing/2014/main" id="{129B816F-8A4A-47A9-813C-1209BCDF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417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배포 구성과 운영 전제</a:t>
            </a:r>
          </a:p>
        </p:txBody>
      </p:sp>
      <p:sp>
        <p:nvSpPr>
          <p:cNvPr id="2" name="screen-route">
            <a:extLst xmlns:a="http://schemas.openxmlformats.org/drawingml/2006/main">
              <a:ext uri="{FF2B5EF4-FFF2-40B4-BE49-F238E27FC236}">
                <a16:creationId xmlns:a16="http://schemas.microsoft.com/office/drawing/2014/main" id="{05A30CD0-F19F-46CF-A817-5138EB25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975"/>
            <a:ext cx="1417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구성 준비 완료 · 실제 운영 배포와 부하 검증은 미실행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E779A1-EE3B-4243-B452-615488CF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417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C4FB4A47-6C62-49D6-85FB-065E85DD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922020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5" name="features-heading">
            <a:extLst xmlns:a="http://schemas.openxmlformats.org/drawingml/2006/main">
              <a:ext uri="{FF2B5EF4-FFF2-40B4-BE49-F238E27FC236}">
                <a16:creationId xmlns:a16="http://schemas.microsoft.com/office/drawing/2014/main" id="{B68394E5-E0DB-430A-AEDC-D6F4ADF2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62100"/>
            <a:ext cx="461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기능 설명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28E1C7-1513-4E10-9023-F1091AF1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71675"/>
            <a:ext cx="461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reen-id">
            <a:extLst xmlns:a="http://schemas.openxmlformats.org/drawingml/2006/main">
              <a:ext uri="{FF2B5EF4-FFF2-40B4-BE49-F238E27FC236}">
                <a16:creationId xmlns:a16="http://schemas.microsoft.com/office/drawing/2014/main" id="{CFCDFF4F-7CB3-47AC-9275-C8D2B815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96250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CareerLens 프로젝트 2 · 2026.10.13 개정 2 · 현재 구현 화면 구성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830C310-11E8-4471-9812-D56FF626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05815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24 /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466E0D-E5BB-4F50-8106-156AC90D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838325"/>
            <a:ext cx="828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실행하는 서비스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41F02E-0FA6-4FE9-A33A-3BF72E6E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428875"/>
            <a:ext cx="857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B99674-F8C4-4E02-B71E-2CCF5D10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600325"/>
            <a:ext cx="1552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HTTPS 진입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FB52A9-A95A-4BD2-947D-AC00AD5E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600325"/>
            <a:ext cx="647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Caddy · 외부 80 / 443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C44783-C46E-44E1-A851-183E0EA5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228975"/>
            <a:ext cx="857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84D297-5FCA-43BF-8610-A8E45ECC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400425"/>
            <a:ext cx="1552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프론트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397964-6ACB-4789-B005-E9EA82BA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400425"/>
            <a:ext cx="647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Flask / Waitress · 비회원 계산과 개인 결과 저장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80DA33-C2C5-4087-AFDF-1A13A191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029075"/>
            <a:ext cx="857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92468D-CB02-4928-95F2-1C4AFBD0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200525"/>
            <a:ext cx="1552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D04D45-75CC-4B6B-94EE-DAA1851E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200525"/>
            <a:ext cx="647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FastAPI · 인증·회원 자료·대시보드·흐름 조회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524757-E26E-41EE-80B8-5C44F3FC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829175"/>
            <a:ext cx="857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EF2DA8-26D0-4794-BD8E-65BA9954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000625"/>
            <a:ext cx="1552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워커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37CB54-F9C8-4F02-9006-824FA94C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000625"/>
            <a:ext cx="647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회원 분석 · 진행 이벤트 · 상태 신호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B4D169-FFD3-4B28-A07A-3DB89D8B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629275"/>
            <a:ext cx="857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9AE554-E2F7-4F14-ABD3-BC67FE8F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800725"/>
            <a:ext cx="1552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공용 저장소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980F8E-55CC-4630-9012-FE7E1796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800725"/>
            <a:ext cx="647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Redis · 여러 서버의 흐름 공유 · 영구 볼륨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0B38DB-D862-4EDD-9FC3-3AD4AB53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657975"/>
            <a:ext cx="8572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085785-1EBD-49B3-8E4E-71C04996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72275"/>
            <a:ext cx="8172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프론트 + 백엔드 변경 모두 필요</a:t>
            </a:r>
          </a:p>
          <a:p xmlns:a="http://schemas.openxmlformats.org/drawingml/2006/main">
            <a:pPr algn="l">
              <a:def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로컬 EXE 실행과 상시 운영 서버 배포는 별도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2A9140-75DB-42D9-B66B-41F1A457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8" name="feature-1-title">
            <a:extLst xmlns:a="http://schemas.openxmlformats.org/drawingml/2006/main">
              <a:ext uri="{FF2B5EF4-FFF2-40B4-BE49-F238E27FC236}">
                <a16:creationId xmlns:a16="http://schemas.microsoft.com/office/drawing/2014/main" id="{64974B21-A7D3-4148-B4BD-AC3E6371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1455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회원 접근</a:t>
            </a:r>
          </a:p>
        </p:txBody>
      </p:sp>
      <p:sp>
        <p:nvSpPr>
          <p:cNvPr id="29" name="feature-1-body">
            <a:extLst xmlns:a="http://schemas.openxmlformats.org/drawingml/2006/main">
              <a:ext uri="{FF2B5EF4-FFF2-40B4-BE49-F238E27FC236}">
                <a16:creationId xmlns:a16="http://schemas.microsoft.com/office/drawing/2014/main" id="{7BC2E963-96CF-4069-A8D4-0169D047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390775"/>
            <a:ext cx="4210050" cy="588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다른 PC도 각자의 환경 설정과 로그인으로 운영 화면을 연다. 관리자 계정 목록은 필요 없다.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875C40-3F9D-4D1E-858A-81E5FF41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70213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91DFD4-8747-4C4E-BFBE-7A47D955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27363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2" name="feature-2-title">
            <a:extLst xmlns:a="http://schemas.openxmlformats.org/drawingml/2006/main">
              <a:ext uri="{FF2B5EF4-FFF2-40B4-BE49-F238E27FC236}">
                <a16:creationId xmlns:a16="http://schemas.microsoft.com/office/drawing/2014/main" id="{EDA5293B-0B1B-44F1-8DA4-30B57614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17838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프론트 운영 수</a:t>
            </a:r>
          </a:p>
        </p:txBody>
      </p:sp>
      <p:sp>
        <p:nvSpPr>
          <p:cNvPr id="33" name="feature-2-body">
            <a:extLst xmlns:a="http://schemas.openxmlformats.org/drawingml/2006/main">
              <a:ext uri="{FF2B5EF4-FFF2-40B4-BE49-F238E27FC236}">
                <a16:creationId xmlns:a16="http://schemas.microsoft.com/office/drawing/2014/main" id="{F1EE0AD2-D7A1-43E4-8891-FFBF04F2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294063"/>
            <a:ext cx="4210050" cy="588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현재 한 인스턴스·한 프로세스 전제다. 비회원 SQLite와 내부 큐를 임의로 복제하면 안 된다.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90C22F-0DB0-4A1F-AC9C-73D14FFD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873500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E0F4DE-6D38-4EF8-A564-7C208399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9306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6" name="feature-3-title">
            <a:extLst xmlns:a="http://schemas.openxmlformats.org/drawingml/2006/main">
              <a:ext uri="{FF2B5EF4-FFF2-40B4-BE49-F238E27FC236}">
                <a16:creationId xmlns:a16="http://schemas.microsoft.com/office/drawing/2014/main" id="{A999D1B7-537B-487E-A688-776A0D25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921125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비회원 처리 용량</a:t>
            </a:r>
          </a:p>
        </p:txBody>
      </p:sp>
      <p:sp>
        <p:nvSpPr>
          <p:cNvPr id="37" name="feature-3-body">
            <a:extLst xmlns:a="http://schemas.openxmlformats.org/drawingml/2006/main">
              <a:ext uri="{FF2B5EF4-FFF2-40B4-BE49-F238E27FC236}">
                <a16:creationId xmlns:a16="http://schemas.microsoft.com/office/drawing/2014/main" id="{47A11EFC-0541-4A4B-976D-D0D5C30A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97350"/>
            <a:ext cx="4210050" cy="588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기본 동시 계산 2건·대기 4건이다. 완료 결과 볼륨을 유지하고 재시작 중 미완료 계산은 재실행한다.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58A37F-955D-4F33-8B0E-64C89D20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776787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000FC52-5E22-420E-B9A6-33DBEBBB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33937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0" name="feature-4-title">
            <a:extLst xmlns:a="http://schemas.openxmlformats.org/drawingml/2006/main">
              <a:ext uri="{FF2B5EF4-FFF2-40B4-BE49-F238E27FC236}">
                <a16:creationId xmlns:a16="http://schemas.microsoft.com/office/drawing/2014/main" id="{1D410D75-2C1C-453C-9FFE-4AED1035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824412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워커와 Redis</a:t>
            </a:r>
          </a:p>
        </p:txBody>
      </p:sp>
      <p:sp>
        <p:nvSpPr>
          <p:cNvPr id="41" name="feature-4-body">
            <a:extLst xmlns:a="http://schemas.openxmlformats.org/drawingml/2006/main">
              <a:ext uri="{FF2B5EF4-FFF2-40B4-BE49-F238E27FC236}">
                <a16:creationId xmlns:a16="http://schemas.microsoft.com/office/drawing/2014/main" id="{5EAD848F-13DF-4682-8B0C-FAA3FCD1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100638"/>
            <a:ext cx="4210050" cy="588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공유 모드에서 워커 상태를 확인할 수 없으면 새 회원 분석을 받지 않고 재시도를 안내한다.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1424248-2769-4868-81C3-2E7983C5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68007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0DDAD91-C843-4A78-A055-17F45553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7372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44" name="feature-5-title">
            <a:extLst xmlns:a="http://schemas.openxmlformats.org/drawingml/2006/main">
              <a:ext uri="{FF2B5EF4-FFF2-40B4-BE49-F238E27FC236}">
                <a16:creationId xmlns:a16="http://schemas.microsoft.com/office/drawing/2014/main" id="{85224CEC-5A18-4BDA-A3B6-DC34559B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727700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공용 기록 한도</a:t>
            </a:r>
          </a:p>
        </p:txBody>
      </p:sp>
      <p:sp>
        <p:nvSpPr>
          <p:cNvPr id="45" name="feature-5-body">
            <a:extLst xmlns:a="http://schemas.openxmlformats.org/drawingml/2006/main">
              <a:ext uri="{FF2B5EF4-FFF2-40B4-BE49-F238E27FC236}">
                <a16:creationId xmlns:a16="http://schemas.microsoft.com/office/drawing/2014/main" id="{862E0C8F-4848-49E5-B8C3-794CA742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003925"/>
            <a:ext cx="4210050" cy="588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24시간·50,000개 이벤트를 보관한다. 장애 중 서버 이벤트 유실과 한도 초과를 고려해야 한다.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9A66B81-0CF8-4436-A34C-DEB7C4FA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583363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DACEBD0-4FFD-4CD4-8BF9-7976D4BD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640513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5DA8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48" name="feature-6-title">
            <a:extLst xmlns:a="http://schemas.openxmlformats.org/drawingml/2006/main">
              <a:ext uri="{FF2B5EF4-FFF2-40B4-BE49-F238E27FC236}">
                <a16:creationId xmlns:a16="http://schemas.microsoft.com/office/drawing/2014/main" id="{FDC0F86F-938C-4850-B5C6-C2B4EC68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630988"/>
            <a:ext cx="421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B4D"/>
                </a:solidFill>
                <a:latin typeface="Malgun Gothic"/>
                <a:ea typeface="Malgun Gothic"/>
                <a:cs typeface="Malgun Gothic"/>
              </a:rPr>
              <a:t>배포 후 확인</a:t>
            </a:r>
          </a:p>
        </p:txBody>
      </p:sp>
      <p:sp>
        <p:nvSpPr>
          <p:cNvPr id="49" name="feature-6-body">
            <a:extLst xmlns:a="http://schemas.openxmlformats.org/drawingml/2006/main">
              <a:ext uri="{FF2B5EF4-FFF2-40B4-BE49-F238E27FC236}">
                <a16:creationId xmlns:a16="http://schemas.microsoft.com/office/drawing/2014/main" id="{E71726FD-3A7B-4894-8949-F841E63B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07213"/>
            <a:ext cx="4210050" cy="808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96980"/>
                </a:solidFill>
                <a:latin typeface="Malgun Gothic"/>
                <a:ea typeface="Malgun Gothic"/>
                <a:cs typeface="Malgun Gothic"/>
              </a:rPr>
              <a:t>TLS·이메일 인증·실제 분석·재배포·운영 부하 검증이 남아 있다. 소스 준비를 운영 완료로 표현하지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3288020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2026-10-12T16:38:02.3740000Z</dcterms:created>
  <dcterms:modified xsi:type="dcterms:W3CDTF">2026-10-12T16:38:02.3740000Z</dcterms:modified>
</coreProperties>
</file>